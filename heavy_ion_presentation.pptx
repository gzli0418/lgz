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G = 2×10¹⁷</c:v>
                </c:pt>
              </c:strCache>
            </c:strRef>
          </c:tx>
          <c:spPr>
            <a:ln w="31750">
              <a:solidFill>
                <a:srgbClr val="2560A8"/>
              </a:solidFill>
            </a:ln>
          </c:spPr>
          <c:marker>
            <c:symbol val="none"/>
          </c:marker>
          <c:xVal>
            <c:numRef>
              <c:f>Sheet1!$A$2:$A$202</c:f>
              <c:numCache>
                <c:formatCode>General</c:formatCode>
                <c:ptCount val="201"/>
                <c:pt idx="0">
                  <c:v>0.0</c:v>
                </c:pt>
                <c:pt idx="1">
                  <c:v>0.025</c:v>
                </c:pt>
                <c:pt idx="2">
                  <c:v>0.05</c:v>
                </c:pt>
                <c:pt idx="3">
                  <c:v>0.07500000000000001</c:v>
                </c:pt>
                <c:pt idx="4">
                  <c:v>0.1</c:v>
                </c:pt>
                <c:pt idx="5">
                  <c:v>0.125</c:v>
                </c:pt>
                <c:pt idx="6">
                  <c:v>0.15000000000000002</c:v>
                </c:pt>
                <c:pt idx="7">
                  <c:v>0.17500000000000002</c:v>
                </c:pt>
                <c:pt idx="8">
                  <c:v>0.2</c:v>
                </c:pt>
                <c:pt idx="9">
                  <c:v>0.225</c:v>
                </c:pt>
                <c:pt idx="10">
                  <c:v>0.25</c:v>
                </c:pt>
                <c:pt idx="11">
                  <c:v>0.275</c:v>
                </c:pt>
                <c:pt idx="12">
                  <c:v>0.30000000000000004</c:v>
                </c:pt>
                <c:pt idx="13">
                  <c:v>0.325</c:v>
                </c:pt>
                <c:pt idx="14">
                  <c:v>0.35000000000000003</c:v>
                </c:pt>
                <c:pt idx="15">
                  <c:v>0.375</c:v>
                </c:pt>
                <c:pt idx="16">
                  <c:v>0.4</c:v>
                </c:pt>
                <c:pt idx="17">
                  <c:v>0.42500000000000004</c:v>
                </c:pt>
                <c:pt idx="18">
                  <c:v>0.45</c:v>
                </c:pt>
                <c:pt idx="19">
                  <c:v>0.47500000000000003</c:v>
                </c:pt>
                <c:pt idx="20">
                  <c:v>0.5</c:v>
                </c:pt>
                <c:pt idx="21">
                  <c:v>0.525</c:v>
                </c:pt>
                <c:pt idx="22">
                  <c:v>0.55</c:v>
                </c:pt>
                <c:pt idx="23">
                  <c:v>0.5750000000000001</c:v>
                </c:pt>
                <c:pt idx="24">
                  <c:v>0.6000000000000001</c:v>
                </c:pt>
                <c:pt idx="25">
                  <c:v>0.625</c:v>
                </c:pt>
                <c:pt idx="26">
                  <c:v>0.65</c:v>
                </c:pt>
                <c:pt idx="27">
                  <c:v>0.675</c:v>
                </c:pt>
                <c:pt idx="28">
                  <c:v>0.7000000000000001</c:v>
                </c:pt>
                <c:pt idx="29">
                  <c:v>0.7250000000000001</c:v>
                </c:pt>
                <c:pt idx="30">
                  <c:v>0.75</c:v>
                </c:pt>
                <c:pt idx="31">
                  <c:v>0.775</c:v>
                </c:pt>
                <c:pt idx="32">
                  <c:v>0.8</c:v>
                </c:pt>
                <c:pt idx="33">
                  <c:v>0.8250000000000001</c:v>
                </c:pt>
                <c:pt idx="34">
                  <c:v>0.8500000000000001</c:v>
                </c:pt>
                <c:pt idx="35">
                  <c:v>0.875</c:v>
                </c:pt>
                <c:pt idx="36">
                  <c:v>0.9</c:v>
                </c:pt>
                <c:pt idx="37">
                  <c:v>0.925</c:v>
                </c:pt>
                <c:pt idx="38">
                  <c:v>0.9500000000000001</c:v>
                </c:pt>
                <c:pt idx="39">
                  <c:v>0.9750000000000001</c:v>
                </c:pt>
                <c:pt idx="40">
                  <c:v>1.0</c:v>
                </c:pt>
                <c:pt idx="41">
                  <c:v>1.0250000000000001</c:v>
                </c:pt>
                <c:pt idx="42">
                  <c:v>1.05</c:v>
                </c:pt>
                <c:pt idx="43">
                  <c:v>1.075</c:v>
                </c:pt>
                <c:pt idx="44">
                  <c:v>1.1</c:v>
                </c:pt>
                <c:pt idx="45">
                  <c:v>1.125</c:v>
                </c:pt>
                <c:pt idx="46">
                  <c:v>1.1500000000000001</c:v>
                </c:pt>
                <c:pt idx="47">
                  <c:v>1.175</c:v>
                </c:pt>
                <c:pt idx="48">
                  <c:v>1.2000000000000002</c:v>
                </c:pt>
                <c:pt idx="49">
                  <c:v>1.225</c:v>
                </c:pt>
                <c:pt idx="50">
                  <c:v>1.25</c:v>
                </c:pt>
                <c:pt idx="51">
                  <c:v>1.2750000000000001</c:v>
                </c:pt>
                <c:pt idx="52">
                  <c:v>1.3</c:v>
                </c:pt>
                <c:pt idx="53">
                  <c:v>1.3250000000000002</c:v>
                </c:pt>
                <c:pt idx="54">
                  <c:v>1.35</c:v>
                </c:pt>
                <c:pt idx="55">
                  <c:v>1.375</c:v>
                </c:pt>
                <c:pt idx="56">
                  <c:v>1.4000000000000001</c:v>
                </c:pt>
                <c:pt idx="57">
                  <c:v>1.425</c:v>
                </c:pt>
                <c:pt idx="58">
                  <c:v>1.4500000000000002</c:v>
                </c:pt>
                <c:pt idx="59">
                  <c:v>1.475</c:v>
                </c:pt>
                <c:pt idx="60">
                  <c:v>1.5</c:v>
                </c:pt>
                <c:pt idx="61">
                  <c:v>1.5250000000000001</c:v>
                </c:pt>
                <c:pt idx="62">
                  <c:v>1.55</c:v>
                </c:pt>
                <c:pt idx="63">
                  <c:v>1.5750000000000002</c:v>
                </c:pt>
                <c:pt idx="64">
                  <c:v>1.6</c:v>
                </c:pt>
                <c:pt idx="65">
                  <c:v>1.625</c:v>
                </c:pt>
                <c:pt idx="66">
                  <c:v>1.6500000000000001</c:v>
                </c:pt>
                <c:pt idx="67">
                  <c:v>1.675</c:v>
                </c:pt>
                <c:pt idx="68">
                  <c:v>1.7000000000000002</c:v>
                </c:pt>
                <c:pt idx="69">
                  <c:v>1.725</c:v>
                </c:pt>
                <c:pt idx="70">
                  <c:v>1.75</c:v>
                </c:pt>
                <c:pt idx="71">
                  <c:v>1.7750000000000001</c:v>
                </c:pt>
                <c:pt idx="72">
                  <c:v>1.8</c:v>
                </c:pt>
                <c:pt idx="73">
                  <c:v>1.8250000000000002</c:v>
                </c:pt>
                <c:pt idx="74">
                  <c:v>1.85</c:v>
                </c:pt>
                <c:pt idx="75">
                  <c:v>1.875</c:v>
                </c:pt>
                <c:pt idx="76">
                  <c:v>1.9000000000000001</c:v>
                </c:pt>
                <c:pt idx="77">
                  <c:v>1.925</c:v>
                </c:pt>
                <c:pt idx="78">
                  <c:v>1.9500000000000002</c:v>
                </c:pt>
                <c:pt idx="79">
                  <c:v>1.975</c:v>
                </c:pt>
                <c:pt idx="80">
                  <c:v>2.0</c:v>
                </c:pt>
                <c:pt idx="81">
                  <c:v>2.025</c:v>
                </c:pt>
                <c:pt idx="82">
                  <c:v>2.0500000000000003</c:v>
                </c:pt>
                <c:pt idx="83">
                  <c:v>2.075</c:v>
                </c:pt>
                <c:pt idx="84">
                  <c:v>2.1</c:v>
                </c:pt>
                <c:pt idx="85">
                  <c:v>2.125</c:v>
                </c:pt>
                <c:pt idx="86">
                  <c:v>2.15</c:v>
                </c:pt>
                <c:pt idx="87">
                  <c:v>2.1750000000000003</c:v>
                </c:pt>
                <c:pt idx="88">
                  <c:v>2.2</c:v>
                </c:pt>
                <c:pt idx="89">
                  <c:v>2.225</c:v>
                </c:pt>
                <c:pt idx="90">
                  <c:v>2.25</c:v>
                </c:pt>
                <c:pt idx="91">
                  <c:v>2.275</c:v>
                </c:pt>
                <c:pt idx="92">
                  <c:v>2.3000000000000003</c:v>
                </c:pt>
                <c:pt idx="93">
                  <c:v>2.325</c:v>
                </c:pt>
                <c:pt idx="94">
                  <c:v>2.35</c:v>
                </c:pt>
                <c:pt idx="95">
                  <c:v>2.375</c:v>
                </c:pt>
                <c:pt idx="96">
                  <c:v>2.4000000000000004</c:v>
                </c:pt>
                <c:pt idx="97">
                  <c:v>2.4250000000000003</c:v>
                </c:pt>
                <c:pt idx="98">
                  <c:v>2.45</c:v>
                </c:pt>
                <c:pt idx="99">
                  <c:v>2.475</c:v>
                </c:pt>
                <c:pt idx="100">
                  <c:v>2.5</c:v>
                </c:pt>
                <c:pt idx="101">
                  <c:v>2.5250000000000004</c:v>
                </c:pt>
                <c:pt idx="102">
                  <c:v>2.5500000000000003</c:v>
                </c:pt>
                <c:pt idx="103">
                  <c:v>2.575</c:v>
                </c:pt>
                <c:pt idx="104">
                  <c:v>2.6</c:v>
                </c:pt>
                <c:pt idx="105">
                  <c:v>2.625</c:v>
                </c:pt>
                <c:pt idx="106">
                  <c:v>2.6500000000000004</c:v>
                </c:pt>
                <c:pt idx="107">
                  <c:v>2.6750000000000003</c:v>
                </c:pt>
                <c:pt idx="108">
                  <c:v>2.7</c:v>
                </c:pt>
                <c:pt idx="109">
                  <c:v>2.725</c:v>
                </c:pt>
                <c:pt idx="110">
                  <c:v>2.75</c:v>
                </c:pt>
                <c:pt idx="111">
                  <c:v>2.7750000000000004</c:v>
                </c:pt>
                <c:pt idx="112">
                  <c:v>2.8000000000000003</c:v>
                </c:pt>
                <c:pt idx="113">
                  <c:v>2.825</c:v>
                </c:pt>
                <c:pt idx="114">
                  <c:v>2.85</c:v>
                </c:pt>
                <c:pt idx="115">
                  <c:v>2.875</c:v>
                </c:pt>
                <c:pt idx="116">
                  <c:v>2.9000000000000004</c:v>
                </c:pt>
                <c:pt idx="117">
                  <c:v>2.9250000000000003</c:v>
                </c:pt>
                <c:pt idx="118">
                  <c:v>2.95</c:v>
                </c:pt>
                <c:pt idx="119">
                  <c:v>2.975</c:v>
                </c:pt>
                <c:pt idx="120">
                  <c:v>3.0</c:v>
                </c:pt>
                <c:pt idx="121">
                  <c:v>3.0250000000000004</c:v>
                </c:pt>
                <c:pt idx="122">
                  <c:v>3.0500000000000003</c:v>
                </c:pt>
                <c:pt idx="123">
                  <c:v>3.075</c:v>
                </c:pt>
                <c:pt idx="124">
                  <c:v>3.1</c:v>
                </c:pt>
                <c:pt idx="125">
                  <c:v>3.125</c:v>
                </c:pt>
                <c:pt idx="126">
                  <c:v>3.1500000000000004</c:v>
                </c:pt>
                <c:pt idx="127">
                  <c:v>3.1750000000000003</c:v>
                </c:pt>
                <c:pt idx="128">
                  <c:v>3.2</c:v>
                </c:pt>
                <c:pt idx="129">
                  <c:v>3.225</c:v>
                </c:pt>
                <c:pt idx="130">
                  <c:v>3.25</c:v>
                </c:pt>
                <c:pt idx="131">
                  <c:v>3.2750000000000004</c:v>
                </c:pt>
                <c:pt idx="132">
                  <c:v>3.3000000000000003</c:v>
                </c:pt>
                <c:pt idx="133">
                  <c:v>3.325</c:v>
                </c:pt>
                <c:pt idx="134">
                  <c:v>3.35</c:v>
                </c:pt>
                <c:pt idx="135">
                  <c:v>3.375</c:v>
                </c:pt>
                <c:pt idx="136">
                  <c:v>3.4000000000000004</c:v>
                </c:pt>
                <c:pt idx="137">
                  <c:v>3.4250000000000003</c:v>
                </c:pt>
                <c:pt idx="138">
                  <c:v>3.45</c:v>
                </c:pt>
                <c:pt idx="139">
                  <c:v>3.475</c:v>
                </c:pt>
                <c:pt idx="140">
                  <c:v>3.5</c:v>
                </c:pt>
                <c:pt idx="141">
                  <c:v>3.5250000000000004</c:v>
                </c:pt>
                <c:pt idx="142">
                  <c:v>3.5500000000000003</c:v>
                </c:pt>
                <c:pt idx="143">
                  <c:v>3.575</c:v>
                </c:pt>
                <c:pt idx="144">
                  <c:v>3.6</c:v>
                </c:pt>
                <c:pt idx="145">
                  <c:v>3.625</c:v>
                </c:pt>
                <c:pt idx="146">
                  <c:v>3.6500000000000004</c:v>
                </c:pt>
                <c:pt idx="147">
                  <c:v>3.6750000000000003</c:v>
                </c:pt>
                <c:pt idx="148">
                  <c:v>3.7</c:v>
                </c:pt>
                <c:pt idx="149">
                  <c:v>3.725</c:v>
                </c:pt>
                <c:pt idx="150">
                  <c:v>3.75</c:v>
                </c:pt>
                <c:pt idx="151">
                  <c:v>3.7750000000000004</c:v>
                </c:pt>
                <c:pt idx="152">
                  <c:v>3.8000000000000003</c:v>
                </c:pt>
                <c:pt idx="153">
                  <c:v>3.825</c:v>
                </c:pt>
                <c:pt idx="154">
                  <c:v>3.85</c:v>
                </c:pt>
                <c:pt idx="155">
                  <c:v>3.875</c:v>
                </c:pt>
                <c:pt idx="156">
                  <c:v>3.9000000000000004</c:v>
                </c:pt>
                <c:pt idx="157">
                  <c:v>3.9250000000000003</c:v>
                </c:pt>
                <c:pt idx="158">
                  <c:v>3.95</c:v>
                </c:pt>
                <c:pt idx="159">
                  <c:v>3.975</c:v>
                </c:pt>
                <c:pt idx="160">
                  <c:v>4.0</c:v>
                </c:pt>
                <c:pt idx="161">
                  <c:v>4.025</c:v>
                </c:pt>
                <c:pt idx="162">
                  <c:v>4.05</c:v>
                </c:pt>
                <c:pt idx="163">
                  <c:v>4.075</c:v>
                </c:pt>
                <c:pt idx="164">
                  <c:v>4.1000000000000005</c:v>
                </c:pt>
                <c:pt idx="165">
                  <c:v>4.125</c:v>
                </c:pt>
                <c:pt idx="166">
                  <c:v>4.15</c:v>
                </c:pt>
                <c:pt idx="167">
                  <c:v>4.175</c:v>
                </c:pt>
                <c:pt idx="168">
                  <c:v>4.2</c:v>
                </c:pt>
                <c:pt idx="169">
                  <c:v>4.2250000000000005</c:v>
                </c:pt>
                <c:pt idx="170">
                  <c:v>4.25</c:v>
                </c:pt>
                <c:pt idx="171">
                  <c:v>4.275</c:v>
                </c:pt>
                <c:pt idx="172">
                  <c:v>4.3</c:v>
                </c:pt>
                <c:pt idx="173">
                  <c:v>4.325</c:v>
                </c:pt>
                <c:pt idx="174">
                  <c:v>4.3500000000000005</c:v>
                </c:pt>
                <c:pt idx="175">
                  <c:v>4.375</c:v>
                </c:pt>
                <c:pt idx="176">
                  <c:v>4.4</c:v>
                </c:pt>
                <c:pt idx="177">
                  <c:v>4.425</c:v>
                </c:pt>
                <c:pt idx="178">
                  <c:v>4.45</c:v>
                </c:pt>
                <c:pt idx="179">
                  <c:v>4.4750000000000005</c:v>
                </c:pt>
                <c:pt idx="180">
                  <c:v>4.5</c:v>
                </c:pt>
                <c:pt idx="181">
                  <c:v>4.525</c:v>
                </c:pt>
                <c:pt idx="182">
                  <c:v>4.55</c:v>
                </c:pt>
                <c:pt idx="183">
                  <c:v>4.575</c:v>
                </c:pt>
                <c:pt idx="184">
                  <c:v>4.6000000000000005</c:v>
                </c:pt>
                <c:pt idx="185">
                  <c:v>4.625</c:v>
                </c:pt>
                <c:pt idx="186">
                  <c:v>4.65</c:v>
                </c:pt>
                <c:pt idx="187">
                  <c:v>4.675</c:v>
                </c:pt>
                <c:pt idx="188">
                  <c:v>4.7</c:v>
                </c:pt>
                <c:pt idx="189">
                  <c:v>4.7250000000000005</c:v>
                </c:pt>
                <c:pt idx="190">
                  <c:v>4.75</c:v>
                </c:pt>
                <c:pt idx="191">
                  <c:v>4.775</c:v>
                </c:pt>
                <c:pt idx="192">
                  <c:v>4.800000000000001</c:v>
                </c:pt>
                <c:pt idx="193">
                  <c:v>4.825</c:v>
                </c:pt>
                <c:pt idx="194">
                  <c:v>4.8500000000000005</c:v>
                </c:pt>
                <c:pt idx="195">
                  <c:v>4.875</c:v>
                </c:pt>
                <c:pt idx="196">
                  <c:v>4.9</c:v>
                </c:pt>
                <c:pt idx="197">
                  <c:v>4.925000000000001</c:v>
                </c:pt>
                <c:pt idx="198">
                  <c:v>4.95</c:v>
                </c:pt>
                <c:pt idx="199">
                  <c:v>4.9750000000000005</c:v>
                </c:pt>
                <c:pt idx="200">
                  <c:v>5.0</c:v>
                </c:pt>
              </c:numCache>
            </c:numRef>
          </c:xVal>
          <c:yVal>
            <c:numRef>
              <c:f>Sheet1!$B$2:$B$202</c:f>
              <c:numCache>
                <c:formatCode>General</c:formatCode>
                <c:ptCount val="201"/>
                <c:pt idx="0">
                  <c:v>300.0</c:v>
                </c:pt>
                <c:pt idx="1">
                  <c:v>322.52140942404026</c:v>
                </c:pt>
                <c:pt idx="2">
                  <c:v>343.3715862999211</c:v>
                </c:pt>
                <c:pt idx="3">
                  <c:v>362.67237916737247</c:v>
                </c:pt>
                <c:pt idx="4">
                  <c:v>380.53675547523954</c:v>
                </c:pt>
                <c:pt idx="5">
                  <c:v>397.0694488877472</c:v>
                </c:pt>
                <c:pt idx="6">
                  <c:v>412.3675594112725</c:v>
                </c:pt>
                <c:pt idx="7">
                  <c:v>426.5211097803444</c:v>
                </c:pt>
                <c:pt idx="8">
                  <c:v>439.6135612909554</c:v>
                </c:pt>
                <c:pt idx="9">
                  <c:v>451.72229203690495</c:v>
                </c:pt>
                <c:pt idx="10">
                  <c:v>462.9190402894608</c:v>
                </c:pt>
                <c:pt idx="11">
                  <c:v>473.27031556090145</c:v>
                </c:pt>
                <c:pt idx="12">
                  <c:v>482.8377797073256</c:v>
                </c:pt>
                <c:pt idx="13">
                  <c:v>491.678600254446</c:v>
                </c:pt>
                <c:pt idx="14">
                  <c:v>499.8457779709187</c:v>
                </c:pt>
                <c:pt idx="15">
                  <c:v>507.3884505661987</c:v>
                </c:pt>
                <c:pt idx="16">
                  <c:v>514.3521742531077</c:v>
                </c:pt>
                <c:pt idx="17">
                  <c:v>520.7791847884653</c:v>
                </c:pt>
                <c:pt idx="18">
                  <c:v>526.7086394875391</c:v>
                </c:pt>
                <c:pt idx="19">
                  <c:v>532.1768415990601</c:v>
                </c:pt>
                <c:pt idx="20">
                  <c:v>537.2174483264624</c:v>
                </c:pt>
                <c:pt idx="21">
                  <c:v>541.8616636873126</c:v>
                </c:pt>
                <c:pt idx="22">
                  <c:v>546.1384173160066</c:v>
                </c:pt>
                <c:pt idx="23">
                  <c:v>550.0745302342739</c:v>
                </c:pt>
                <c:pt idx="24">
                  <c:v>553.6948685393515</c:v>
                </c:pt>
                <c:pt idx="25">
                  <c:v>557.022485890458</c:v>
                </c:pt>
                <c:pt idx="26">
                  <c:v>560.0787556100145</c:v>
                </c:pt>
                <c:pt idx="27">
                  <c:v>562.8834931565509</c:v>
                </c:pt>
                <c:pt idx="28">
                  <c:v>565.4550696710662</c:v>
                </c:pt>
                <c:pt idx="29">
                  <c:v>567.8105172474598</c:v>
                </c:pt>
                <c:pt idx="30">
                  <c:v>569.9656265302353</c:v>
                </c:pt>
                <c:pt idx="31">
                  <c:v>571.9350371987082</c:v>
                </c:pt>
                <c:pt idx="32">
                  <c:v>573.732321856192</c:v>
                </c:pt>
                <c:pt idx="33">
                  <c:v>575.3700638048458</c:v>
                </c:pt>
                <c:pt idx="34">
                  <c:v>576.859929151834</c:v>
                </c:pt>
                <c:pt idx="35">
                  <c:v>578.2127336599633</c:v>
                </c:pt>
                <c:pt idx="36">
                  <c:v>579.4385047258522</c:v>
                </c:pt>
                <c:pt idx="37">
                  <c:v>580.5465388407672</c:v>
                </c:pt>
                <c:pt idx="38">
                  <c:v>581.5454548633722</c:v>
                </c:pt>
                <c:pt idx="39">
                  <c:v>582.4432434096501</c:v>
                </c:pt>
                <c:pt idx="40">
                  <c:v>583.2473126429925</c:v>
                </c:pt>
                <c:pt idx="41">
                  <c:v>583.9645307268397</c:v>
                </c:pt>
                <c:pt idx="42">
                  <c:v>584.6012651831221</c:v>
                </c:pt>
                <c:pt idx="43">
                  <c:v>585.1634193820266</c:v>
                </c:pt>
                <c:pt idx="44">
                  <c:v>585.6564663721726</c:v>
                </c:pt>
                <c:pt idx="45">
                  <c:v>586.0854802450481</c:v>
                </c:pt>
                <c:pt idx="46">
                  <c:v>586.455165213418</c:v>
                </c:pt>
                <c:pt idx="47">
                  <c:v>586.769882570329</c:v>
                </c:pt>
                <c:pt idx="48">
                  <c:v>587.0336756831816</c:v>
                </c:pt>
                <c:pt idx="49">
                  <c:v>587.250293166089</c:v>
                </c:pt>
                <c:pt idx="50">
                  <c:v>587.4232103632958</c:v>
                </c:pt>
                <c:pt idx="51">
                  <c:v>587.5556492667596</c:v>
                </c:pt>
                <c:pt idx="52">
                  <c:v>587.6505969820221</c:v>
                </c:pt>
                <c:pt idx="53">
                  <c:v>587.7108228481779</c:v>
                </c:pt>
                <c:pt idx="54">
                  <c:v>587.7388943100403</c:v>
                </c:pt>
                <c:pt idx="55">
                  <c:v>587.7371916334489</c:v>
                </c:pt>
                <c:pt idx="56">
                  <c:v>587.7079215480392</c:v>
                </c:pt>
                <c:pt idx="57">
                  <c:v>587.653129895647</c:v>
                </c:pt>
                <c:pt idx="58">
                  <c:v>587.5747133568232</c:v>
                </c:pt>
                <c:pt idx="59">
                  <c:v>587.4744303226485</c:v>
                </c:pt>
                <c:pt idx="60">
                  <c:v>587.3539109741498</c:v>
                </c:pt>
                <c:pt idx="61">
                  <c:v>587.2146666270662</c:v>
                </c:pt>
                <c:pt idx="62">
                  <c:v>587.0580983955156</c:v>
                </c:pt>
                <c:pt idx="63">
                  <c:v>586.8855052241997</c:v>
                </c:pt>
                <c:pt idx="64">
                  <c:v>586.6980913351773</c:v>
                </c:pt>
                <c:pt idx="65">
                  <c:v>586.4969731318711</c:v>
                </c:pt>
                <c:pt idx="66">
                  <c:v>586.2831855998697</c:v>
                </c:pt>
                <c:pt idx="67">
                  <c:v>586.0576882412026</c:v>
                </c:pt>
                <c:pt idx="68">
                  <c:v>585.821370576089</c:v>
                </c:pt>
                <c:pt idx="69">
                  <c:v>585.5750572436868</c:v>
                </c:pt>
                <c:pt idx="70">
                  <c:v>585.3195127310701</c:v>
                </c:pt>
                <c:pt idx="71">
                  <c:v>585.0554457575291</c:v>
                </c:pt>
                <c:pt idx="72">
                  <c:v>584.783513339318</c:v>
                </c:pt>
                <c:pt idx="73">
                  <c:v>584.5043245581386</c:v>
                </c:pt>
                <c:pt idx="74">
                  <c:v>584.2184440549557</c:v>
                </c:pt>
                <c:pt idx="75">
                  <c:v>583.926395269162</c:v>
                </c:pt>
                <c:pt idx="76">
                  <c:v>583.6286634416533</c:v>
                </c:pt>
                <c:pt idx="77">
                  <c:v>583.3256983990229</c:v>
                </c:pt>
                <c:pt idx="78">
                  <c:v>583.0179171348258</c:v>
                </c:pt>
                <c:pt idx="79">
                  <c:v>582.7057062027063</c:v>
                </c:pt>
                <c:pt idx="80">
                  <c:v>582.3894239351004</c:v>
                </c:pt>
                <c:pt idx="81">
                  <c:v>582.0694025002247</c:v>
                </c:pt>
                <c:pt idx="82">
                  <c:v>581.7459498091412</c:v>
                </c:pt>
                <c:pt idx="83">
                  <c:v>581.4193512838231</c:v>
                </c:pt>
                <c:pt idx="84">
                  <c:v>581.0898714963541</c:v>
                </c:pt>
                <c:pt idx="85">
                  <c:v>580.7577556886523</c:v>
                </c:pt>
                <c:pt idx="86">
                  <c:v>580.4232311814278</c:v>
                </c:pt>
                <c:pt idx="87">
                  <c:v>580.0865086804481</c:v>
                </c:pt>
                <c:pt idx="88">
                  <c:v>579.7477834875933</c:v>
                </c:pt>
                <c:pt idx="89">
                  <c:v>579.4072366236445</c:v>
                </c:pt>
                <c:pt idx="90">
                  <c:v>579.0650358692346</c:v>
                </c:pt>
                <c:pt idx="91">
                  <c:v>578.7213367299303</c:v>
                </c:pt>
                <c:pt idx="92">
                  <c:v>578.3762833309711</c:v>
                </c:pt>
                <c:pt idx="93">
                  <c:v>578.0300092467966</c:v>
                </c:pt>
                <c:pt idx="94">
                  <c:v>577.6826382701113</c:v>
                </c:pt>
                <c:pt idx="95">
                  <c:v>577.3342851248958</c:v>
                </c:pt>
                <c:pt idx="96">
                  <c:v>576.98505612745</c:v>
                </c:pt>
                <c:pt idx="97">
                  <c:v>576.6350497992541</c:v>
                </c:pt>
                <c:pt idx="98">
                  <c:v>576.2843574351624</c:v>
                </c:pt>
                <c:pt idx="99">
                  <c:v>575.9330636301825</c:v>
                </c:pt>
                <c:pt idx="100">
                  <c:v>575.5812467678597</c:v>
                </c:pt>
                <c:pt idx="101">
                  <c:v>575.228979473066</c:v>
                </c:pt>
                <c:pt idx="102">
                  <c:v>574.8763290317854</c:v>
                </c:pt>
                <c:pt idx="103">
                  <c:v>574.5233577803047</c:v>
                </c:pt>
                <c:pt idx="104">
                  <c:v>574.1701234660353</c:v>
                </c:pt>
                <c:pt idx="105">
                  <c:v>573.8166795820391</c:v>
                </c:pt>
                <c:pt idx="106">
                  <c:v>573.4630756771692</c:v>
                </c:pt>
                <c:pt idx="107">
                  <c:v>573.1093576436072</c:v>
                </c:pt>
                <c:pt idx="108">
                  <c:v>572.7555679834431</c:v>
                </c:pt>
                <c:pt idx="109">
                  <c:v>572.4017460558248</c:v>
                </c:pt>
                <c:pt idx="110">
                  <c:v>572.0479283060931</c:v>
                </c:pt>
                <c:pt idx="111">
                  <c:v>571.6941484782174</c:v>
                </c:pt>
                <c:pt idx="112">
                  <c:v>571.3404378117467</c:v>
                </c:pt>
                <c:pt idx="113">
                  <c:v>570.9868252244061</c:v>
                </c:pt>
                <c:pt idx="114">
                  <c:v>570.6333374813838</c:v>
                </c:pt>
                <c:pt idx="115">
                  <c:v>570.2799993522806</c:v>
                </c:pt>
                <c:pt idx="116">
                  <c:v>569.9268337566185</c:v>
                </c:pt>
                <c:pt idx="117">
                  <c:v>569.5738618987448</c:v>
                </c:pt>
                <c:pt idx="118">
                  <c:v>569.2211033929029</c:v>
                </c:pt>
                <c:pt idx="119">
                  <c:v>568.8685763791875</c:v>
                </c:pt>
                <c:pt idx="120">
                  <c:v>568.5162976310482</c:v>
                </c:pt>
                <c:pt idx="121">
                  <c:v>568.1642826549569</c:v>
                </c:pt>
                <c:pt idx="122">
                  <c:v>567.8125457828116</c:v>
                </c:pt>
                <c:pt idx="123">
                  <c:v>567.461100257605</c:v>
                </c:pt>
                <c:pt idx="124">
                  <c:v>567.1099583128484</c:v>
                </c:pt>
                <c:pt idx="125">
                  <c:v>566.7591312462077</c:v>
                </c:pt>
                <c:pt idx="126">
                  <c:v>566.4086294877709</c:v>
                </c:pt>
                <c:pt idx="127">
                  <c:v>566.0584626633412</c:v>
                </c:pt>
                <c:pt idx="128">
                  <c:v>565.708639653116</c:v>
                </c:pt>
                <c:pt idx="129">
                  <c:v>565.3591686460893</c:v>
                </c:pt>
                <c:pt idx="130">
                  <c:v>565.0100571904884</c:v>
                </c:pt>
                <c:pt idx="131">
                  <c:v>564.6613122405349</c:v>
                </c:pt>
                <c:pt idx="132">
                  <c:v>564.3129401997976</c:v>
                </c:pt>
                <c:pt idx="133">
                  <c:v>563.9649469613844</c:v>
                </c:pt>
                <c:pt idx="134">
                  <c:v>563.6173379452061</c:v>
                </c:pt>
                <c:pt idx="135">
                  <c:v>563.2701181325233</c:v>
                </c:pt>
                <c:pt idx="136">
                  <c:v>562.9232920979748</c:v>
                </c:pt>
                <c:pt idx="137">
                  <c:v>562.5768640392733</c:v>
                </c:pt>
                <c:pt idx="138">
                  <c:v>562.2308378047344</c:v>
                </c:pt>
                <c:pt idx="139">
                  <c:v>561.8852169188003</c:v>
                </c:pt>
                <c:pt idx="140">
                  <c:v>561.5400046057034</c:v>
                </c:pt>
                <c:pt idx="141">
                  <c:v>561.1952038114039</c:v>
                </c:pt>
                <c:pt idx="142">
                  <c:v>560.8508172239294</c:v>
                </c:pt>
                <c:pt idx="143">
                  <c:v>560.5068472922319</c:v>
                </c:pt>
                <c:pt idx="144">
                  <c:v>560.1632962436695</c:v>
                </c:pt>
                <c:pt idx="145">
                  <c:v>559.820166100214</c:v>
                </c:pt>
                <c:pt idx="146">
                  <c:v>559.4774586934793</c:v>
                </c:pt>
                <c:pt idx="147">
                  <c:v>559.1351756786502</c:v>
                </c:pt>
                <c:pt idx="148">
                  <c:v>558.7933185474001</c:v>
                </c:pt>
                <c:pt idx="149">
                  <c:v>558.4518886398641</c:v>
                </c:pt>
                <c:pt idx="150">
                  <c:v>558.1108871557418</c:v>
                </c:pt>
                <c:pt idx="151">
                  <c:v>557.770315164588</c:v>
                </c:pt>
                <c:pt idx="152">
                  <c:v>557.4301736153562</c:v>
                </c:pt>
                <c:pt idx="153">
                  <c:v>557.0904633452441</c:v>
                </c:pt>
                <c:pt idx="154">
                  <c:v>556.7511850878956</c:v>
                </c:pt>
                <c:pt idx="155">
                  <c:v>556.4123394810047</c:v>
                </c:pt>
                <c:pt idx="156">
                  <c:v>556.0739270733649</c:v>
                </c:pt>
                <c:pt idx="157">
                  <c:v>555.7359483314046</c:v>
                </c:pt>
                <c:pt idx="158">
                  <c:v>555.3984036452468</c:v>
                </c:pt>
                <c:pt idx="159">
                  <c:v>555.0612933343259</c:v>
                </c:pt>
                <c:pt idx="160">
                  <c:v>554.7246176525962</c:v>
                </c:pt>
                <c:pt idx="161">
                  <c:v>554.3883767933598</c:v>
                </c:pt>
                <c:pt idx="162">
                  <c:v>554.0525708937437</c:v>
                </c:pt>
                <c:pt idx="163">
                  <c:v>553.7172000388484</c:v>
                </c:pt>
                <c:pt idx="164">
                  <c:v>553.3822642655971</c:v>
                </c:pt>
                <c:pt idx="165">
                  <c:v>553.047763566301</c:v>
                </c:pt>
                <c:pt idx="166">
                  <c:v>552.7136978919674</c:v>
                </c:pt>
                <c:pt idx="167">
                  <c:v>552.3800671553645</c:v>
                </c:pt>
                <c:pt idx="168">
                  <c:v>552.0468712338646</c:v>
                </c:pt>
                <c:pt idx="169">
                  <c:v>551.7141099720786</c:v>
                </c:pt>
                <c:pt idx="170">
                  <c:v>551.3817831842988</c:v>
                </c:pt>
                <c:pt idx="171">
                  <c:v>551.0498906567641</c:v>
                </c:pt>
                <c:pt idx="172">
                  <c:v>550.7184321497592</c:v>
                </c:pt>
                <c:pt idx="173">
                  <c:v>550.3874073995614</c:v>
                </c:pt>
                <c:pt idx="174">
                  <c:v>550.0568161202455</c:v>
                </c:pt>
                <c:pt idx="175">
                  <c:v>549.7266580053555</c:v>
                </c:pt>
                <c:pt idx="176">
                  <c:v>549.3969327294571</c:v>
                </c:pt>
                <c:pt idx="177">
                  <c:v>549.0676399495751</c:v>
                </c:pt>
                <c:pt idx="178">
                  <c:v>548.7387793065257</c:v>
                </c:pt>
                <c:pt idx="179">
                  <c:v>548.4103504261527</c:v>
                </c:pt>
                <c:pt idx="180">
                  <c:v>548.0823529204737</c:v>
                </c:pt>
                <c:pt idx="181">
                  <c:v>547.7547863887411</c:v>
                </c:pt>
                <c:pt idx="182">
                  <c:v>547.4276504184274</c:v>
                </c:pt>
                <c:pt idx="183">
                  <c:v>547.1009445861378</c:v>
                </c:pt>
                <c:pt idx="184">
                  <c:v>546.7746684584561</c:v>
                </c:pt>
                <c:pt idx="185">
                  <c:v>546.4488215927288</c:v>
                </c:pt>
                <c:pt idx="186">
                  <c:v>546.1234035377937</c:v>
                </c:pt>
                <c:pt idx="187">
                  <c:v>545.798413834652</c:v>
                </c:pt>
                <c:pt idx="188">
                  <c:v>545.4738520170947</c:v>
                </c:pt>
                <c:pt idx="189">
                  <c:v>545.1497176122809</c:v>
                </c:pt>
                <c:pt idx="190">
                  <c:v>544.8260101412754</c:v>
                </c:pt>
                <c:pt idx="191">
                  <c:v>544.5027291195463</c:v>
                </c:pt>
                <c:pt idx="192">
                  <c:v>544.1798740574261</c:v>
                </c:pt>
                <c:pt idx="193">
                  <c:v>543.8574444605399</c:v>
                </c:pt>
                <c:pt idx="194">
                  <c:v>543.5354398302014</c:v>
                </c:pt>
                <c:pt idx="195">
                  <c:v>543.2138596637808</c:v>
                </c:pt>
                <c:pt idx="196">
                  <c:v>542.8927034550451</c:v>
                </c:pt>
                <c:pt idx="197">
                  <c:v>542.571970694474</c:v>
                </c:pt>
                <c:pt idx="198">
                  <c:v>542.2516608695529</c:v>
                </c:pt>
                <c:pt idx="199">
                  <c:v>541.9317734650433</c:v>
                </c:pt>
                <c:pt idx="200">
                  <c:v>541.6123079632353</c:v>
                </c:pt>
              </c:numCache>
            </c:numRef>
          </c:yVal>
          <c:smooth val="0"/>
        </c:ser>
        <c:ser>
          <c:idx val="1"/>
          <c:order val="1"/>
          <c:tx>
            <c:strRef>
              <c:f>Sheet1!$B$204</c:f>
              <c:strCache>
                <c:ptCount val="1"/>
                <c:pt idx="0">
                  <c:v>G = 2×10¹⁸</c:v>
                </c:pt>
              </c:strCache>
            </c:strRef>
          </c:tx>
          <c:spPr>
            <a:ln w="31750">
              <a:solidFill>
                <a:srgbClr val="CF7B2B"/>
              </a:solidFill>
            </a:ln>
          </c:spPr>
          <c:marker>
            <c:symbol val="none"/>
          </c:marker>
          <c:xVal>
            <c:numRef>
              <c:f>Sheet1!$A$205:$A$405</c:f>
              <c:numCache>
                <c:formatCode>General</c:formatCode>
                <c:ptCount val="201"/>
                <c:pt idx="0">
                  <c:v>0.0</c:v>
                </c:pt>
                <c:pt idx="1">
                  <c:v>0.025</c:v>
                </c:pt>
                <c:pt idx="2">
                  <c:v>0.05</c:v>
                </c:pt>
                <c:pt idx="3">
                  <c:v>0.07500000000000001</c:v>
                </c:pt>
                <c:pt idx="4">
                  <c:v>0.1</c:v>
                </c:pt>
                <c:pt idx="5">
                  <c:v>0.125</c:v>
                </c:pt>
                <c:pt idx="6">
                  <c:v>0.15000000000000002</c:v>
                </c:pt>
                <c:pt idx="7">
                  <c:v>0.17500000000000002</c:v>
                </c:pt>
                <c:pt idx="8">
                  <c:v>0.2</c:v>
                </c:pt>
                <c:pt idx="9">
                  <c:v>0.225</c:v>
                </c:pt>
                <c:pt idx="10">
                  <c:v>0.25</c:v>
                </c:pt>
                <c:pt idx="11">
                  <c:v>0.275</c:v>
                </c:pt>
                <c:pt idx="12">
                  <c:v>0.30000000000000004</c:v>
                </c:pt>
                <c:pt idx="13">
                  <c:v>0.325</c:v>
                </c:pt>
                <c:pt idx="14">
                  <c:v>0.35000000000000003</c:v>
                </c:pt>
                <c:pt idx="15">
                  <c:v>0.375</c:v>
                </c:pt>
                <c:pt idx="16">
                  <c:v>0.4</c:v>
                </c:pt>
                <c:pt idx="17">
                  <c:v>0.42500000000000004</c:v>
                </c:pt>
                <c:pt idx="18">
                  <c:v>0.45</c:v>
                </c:pt>
                <c:pt idx="19">
                  <c:v>0.47500000000000003</c:v>
                </c:pt>
                <c:pt idx="20">
                  <c:v>0.5</c:v>
                </c:pt>
                <c:pt idx="21">
                  <c:v>0.525</c:v>
                </c:pt>
                <c:pt idx="22">
                  <c:v>0.55</c:v>
                </c:pt>
                <c:pt idx="23">
                  <c:v>0.5750000000000001</c:v>
                </c:pt>
                <c:pt idx="24">
                  <c:v>0.6000000000000001</c:v>
                </c:pt>
                <c:pt idx="25">
                  <c:v>0.625</c:v>
                </c:pt>
                <c:pt idx="26">
                  <c:v>0.65</c:v>
                </c:pt>
                <c:pt idx="27">
                  <c:v>0.675</c:v>
                </c:pt>
                <c:pt idx="28">
                  <c:v>0.7000000000000001</c:v>
                </c:pt>
                <c:pt idx="29">
                  <c:v>0.7250000000000001</c:v>
                </c:pt>
                <c:pt idx="30">
                  <c:v>0.75</c:v>
                </c:pt>
                <c:pt idx="31">
                  <c:v>0.775</c:v>
                </c:pt>
                <c:pt idx="32">
                  <c:v>0.8</c:v>
                </c:pt>
                <c:pt idx="33">
                  <c:v>0.8250000000000001</c:v>
                </c:pt>
                <c:pt idx="34">
                  <c:v>0.8500000000000001</c:v>
                </c:pt>
                <c:pt idx="35">
                  <c:v>0.875</c:v>
                </c:pt>
                <c:pt idx="36">
                  <c:v>0.9</c:v>
                </c:pt>
                <c:pt idx="37">
                  <c:v>0.925</c:v>
                </c:pt>
                <c:pt idx="38">
                  <c:v>0.9500000000000001</c:v>
                </c:pt>
                <c:pt idx="39">
                  <c:v>0.9750000000000001</c:v>
                </c:pt>
                <c:pt idx="40">
                  <c:v>1.0</c:v>
                </c:pt>
                <c:pt idx="41">
                  <c:v>1.0250000000000001</c:v>
                </c:pt>
                <c:pt idx="42">
                  <c:v>1.05</c:v>
                </c:pt>
                <c:pt idx="43">
                  <c:v>1.075</c:v>
                </c:pt>
                <c:pt idx="44">
                  <c:v>1.1</c:v>
                </c:pt>
                <c:pt idx="45">
                  <c:v>1.125</c:v>
                </c:pt>
                <c:pt idx="46">
                  <c:v>1.1500000000000001</c:v>
                </c:pt>
                <c:pt idx="47">
                  <c:v>1.175</c:v>
                </c:pt>
                <c:pt idx="48">
                  <c:v>1.2000000000000002</c:v>
                </c:pt>
                <c:pt idx="49">
                  <c:v>1.225</c:v>
                </c:pt>
                <c:pt idx="50">
                  <c:v>1.25</c:v>
                </c:pt>
                <c:pt idx="51">
                  <c:v>1.2750000000000001</c:v>
                </c:pt>
                <c:pt idx="52">
                  <c:v>1.3</c:v>
                </c:pt>
                <c:pt idx="53">
                  <c:v>1.3250000000000002</c:v>
                </c:pt>
                <c:pt idx="54">
                  <c:v>1.35</c:v>
                </c:pt>
                <c:pt idx="55">
                  <c:v>1.375</c:v>
                </c:pt>
                <c:pt idx="56">
                  <c:v>1.4000000000000001</c:v>
                </c:pt>
                <c:pt idx="57">
                  <c:v>1.425</c:v>
                </c:pt>
                <c:pt idx="58">
                  <c:v>1.4500000000000002</c:v>
                </c:pt>
                <c:pt idx="59">
                  <c:v>1.475</c:v>
                </c:pt>
                <c:pt idx="60">
                  <c:v>1.5</c:v>
                </c:pt>
                <c:pt idx="61">
                  <c:v>1.5250000000000001</c:v>
                </c:pt>
                <c:pt idx="62">
                  <c:v>1.55</c:v>
                </c:pt>
                <c:pt idx="63">
                  <c:v>1.5750000000000002</c:v>
                </c:pt>
                <c:pt idx="64">
                  <c:v>1.6</c:v>
                </c:pt>
                <c:pt idx="65">
                  <c:v>1.625</c:v>
                </c:pt>
                <c:pt idx="66">
                  <c:v>1.6500000000000001</c:v>
                </c:pt>
                <c:pt idx="67">
                  <c:v>1.675</c:v>
                </c:pt>
                <c:pt idx="68">
                  <c:v>1.7000000000000002</c:v>
                </c:pt>
                <c:pt idx="69">
                  <c:v>1.725</c:v>
                </c:pt>
                <c:pt idx="70">
                  <c:v>1.75</c:v>
                </c:pt>
                <c:pt idx="71">
                  <c:v>1.7750000000000001</c:v>
                </c:pt>
                <c:pt idx="72">
                  <c:v>1.8</c:v>
                </c:pt>
                <c:pt idx="73">
                  <c:v>1.8250000000000002</c:v>
                </c:pt>
                <c:pt idx="74">
                  <c:v>1.85</c:v>
                </c:pt>
                <c:pt idx="75">
                  <c:v>1.875</c:v>
                </c:pt>
                <c:pt idx="76">
                  <c:v>1.9000000000000001</c:v>
                </c:pt>
                <c:pt idx="77">
                  <c:v>1.925</c:v>
                </c:pt>
                <c:pt idx="78">
                  <c:v>1.9500000000000002</c:v>
                </c:pt>
                <c:pt idx="79">
                  <c:v>1.975</c:v>
                </c:pt>
                <c:pt idx="80">
                  <c:v>2.0</c:v>
                </c:pt>
                <c:pt idx="81">
                  <c:v>2.025</c:v>
                </c:pt>
                <c:pt idx="82">
                  <c:v>2.0500000000000003</c:v>
                </c:pt>
                <c:pt idx="83">
                  <c:v>2.075</c:v>
                </c:pt>
                <c:pt idx="84">
                  <c:v>2.1</c:v>
                </c:pt>
                <c:pt idx="85">
                  <c:v>2.125</c:v>
                </c:pt>
                <c:pt idx="86">
                  <c:v>2.15</c:v>
                </c:pt>
                <c:pt idx="87">
                  <c:v>2.1750000000000003</c:v>
                </c:pt>
                <c:pt idx="88">
                  <c:v>2.2</c:v>
                </c:pt>
                <c:pt idx="89">
                  <c:v>2.225</c:v>
                </c:pt>
                <c:pt idx="90">
                  <c:v>2.25</c:v>
                </c:pt>
                <c:pt idx="91">
                  <c:v>2.275</c:v>
                </c:pt>
                <c:pt idx="92">
                  <c:v>2.3000000000000003</c:v>
                </c:pt>
                <c:pt idx="93">
                  <c:v>2.325</c:v>
                </c:pt>
                <c:pt idx="94">
                  <c:v>2.35</c:v>
                </c:pt>
                <c:pt idx="95">
                  <c:v>2.375</c:v>
                </c:pt>
                <c:pt idx="96">
                  <c:v>2.4000000000000004</c:v>
                </c:pt>
                <c:pt idx="97">
                  <c:v>2.4250000000000003</c:v>
                </c:pt>
                <c:pt idx="98">
                  <c:v>2.45</c:v>
                </c:pt>
                <c:pt idx="99">
                  <c:v>2.475</c:v>
                </c:pt>
                <c:pt idx="100">
                  <c:v>2.5</c:v>
                </c:pt>
                <c:pt idx="101">
                  <c:v>2.5250000000000004</c:v>
                </c:pt>
                <c:pt idx="102">
                  <c:v>2.5500000000000003</c:v>
                </c:pt>
                <c:pt idx="103">
                  <c:v>2.575</c:v>
                </c:pt>
                <c:pt idx="104">
                  <c:v>2.6</c:v>
                </c:pt>
                <c:pt idx="105">
                  <c:v>2.625</c:v>
                </c:pt>
                <c:pt idx="106">
                  <c:v>2.6500000000000004</c:v>
                </c:pt>
                <c:pt idx="107">
                  <c:v>2.6750000000000003</c:v>
                </c:pt>
                <c:pt idx="108">
                  <c:v>2.7</c:v>
                </c:pt>
                <c:pt idx="109">
                  <c:v>2.725</c:v>
                </c:pt>
                <c:pt idx="110">
                  <c:v>2.75</c:v>
                </c:pt>
                <c:pt idx="111">
                  <c:v>2.7750000000000004</c:v>
                </c:pt>
                <c:pt idx="112">
                  <c:v>2.8000000000000003</c:v>
                </c:pt>
                <c:pt idx="113">
                  <c:v>2.825</c:v>
                </c:pt>
                <c:pt idx="114">
                  <c:v>2.85</c:v>
                </c:pt>
                <c:pt idx="115">
                  <c:v>2.875</c:v>
                </c:pt>
                <c:pt idx="116">
                  <c:v>2.9000000000000004</c:v>
                </c:pt>
                <c:pt idx="117">
                  <c:v>2.9250000000000003</c:v>
                </c:pt>
                <c:pt idx="118">
                  <c:v>2.95</c:v>
                </c:pt>
                <c:pt idx="119">
                  <c:v>2.975</c:v>
                </c:pt>
                <c:pt idx="120">
                  <c:v>3.0</c:v>
                </c:pt>
                <c:pt idx="121">
                  <c:v>3.0250000000000004</c:v>
                </c:pt>
                <c:pt idx="122">
                  <c:v>3.0500000000000003</c:v>
                </c:pt>
                <c:pt idx="123">
                  <c:v>3.075</c:v>
                </c:pt>
                <c:pt idx="124">
                  <c:v>3.1</c:v>
                </c:pt>
                <c:pt idx="125">
                  <c:v>3.125</c:v>
                </c:pt>
                <c:pt idx="126">
                  <c:v>3.1500000000000004</c:v>
                </c:pt>
                <c:pt idx="127">
                  <c:v>3.1750000000000003</c:v>
                </c:pt>
                <c:pt idx="128">
                  <c:v>3.2</c:v>
                </c:pt>
                <c:pt idx="129">
                  <c:v>3.225</c:v>
                </c:pt>
                <c:pt idx="130">
                  <c:v>3.25</c:v>
                </c:pt>
                <c:pt idx="131">
                  <c:v>3.2750000000000004</c:v>
                </c:pt>
                <c:pt idx="132">
                  <c:v>3.3000000000000003</c:v>
                </c:pt>
                <c:pt idx="133">
                  <c:v>3.325</c:v>
                </c:pt>
                <c:pt idx="134">
                  <c:v>3.35</c:v>
                </c:pt>
                <c:pt idx="135">
                  <c:v>3.375</c:v>
                </c:pt>
                <c:pt idx="136">
                  <c:v>3.4000000000000004</c:v>
                </c:pt>
                <c:pt idx="137">
                  <c:v>3.4250000000000003</c:v>
                </c:pt>
                <c:pt idx="138">
                  <c:v>3.45</c:v>
                </c:pt>
                <c:pt idx="139">
                  <c:v>3.475</c:v>
                </c:pt>
                <c:pt idx="140">
                  <c:v>3.5</c:v>
                </c:pt>
                <c:pt idx="141">
                  <c:v>3.5250000000000004</c:v>
                </c:pt>
                <c:pt idx="142">
                  <c:v>3.5500000000000003</c:v>
                </c:pt>
                <c:pt idx="143">
                  <c:v>3.575</c:v>
                </c:pt>
                <c:pt idx="144">
                  <c:v>3.6</c:v>
                </c:pt>
                <c:pt idx="145">
                  <c:v>3.625</c:v>
                </c:pt>
                <c:pt idx="146">
                  <c:v>3.6500000000000004</c:v>
                </c:pt>
                <c:pt idx="147">
                  <c:v>3.6750000000000003</c:v>
                </c:pt>
                <c:pt idx="148">
                  <c:v>3.7</c:v>
                </c:pt>
                <c:pt idx="149">
                  <c:v>3.725</c:v>
                </c:pt>
                <c:pt idx="150">
                  <c:v>3.75</c:v>
                </c:pt>
                <c:pt idx="151">
                  <c:v>3.7750000000000004</c:v>
                </c:pt>
                <c:pt idx="152">
                  <c:v>3.8000000000000003</c:v>
                </c:pt>
                <c:pt idx="153">
                  <c:v>3.825</c:v>
                </c:pt>
                <c:pt idx="154">
                  <c:v>3.85</c:v>
                </c:pt>
                <c:pt idx="155">
                  <c:v>3.875</c:v>
                </c:pt>
                <c:pt idx="156">
                  <c:v>3.9000000000000004</c:v>
                </c:pt>
                <c:pt idx="157">
                  <c:v>3.9250000000000003</c:v>
                </c:pt>
                <c:pt idx="158">
                  <c:v>3.95</c:v>
                </c:pt>
                <c:pt idx="159">
                  <c:v>3.975</c:v>
                </c:pt>
                <c:pt idx="160">
                  <c:v>4.0</c:v>
                </c:pt>
                <c:pt idx="161">
                  <c:v>4.025</c:v>
                </c:pt>
                <c:pt idx="162">
                  <c:v>4.05</c:v>
                </c:pt>
                <c:pt idx="163">
                  <c:v>4.075</c:v>
                </c:pt>
                <c:pt idx="164">
                  <c:v>4.1000000000000005</c:v>
                </c:pt>
                <c:pt idx="165">
                  <c:v>4.125</c:v>
                </c:pt>
                <c:pt idx="166">
                  <c:v>4.15</c:v>
                </c:pt>
                <c:pt idx="167">
                  <c:v>4.175</c:v>
                </c:pt>
                <c:pt idx="168">
                  <c:v>4.2</c:v>
                </c:pt>
                <c:pt idx="169">
                  <c:v>4.2250000000000005</c:v>
                </c:pt>
                <c:pt idx="170">
                  <c:v>4.25</c:v>
                </c:pt>
                <c:pt idx="171">
                  <c:v>4.275</c:v>
                </c:pt>
                <c:pt idx="172">
                  <c:v>4.3</c:v>
                </c:pt>
                <c:pt idx="173">
                  <c:v>4.325</c:v>
                </c:pt>
                <c:pt idx="174">
                  <c:v>4.3500000000000005</c:v>
                </c:pt>
                <c:pt idx="175">
                  <c:v>4.375</c:v>
                </c:pt>
                <c:pt idx="176">
                  <c:v>4.4</c:v>
                </c:pt>
                <c:pt idx="177">
                  <c:v>4.425</c:v>
                </c:pt>
                <c:pt idx="178">
                  <c:v>4.45</c:v>
                </c:pt>
                <c:pt idx="179">
                  <c:v>4.4750000000000005</c:v>
                </c:pt>
                <c:pt idx="180">
                  <c:v>4.5</c:v>
                </c:pt>
                <c:pt idx="181">
                  <c:v>4.525</c:v>
                </c:pt>
                <c:pt idx="182">
                  <c:v>4.55</c:v>
                </c:pt>
                <c:pt idx="183">
                  <c:v>4.575</c:v>
                </c:pt>
                <c:pt idx="184">
                  <c:v>4.6000000000000005</c:v>
                </c:pt>
                <c:pt idx="185">
                  <c:v>4.625</c:v>
                </c:pt>
                <c:pt idx="186">
                  <c:v>4.65</c:v>
                </c:pt>
                <c:pt idx="187">
                  <c:v>4.675</c:v>
                </c:pt>
                <c:pt idx="188">
                  <c:v>4.7</c:v>
                </c:pt>
                <c:pt idx="189">
                  <c:v>4.7250000000000005</c:v>
                </c:pt>
                <c:pt idx="190">
                  <c:v>4.75</c:v>
                </c:pt>
                <c:pt idx="191">
                  <c:v>4.775</c:v>
                </c:pt>
                <c:pt idx="192">
                  <c:v>4.800000000000001</c:v>
                </c:pt>
                <c:pt idx="193">
                  <c:v>4.825</c:v>
                </c:pt>
                <c:pt idx="194">
                  <c:v>4.8500000000000005</c:v>
                </c:pt>
                <c:pt idx="195">
                  <c:v>4.875</c:v>
                </c:pt>
                <c:pt idx="196">
                  <c:v>4.9</c:v>
                </c:pt>
                <c:pt idx="197">
                  <c:v>4.925000000000001</c:v>
                </c:pt>
                <c:pt idx="198">
                  <c:v>4.95</c:v>
                </c:pt>
                <c:pt idx="199">
                  <c:v>4.9750000000000005</c:v>
                </c:pt>
                <c:pt idx="200">
                  <c:v>5.0</c:v>
                </c:pt>
              </c:numCache>
            </c:numRef>
          </c:xVal>
          <c:yVal>
            <c:numRef>
              <c:f>Sheet1!$B$205:$B$405</c:f>
              <c:numCache>
                <c:formatCode>General</c:formatCode>
                <c:ptCount val="201"/>
                <c:pt idx="0">
                  <c:v>300.0</c:v>
                </c:pt>
                <c:pt idx="1">
                  <c:v>500.22019954091695</c:v>
                </c:pt>
                <c:pt idx="2">
                  <c:v>645.4385735991159</c:v>
                </c:pt>
                <c:pt idx="3">
                  <c:v>750.5931597854103</c:v>
                </c:pt>
                <c:pt idx="4">
                  <c:v>826.5654828334816</c:v>
                </c:pt>
                <c:pt idx="5">
                  <c:v>881.2821230944943</c:v>
                </c:pt>
                <c:pt idx="6">
                  <c:v>920.5171480232556</c:v>
                </c:pt>
                <c:pt idx="7">
                  <c:v>948.476638962619</c:v>
                </c:pt>
                <c:pt idx="8">
                  <c:v>968.2244864513298</c:v>
                </c:pt>
                <c:pt idx="9">
                  <c:v>981.992558464404</c:v>
                </c:pt>
                <c:pt idx="10">
                  <c:v>991.406640754791</c:v>
                </c:pt>
                <c:pt idx="11">
                  <c:v>997.651021847385</c:v>
                </c:pt>
                <c:pt idx="12">
                  <c:v>1001.5883840688902</c:v>
                </c:pt>
                <c:pt idx="13">
                  <c:v>1003.8471375063386</c:v>
                </c:pt>
                <c:pt idx="14">
                  <c:v>1004.8850379467882</c:v>
                </c:pt>
                <c:pt idx="15">
                  <c:v>1005.0355290140886</c:v>
                </c:pt>
                <c:pt idx="16">
                  <c:v>1004.5414998424138</c:v>
                </c:pt>
                <c:pt idx="17">
                  <c:v>1003.5798756670506</c:v>
                </c:pt>
                <c:pt idx="18">
                  <c:v>1002.2795307043916</c:v>
                </c:pt>
                <c:pt idx="19">
                  <c:v>1000.7343366903779</c:v>
                </c:pt>
                <c:pt idx="20">
                  <c:v>999.0126680162039</c:v>
                </c:pt>
                <c:pt idx="21">
                  <c:v>997.1643256918695</c:v>
                </c:pt>
                <c:pt idx="22">
                  <c:v>995.2255810691287</c:v>
                </c:pt>
                <c:pt idx="23">
                  <c:v>993.2228499135591</c:v>
                </c:pt>
                <c:pt idx="24">
                  <c:v>991.1753687620112</c:v>
                </c:pt>
                <c:pt idx="25">
                  <c:v>989.0971445003512</c:v>
                </c:pt>
                <c:pt idx="26">
                  <c:v>986.998374522545</c:v>
                </c:pt>
                <c:pt idx="27">
                  <c:v>984.8864812376388</c:v>
                </c:pt>
                <c:pt idx="28">
                  <c:v>982.7668656506002</c:v>
                </c:pt>
                <c:pt idx="29">
                  <c:v>980.6434563040601</c:v>
                </c:pt>
                <c:pt idx="30">
                  <c:v>978.5191091518368</c:v>
                </c:pt>
                <c:pt idx="31">
                  <c:v>976.3958988445379</c:v>
                </c:pt>
                <c:pt idx="32">
                  <c:v>974.2753309148912</c:v>
                </c:pt>
                <c:pt idx="33">
                  <c:v>972.1584963429207</c:v>
                </c:pt>
                <c:pt idx="34">
                  <c:v>970.0461841480364</c:v>
                </c:pt>
                <c:pt idx="35">
                  <c:v>967.9389634060669</c:v>
                </c:pt>
                <c:pt idx="36">
                  <c:v>965.8372429940539</c:v>
                </c:pt>
                <c:pt idx="37">
                  <c:v>963.7413151109632</c:v>
                </c:pt>
                <c:pt idx="38">
                  <c:v>961.6513869800499</c:v>
                </c:pt>
                <c:pt idx="39">
                  <c:v>959.5676039422151</c:v>
                </c:pt>
                <c:pt idx="40">
                  <c:v>957.4900662781772</c:v>
                </c:pt>
                <c:pt idx="41">
                  <c:v>955.4188414624356</c:v>
                </c:pt>
                <c:pt idx="42">
                  <c:v>953.3539730895465</c:v>
                </c:pt>
                <c:pt idx="43">
                  <c:v>951.2954873763631</c:v>
                </c:pt>
                <c:pt idx="44">
                  <c:v>949.2433978985034</c:v>
                </c:pt>
                <c:pt idx="45">
                  <c:v>947.1977090405469</c:v>
                </c:pt>
                <c:pt idx="46">
                  <c:v>945.1584185092577</c:v>
                </c:pt>
                <c:pt idx="47">
                  <c:v>943.125519164273</c:v>
                </c:pt>
                <c:pt idx="48">
                  <c:v>941.0990003516038</c:v>
                </c:pt>
                <c:pt idx="49">
                  <c:v>939.0788488749611</c:v>
                </c:pt>
                <c:pt idx="50">
                  <c:v>937.0650497032598</c:v>
                </c:pt>
                <c:pt idx="51">
                  <c:v>935.0575864859416</c:v>
                </c:pt>
                <c:pt idx="52">
                  <c:v>933.0564419283055</c:v>
                </c:pt>
                <c:pt idx="53">
                  <c:v>931.0615980648611</c:v>
                </c:pt>
                <c:pt idx="54">
                  <c:v>929.0730364583986</c:v>
                </c:pt>
                <c:pt idx="55">
                  <c:v>927.0907383449467</c:v>
                </c:pt>
                <c:pt idx="56">
                  <c:v>925.1146847393123</c:v>
                </c:pt>
                <c:pt idx="57">
                  <c:v>923.1448565119096</c:v>
                </c:pt>
                <c:pt idx="58">
                  <c:v>921.1812344446699</c:v>
                </c:pt>
                <c:pt idx="59">
                  <c:v>919.2237992717196</c:v>
                </c:pt>
                <c:pt idx="60">
                  <c:v>917.2725317089561</c:v>
                </c:pt>
                <c:pt idx="61">
                  <c:v>915.3274124755428</c:v>
                </c:pt>
                <c:pt idx="62">
                  <c:v>913.3884223095127</c:v>
                </c:pt>
                <c:pt idx="63">
                  <c:v>911.4555419790842</c:v>
                </c:pt>
                <c:pt idx="64">
                  <c:v>909.5287522908511</c:v>
                </c:pt>
                <c:pt idx="65">
                  <c:v>907.6080340956983</c:v>
                </c:pt>
                <c:pt idx="66">
                  <c:v>905.6933682930577</c:v>
                </c:pt>
                <c:pt idx="67">
                  <c:v>903.7847358339595</c:v>
                </c:pt>
                <c:pt idx="68">
                  <c:v>901.8821177232011</c:v>
                </c:pt>
                <c:pt idx="69">
                  <c:v>899.9854950208787</c:v>
                </c:pt>
                <c:pt idx="70">
                  <c:v>898.0948488434492</c:v>
                </c:pt>
                <c:pt idx="71">
                  <c:v>896.2101603644561</c:v>
                </c:pt>
                <c:pt idx="72">
                  <c:v>894.3314108150054</c:v>
                </c:pt>
                <c:pt idx="73">
                  <c:v>892.4585814840638</c:v>
                </c:pt>
                <c:pt idx="74">
                  <c:v>890.591653718623</c:v>
                </c:pt>
                <c:pt idx="75">
                  <c:v>888.7306089237734</c:v>
                </c:pt>
                <c:pt idx="76">
                  <c:v>886.8754285627037</c:v>
                </c:pt>
                <c:pt idx="77">
                  <c:v>885.0260941566545</c:v>
                </c:pt>
                <c:pt idx="78">
                  <c:v>883.1825872848311</c:v>
                </c:pt>
                <c:pt idx="79">
                  <c:v>881.3448895842952</c:v>
                </c:pt>
                <c:pt idx="80">
                  <c:v>879.5129827498322</c:v>
                </c:pt>
                <c:pt idx="81">
                  <c:v>877.6868485338089</c:v>
                </c:pt>
                <c:pt idx="82">
                  <c:v>875.8664687460184</c:v>
                </c:pt>
                <c:pt idx="83">
                  <c:v>874.0518252535211</c:v>
                </c:pt>
                <c:pt idx="84">
                  <c:v>872.2428999804762</c:v>
                </c:pt>
                <c:pt idx="85">
                  <c:v>870.4396749079752</c:v>
                </c:pt>
                <c:pt idx="86">
                  <c:v>868.6421320738685</c:v>
                </c:pt>
                <c:pt idx="87">
                  <c:v>866.8502535725928</c:v>
                </c:pt>
                <c:pt idx="88">
                  <c:v>865.0640215549973</c:v>
                </c:pt>
                <c:pt idx="89">
                  <c:v>863.2834182281681</c:v>
                </c:pt>
                <c:pt idx="90">
                  <c:v>861.5084258552538</c:v>
                </c:pt>
                <c:pt idx="91">
                  <c:v>859.7390267552901</c:v>
                </c:pt>
                <c:pt idx="92">
                  <c:v>857.9752033030251</c:v>
                </c:pt>
                <c:pt idx="93">
                  <c:v>856.216937928745</c:v>
                </c:pt>
                <c:pt idx="94">
                  <c:v>854.4642131180982</c:v>
                </c:pt>
                <c:pt idx="95">
                  <c:v>852.7170114119231</c:v>
                </c:pt>
                <c:pt idx="96">
                  <c:v>850.9753154060735</c:v>
                </c:pt>
                <c:pt idx="97">
                  <c:v>849.2391077512453</c:v>
                </c:pt>
                <c:pt idx="98">
                  <c:v>847.5083711528051</c:v>
                </c:pt>
                <c:pt idx="99">
                  <c:v>845.7830883706165</c:v>
                </c:pt>
                <c:pt idx="100">
                  <c:v>844.0632422188693</c:v>
                </c:pt>
                <c:pt idx="101">
                  <c:v>842.3488155659082</c:v>
                </c:pt>
                <c:pt idx="102">
                  <c:v>840.6397913340628</c:v>
                </c:pt>
                <c:pt idx="103">
                  <c:v>838.9361524994761</c:v>
                </c:pt>
                <c:pt idx="104">
                  <c:v>837.2378820919363</c:v>
                </c:pt>
                <c:pt idx="105">
                  <c:v>835.5449631947072</c:v>
                </c:pt>
                <c:pt idx="106">
                  <c:v>833.8573789443598</c:v>
                </c:pt>
                <c:pt idx="107">
                  <c:v>832.1751125306043</c:v>
                </c:pt>
                <c:pt idx="108">
                  <c:v>830.498147196123</c:v>
                </c:pt>
                <c:pt idx="109">
                  <c:v>828.8264662364024</c:v>
                </c:pt>
                <c:pt idx="110">
                  <c:v>827.1600529995679</c:v>
                </c:pt>
                <c:pt idx="111">
                  <c:v>825.4988908862176</c:v>
                </c:pt>
                <c:pt idx="112">
                  <c:v>823.8429633492566</c:v>
                </c:pt>
                <c:pt idx="113">
                  <c:v>822.1922538937325</c:v>
                </c:pt>
                <c:pt idx="114">
                  <c:v>820.5467460766711</c:v>
                </c:pt>
                <c:pt idx="115">
                  <c:v>818.9064235069123</c:v>
                </c:pt>
                <c:pt idx="116">
                  <c:v>817.2712698449475</c:v>
                </c:pt>
                <c:pt idx="117">
                  <c:v>815.6412688027557</c:v>
                </c:pt>
                <c:pt idx="118">
                  <c:v>814.0164041436427</c:v>
                </c:pt>
                <c:pt idx="119">
                  <c:v>812.3966596820784</c:v>
                </c:pt>
                <c:pt idx="120">
                  <c:v>810.7820192835354</c:v>
                </c:pt>
                <c:pt idx="121">
                  <c:v>809.172466864329</c:v>
                </c:pt>
                <c:pt idx="122">
                  <c:v>807.5679863914564</c:v>
                </c:pt>
                <c:pt idx="123">
                  <c:v>805.9685618824378</c:v>
                </c:pt>
                <c:pt idx="124">
                  <c:v>804.374177405156</c:v>
                </c:pt>
                <c:pt idx="125">
                  <c:v>802.7848170776989</c:v>
                </c:pt>
                <c:pt idx="126">
                  <c:v>801.2004650682002</c:v>
                </c:pt>
                <c:pt idx="127">
                  <c:v>799.6211055946826</c:v>
                </c:pt>
                <c:pt idx="128">
                  <c:v>798.0467229249</c:v>
                </c:pt>
                <c:pt idx="129">
                  <c:v>796.4773013761813</c:v>
                </c:pt>
                <c:pt idx="130">
                  <c:v>794.9128253152737</c:v>
                </c:pt>
                <c:pt idx="131">
                  <c:v>793.3532791581872</c:v>
                </c:pt>
                <c:pt idx="132">
                  <c:v>791.7986473700396</c:v>
                </c:pt>
                <c:pt idx="133">
                  <c:v>790.2489144649007</c:v>
                </c:pt>
                <c:pt idx="134">
                  <c:v>788.7040650056399</c:v>
                </c:pt>
                <c:pt idx="135">
                  <c:v>787.1640836037707</c:v>
                </c:pt>
                <c:pt idx="136">
                  <c:v>785.6289549192982</c:v>
                </c:pt>
                <c:pt idx="137">
                  <c:v>784.0986636605662</c:v>
                </c:pt>
                <c:pt idx="138">
                  <c:v>782.5731945841048</c:v>
                </c:pt>
                <c:pt idx="139">
                  <c:v>781.052532494479</c:v>
                </c:pt>
                <c:pt idx="140">
                  <c:v>779.5366622441364</c:v>
                </c:pt>
                <c:pt idx="141">
                  <c:v>778.0255687332569</c:v>
                </c:pt>
                <c:pt idx="142">
                  <c:v>776.5192369096027</c:v>
                </c:pt>
                <c:pt idx="143">
                  <c:v>775.0176517683675</c:v>
                </c:pt>
                <c:pt idx="144">
                  <c:v>773.5207983520277</c:v>
                </c:pt>
                <c:pt idx="145">
                  <c:v>772.0286617501928</c:v>
                </c:pt>
                <c:pt idx="146">
                  <c:v>770.5412270994577</c:v>
                </c:pt>
                <c:pt idx="147">
                  <c:v>769.0584795832536</c:v>
                </c:pt>
                <c:pt idx="148">
                  <c:v>767.5804044317017</c:v>
                </c:pt>
                <c:pt idx="149">
                  <c:v>766.1069869214646</c:v>
                </c:pt>
                <c:pt idx="150">
                  <c:v>764.6382123756011</c:v>
                </c:pt>
                <c:pt idx="151">
                  <c:v>763.1740661634187</c:v>
                </c:pt>
                <c:pt idx="152">
                  <c:v>761.7145337003285</c:v>
                </c:pt>
                <c:pt idx="153">
                  <c:v>760.2596004477003</c:v>
                </c:pt>
                <c:pt idx="154">
                  <c:v>758.8092519127174</c:v>
                </c:pt>
                <c:pt idx="155">
                  <c:v>757.3634736482313</c:v>
                </c:pt>
                <c:pt idx="156">
                  <c:v>755.9222512526196</c:v>
                </c:pt>
                <c:pt idx="157">
                  <c:v>754.4855703696414</c:v>
                </c:pt>
                <c:pt idx="158">
                  <c:v>753.0534166882942</c:v>
                </c:pt>
                <c:pt idx="159">
                  <c:v>751.6257759426718</c:v>
                </c:pt>
                <c:pt idx="160">
                  <c:v>750.2026339118225</c:v>
                </c:pt>
                <c:pt idx="161">
                  <c:v>748.7839764196062</c:v>
                </c:pt>
                <c:pt idx="162">
                  <c:v>747.369789334555</c:v>
                </c:pt>
                <c:pt idx="163">
                  <c:v>745.9600585697301</c:v>
                </c:pt>
                <c:pt idx="164">
                  <c:v>744.554770082584</c:v>
                </c:pt>
                <c:pt idx="165">
                  <c:v>743.153909874819</c:v>
                </c:pt>
                <c:pt idx="166">
                  <c:v>741.757463992248</c:v>
                </c:pt>
                <c:pt idx="167">
                  <c:v>740.3654185246559</c:v>
                </c:pt>
                <c:pt idx="168">
                  <c:v>738.9777596056605</c:v>
                </c:pt>
                <c:pt idx="169">
                  <c:v>737.5944734125752</c:v>
                </c:pt>
                <c:pt idx="170">
                  <c:v>736.2155461662705</c:v>
                </c:pt>
                <c:pt idx="171">
                  <c:v>734.8409641310373</c:v>
                </c:pt>
                <c:pt idx="172">
                  <c:v>733.4707136144491</c:v>
                </c:pt>
                <c:pt idx="173">
                  <c:v>732.1047809672273</c:v>
                </c:pt>
                <c:pt idx="174">
                  <c:v>730.7431525831036</c:v>
                </c:pt>
                <c:pt idx="175">
                  <c:v>729.3858148986853</c:v>
                </c:pt>
                <c:pt idx="176">
                  <c:v>728.0327543933204</c:v>
                </c:pt>
                <c:pt idx="177">
                  <c:v>726.683957588962</c:v>
                </c:pt>
                <c:pt idx="178">
                  <c:v>725.3394110500348</c:v>
                </c:pt>
                <c:pt idx="179">
                  <c:v>723.9991013833012</c:v>
                </c:pt>
                <c:pt idx="180">
                  <c:v>722.6630152377277</c:v>
                </c:pt>
                <c:pt idx="181">
                  <c:v>721.3311393043515</c:v>
                </c:pt>
                <c:pt idx="182">
                  <c:v>720.0034603161491</c:v>
                </c:pt>
                <c:pt idx="183">
                  <c:v>718.6799650479031</c:v>
                </c:pt>
                <c:pt idx="184">
                  <c:v>717.3606403160707</c:v>
                </c:pt>
                <c:pt idx="185">
                  <c:v>716.0454729786522</c:v>
                </c:pt>
                <c:pt idx="186">
                  <c:v>714.7344499350611</c:v>
                </c:pt>
                <c:pt idx="187">
                  <c:v>713.4275581259924</c:v>
                </c:pt>
                <c:pt idx="188">
                  <c:v>712.124784533293</c:v>
                </c:pt>
                <c:pt idx="189">
                  <c:v>710.8261161798318</c:v>
                </c:pt>
                <c:pt idx="190">
                  <c:v>709.5315401293711</c:v>
                </c:pt>
                <c:pt idx="191">
                  <c:v>708.2410434864369</c:v>
                </c:pt>
                <c:pt idx="192">
                  <c:v>706.9546133961908</c:v>
                </c:pt>
                <c:pt idx="193">
                  <c:v>705.6722370443024</c:v>
                </c:pt>
                <c:pt idx="194">
                  <c:v>704.3939016568206</c:v>
                </c:pt>
                <c:pt idx="195">
                  <c:v>703.1195945000475</c:v>
                </c:pt>
                <c:pt idx="196">
                  <c:v>701.8493028804105</c:v>
                </c:pt>
                <c:pt idx="197">
                  <c:v>700.583014144337</c:v>
                </c:pt>
                <c:pt idx="198">
                  <c:v>699.3207156781275</c:v>
                </c:pt>
                <c:pt idx="199">
                  <c:v>698.0623949078299</c:v>
                </c:pt>
                <c:pt idx="200">
                  <c:v>696.8080392991151</c:v>
                </c:pt>
              </c:numCache>
            </c:numRef>
          </c:yVal>
          <c:smooth val="0"/>
        </c:ser>
        <c:axId val="-2128940872"/>
        <c:axId val="-2129643912"/>
      </c:scatterChart>
      <c:valAx>
        <c:axId val="-2128940872"/>
        <c:scaling>
          <c:orientation val="minMax"/>
          <c:max val="3.0"/>
          <c:min val="0.0"/>
        </c:scaling>
        <c:delete val="0"/>
        <c:axPos val="b"/>
        <c:title>
          <c:tx>
            <c:rich>
              <a:bodyPr/>
              <a:lstStyle/>
              <a:p>
                <a:pPr>
                  <a:defRPr sz="1400">
                    <a:solidFill>
                      <a:srgbClr val="243343"/>
                    </a:solidFill>
                    <a:latin typeface="Noto Sans CJK SC"/>
                  </a:defRPr>
                </a:pPr>
                <a:r>
                  <a:t>时间 / ps</a:t>
                </a:r>
              </a:p>
            </c:rich>
          </c:tx>
          <c:layout/>
          <c:overlay val="0"/>
        </c:title>
        <c:numFmt formatCode="General" sourceLinked="1"/>
        <c:majorTickMark val="none"/>
        <c:minorTickMark val="none"/>
        <c:tickLblPos val="nextTo"/>
        <c:spPr>
          <a:ln w="12700">
            <a:solidFill>
              <a:srgbClr val="D5DEE6"/>
            </a:solidFill>
          </a:ln>
        </c:spPr>
        <c:txPr>
          <a:bodyPr/>
          <a:lstStyle/>
          <a:p>
            <a:pPr>
              <a:defRPr sz="1200">
                <a:solidFill>
                  <a:srgbClr val="6D7985"/>
                </a:solidFill>
                <a:latin typeface="Noto Sans CJK SC"/>
              </a:defRPr>
            </a:pPr>
          </a:p>
        </c:txPr>
        <c:crossAx val="-2129643912"/>
        <c:crosses val="autoZero"/>
        <c:crossBetween val="midCat"/>
        <c:majorUnit val="0.5"/>
      </c:valAx>
      <c:valAx>
        <c:axId val="-2129643912"/>
        <c:scaling>
          <c:orientation val="minMax"/>
          <c:max val="1100.0"/>
          <c:min val="300.0"/>
        </c:scaling>
        <c:delete val="0"/>
        <c:axPos val="l"/>
        <c:majorGridlines>
          <c:spPr>
            <a:ln>
              <a:solidFill>
                <a:srgbClr val="EFF4F8"/>
              </a:solidFill>
            </a:ln>
          </c:spPr>
        </c:majorGridlines>
        <c:title>
          <c:tx>
            <c:rich>
              <a:bodyPr/>
              <a:lstStyle/>
              <a:p>
                <a:pPr>
                  <a:defRPr sz="1400">
                    <a:solidFill>
                      <a:srgbClr val="243343"/>
                    </a:solidFill>
                    <a:latin typeface="Noto Sans CJK SC"/>
                  </a:defRPr>
                </a:pPr>
                <a:r>
                  <a:t>晶格温度 / K</a:t>
                </a:r>
              </a:p>
            </c:rich>
          </c:tx>
          <c:layout/>
          <c:overlay val="0"/>
        </c:title>
        <c:numFmt formatCode="General" sourceLinked="1"/>
        <c:majorTickMark val="none"/>
        <c:minorTickMark val="none"/>
        <c:tickLblPos val="nextTo"/>
        <c:spPr>
          <a:ln w="12700">
            <a:solidFill>
              <a:srgbClr val="D5DEE6"/>
            </a:solidFill>
          </a:ln>
        </c:spPr>
        <c:txPr>
          <a:bodyPr/>
          <a:lstStyle/>
          <a:p>
            <a:pPr>
              <a:defRPr sz="1200">
                <a:solidFill>
                  <a:srgbClr val="6D7985"/>
                </a:solidFill>
                <a:latin typeface="Noto Sans CJK SC"/>
              </a:defRPr>
            </a:pPr>
          </a:p>
        </c:txPr>
        <c:crossAx val="-2128940872"/>
        <c:crosses val="autoZero"/>
        <c:crossBetween val="midCat"/>
        <c:majorUnit val="200.0"/>
      </c:valAx>
    </c:plotArea>
    <c:legend>
      <c:legendPos val="b"/>
      <c:layout/>
      <c:overlay val="0"/>
      <c:txPr>
        <a:bodyPr/>
        <a:lstStyle/>
        <a:p>
          <a:pPr>
            <a:defRPr sz="1300">
              <a:latin typeface="Noto Sans CJK SC"/>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热焓示意</c:v>
                </c:pt>
              </c:strCache>
            </c:strRef>
          </c:tx>
          <c:spPr>
            <a:ln w="31750">
              <a:solidFill>
                <a:srgbClr val="CF7B2B"/>
              </a:solidFill>
            </a:ln>
          </c:spPr>
          <c:marker>
            <c:symbol val="none"/>
          </c:marker>
          <c:xVal>
            <c:numRef>
              <c:f>Sheet1!$A$2:$A$5</c:f>
              <c:numCache>
                <c:formatCode>General</c:formatCode>
                <c:ptCount val="4"/>
                <c:pt idx="0">
                  <c:v>0.0</c:v>
                </c:pt>
                <c:pt idx="1">
                  <c:v>1.0</c:v>
                </c:pt>
                <c:pt idx="2">
                  <c:v>1.0</c:v>
                </c:pt>
                <c:pt idx="3">
                  <c:v>1.5</c:v>
                </c:pt>
              </c:numCache>
            </c:numRef>
          </c:xVal>
          <c:yVal>
            <c:numRef>
              <c:f>Sheet1!$B$2:$B$5</c:f>
              <c:numCache>
                <c:formatCode>General</c:formatCode>
                <c:ptCount val="4"/>
                <c:pt idx="0">
                  <c:v>0.0</c:v>
                </c:pt>
                <c:pt idx="1">
                  <c:v>1.0</c:v>
                </c:pt>
                <c:pt idx="2">
                  <c:v>1.7</c:v>
                </c:pt>
                <c:pt idx="3">
                  <c:v>2.2</c:v>
                </c:pt>
              </c:numCache>
            </c:numRef>
          </c:yVal>
          <c:smooth val="0"/>
        </c:ser>
        <c:axId val="-2128940872"/>
        <c:axId val="-2129643912"/>
      </c:scatterChart>
      <c:valAx>
        <c:axId val="-2128940872"/>
        <c:scaling>
          <c:orientation val="minMax"/>
          <c:max val="1.6"/>
          <c:min val="0.0"/>
        </c:scaling>
        <c:delete val="0"/>
        <c:axPos val="b"/>
        <c:title>
          <c:tx>
            <c:rich>
              <a:bodyPr/>
              <a:lstStyle/>
              <a:p>
                <a:pPr>
                  <a:defRPr sz="1400">
                    <a:solidFill>
                      <a:srgbClr val="243343"/>
                    </a:solidFill>
                    <a:latin typeface="Noto Sans CJK SC"/>
                  </a:defRPr>
                </a:pPr>
                <a:r>
                  <a:t>温度 / 任意单位</a:t>
                </a:r>
              </a:p>
            </c:rich>
          </c:tx>
          <c:layout/>
          <c:overlay val="0"/>
        </c:title>
        <c:numFmt formatCode="General" sourceLinked="1"/>
        <c:majorTickMark val="none"/>
        <c:minorTickMark val="none"/>
        <c:tickLblPos val="nextTo"/>
        <c:spPr>
          <a:ln w="12700">
            <a:solidFill>
              <a:srgbClr val="D5DEE6"/>
            </a:solidFill>
          </a:ln>
        </c:spPr>
        <c:txPr>
          <a:bodyPr/>
          <a:lstStyle/>
          <a:p>
            <a:pPr>
              <a:defRPr sz="1200">
                <a:solidFill>
                  <a:srgbClr val="6D7985"/>
                </a:solidFill>
                <a:latin typeface="Noto Sans CJK SC"/>
              </a:defRPr>
            </a:pPr>
          </a:p>
        </c:txPr>
        <c:crossAx val="-2129643912"/>
        <c:crosses val="autoZero"/>
        <c:crossBetween val="midCat"/>
        <c:majorUnit val="0.5"/>
      </c:valAx>
      <c:valAx>
        <c:axId val="-2129643912"/>
        <c:scaling>
          <c:orientation val="minMax"/>
          <c:max val="2.4"/>
          <c:min val="0.0"/>
        </c:scaling>
        <c:delete val="0"/>
        <c:axPos val="l"/>
        <c:majorGridlines>
          <c:spPr>
            <a:ln>
              <a:solidFill>
                <a:srgbClr val="EFF4F8"/>
              </a:solidFill>
            </a:ln>
          </c:spPr>
        </c:majorGridlines>
        <c:title>
          <c:tx>
            <c:rich>
              <a:bodyPr/>
              <a:lstStyle/>
              <a:p>
                <a:pPr>
                  <a:defRPr sz="1400">
                    <a:solidFill>
                      <a:srgbClr val="243343"/>
                    </a:solidFill>
                    <a:latin typeface="Noto Sans CJK SC"/>
                  </a:defRPr>
                </a:pPr>
                <a:r>
                  <a:t>相变焓 / 任意单位</a:t>
                </a:r>
              </a:p>
            </c:rich>
          </c:tx>
          <c:layout/>
          <c:overlay val="0"/>
        </c:title>
        <c:numFmt formatCode="General" sourceLinked="1"/>
        <c:majorTickMark val="none"/>
        <c:minorTickMark val="none"/>
        <c:tickLblPos val="nextTo"/>
        <c:spPr>
          <a:ln w="12700">
            <a:solidFill>
              <a:srgbClr val="D5DEE6"/>
            </a:solidFill>
          </a:ln>
        </c:spPr>
        <c:txPr>
          <a:bodyPr/>
          <a:lstStyle/>
          <a:p>
            <a:pPr>
              <a:defRPr sz="1200">
                <a:solidFill>
                  <a:srgbClr val="6D7985"/>
                </a:solidFill>
                <a:latin typeface="Noto Sans CJK SC"/>
              </a:defRPr>
            </a:pPr>
          </a:p>
        </c:txPr>
        <c:crossAx val="-2128940872"/>
        <c:crosses val="autoZero"/>
        <c:crossBetween val="midCat"/>
        <c:majorUnit val="0.8"/>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能量上界</c:v>
                </c:pt>
              </c:strCache>
            </c:strRef>
          </c:tx>
          <c:spPr>
            <a:ln w="31750">
              <a:solidFill>
                <a:srgbClr val="CF7B2B"/>
              </a:solidFill>
            </a:ln>
          </c:spPr>
          <c:marker>
            <c:symbol val="none"/>
          </c:marker>
          <c:xVal>
            <c:numRef>
              <c:f>Sheet1!$A$2:$A$92</c:f>
              <c:numCache>
                <c:formatCode>General</c:formatCode>
                <c:ptCount val="91"/>
                <c:pt idx="0">
                  <c:v>0.05</c:v>
                </c:pt>
                <c:pt idx="1">
                  <c:v>0.060000000000000005</c:v>
                </c:pt>
                <c:pt idx="2">
                  <c:v>0.07</c:v>
                </c:pt>
                <c:pt idx="3">
                  <c:v>0.08</c:v>
                </c:pt>
                <c:pt idx="4">
                  <c:v>0.09</c:v>
                </c:pt>
                <c:pt idx="5">
                  <c:v>0.1</c:v>
                </c:pt>
                <c:pt idx="6">
                  <c:v>0.11</c:v>
                </c:pt>
                <c:pt idx="7">
                  <c:v>0.12000000000000001</c:v>
                </c:pt>
                <c:pt idx="8">
                  <c:v>0.13</c:v>
                </c:pt>
                <c:pt idx="9">
                  <c:v>0.14</c:v>
                </c:pt>
                <c:pt idx="10">
                  <c:v>0.15000000000000002</c:v>
                </c:pt>
                <c:pt idx="11">
                  <c:v>0.16</c:v>
                </c:pt>
                <c:pt idx="12">
                  <c:v>0.16999999999999998</c:v>
                </c:pt>
                <c:pt idx="13">
                  <c:v>0.18</c:v>
                </c:pt>
                <c:pt idx="14">
                  <c:v>0.19</c:v>
                </c:pt>
                <c:pt idx="15">
                  <c:v>0.2</c:v>
                </c:pt>
                <c:pt idx="16">
                  <c:v>0.21000000000000002</c:v>
                </c:pt>
                <c:pt idx="17">
                  <c:v>0.22000000000000003</c:v>
                </c:pt>
                <c:pt idx="18">
                  <c:v>0.22999999999999998</c:v>
                </c:pt>
                <c:pt idx="19">
                  <c:v>0.24</c:v>
                </c:pt>
                <c:pt idx="20">
                  <c:v>0.25</c:v>
                </c:pt>
                <c:pt idx="21">
                  <c:v>0.26</c:v>
                </c:pt>
                <c:pt idx="22">
                  <c:v>0.27</c:v>
                </c:pt>
                <c:pt idx="23">
                  <c:v>0.28</c:v>
                </c:pt>
                <c:pt idx="24">
                  <c:v>0.29</c:v>
                </c:pt>
                <c:pt idx="25">
                  <c:v>0.3</c:v>
                </c:pt>
                <c:pt idx="26">
                  <c:v>0.31</c:v>
                </c:pt>
                <c:pt idx="27">
                  <c:v>0.32</c:v>
                </c:pt>
                <c:pt idx="28">
                  <c:v>0.33</c:v>
                </c:pt>
                <c:pt idx="29">
                  <c:v>0.33999999999999997</c:v>
                </c:pt>
                <c:pt idx="30">
                  <c:v>0.35</c:v>
                </c:pt>
                <c:pt idx="31">
                  <c:v>0.36</c:v>
                </c:pt>
                <c:pt idx="32">
                  <c:v>0.37</c:v>
                </c:pt>
                <c:pt idx="33">
                  <c:v>0.38</c:v>
                </c:pt>
                <c:pt idx="34">
                  <c:v>0.39</c:v>
                </c:pt>
                <c:pt idx="35">
                  <c:v>0.4</c:v>
                </c:pt>
                <c:pt idx="36">
                  <c:v>0.41</c:v>
                </c:pt>
                <c:pt idx="37">
                  <c:v>0.42</c:v>
                </c:pt>
                <c:pt idx="38">
                  <c:v>0.43</c:v>
                </c:pt>
                <c:pt idx="39">
                  <c:v>0.44</c:v>
                </c:pt>
                <c:pt idx="40">
                  <c:v>0.45</c:v>
                </c:pt>
                <c:pt idx="41">
                  <c:v>0.46</c:v>
                </c:pt>
                <c:pt idx="42">
                  <c:v>0.47</c:v>
                </c:pt>
                <c:pt idx="43">
                  <c:v>0.48</c:v>
                </c:pt>
                <c:pt idx="44">
                  <c:v>0.49</c:v>
                </c:pt>
                <c:pt idx="45">
                  <c:v>0.5</c:v>
                </c:pt>
                <c:pt idx="46">
                  <c:v>0.51</c:v>
                </c:pt>
                <c:pt idx="47">
                  <c:v>0.52</c:v>
                </c:pt>
                <c:pt idx="48">
                  <c:v>0.53</c:v>
                </c:pt>
                <c:pt idx="49">
                  <c:v>0.54</c:v>
                </c:pt>
                <c:pt idx="50">
                  <c:v>0.55</c:v>
                </c:pt>
                <c:pt idx="51">
                  <c:v>0.56</c:v>
                </c:pt>
                <c:pt idx="52">
                  <c:v>0.5700000000000001</c:v>
                </c:pt>
                <c:pt idx="53">
                  <c:v>0.5800000000000001</c:v>
                </c:pt>
                <c:pt idx="54">
                  <c:v>0.5900000000000001</c:v>
                </c:pt>
                <c:pt idx="55">
                  <c:v>0.6000000000000001</c:v>
                </c:pt>
                <c:pt idx="56">
                  <c:v>0.6100000000000001</c:v>
                </c:pt>
                <c:pt idx="57">
                  <c:v>0.6200000000000001</c:v>
                </c:pt>
                <c:pt idx="58">
                  <c:v>0.63</c:v>
                </c:pt>
                <c:pt idx="59">
                  <c:v>0.64</c:v>
                </c:pt>
                <c:pt idx="60">
                  <c:v>0.65</c:v>
                </c:pt>
                <c:pt idx="61">
                  <c:v>0.66</c:v>
                </c:pt>
                <c:pt idx="62">
                  <c:v>0.67</c:v>
                </c:pt>
                <c:pt idx="63">
                  <c:v>0.68</c:v>
                </c:pt>
                <c:pt idx="64">
                  <c:v>0.6900000000000001</c:v>
                </c:pt>
                <c:pt idx="65">
                  <c:v>0.7000000000000001</c:v>
                </c:pt>
                <c:pt idx="66">
                  <c:v>0.7100000000000001</c:v>
                </c:pt>
                <c:pt idx="67">
                  <c:v>0.7200000000000001</c:v>
                </c:pt>
                <c:pt idx="68">
                  <c:v>0.7300000000000001</c:v>
                </c:pt>
                <c:pt idx="69">
                  <c:v>0.7400000000000001</c:v>
                </c:pt>
                <c:pt idx="70">
                  <c:v>0.7500000000000001</c:v>
                </c:pt>
                <c:pt idx="71">
                  <c:v>0.76</c:v>
                </c:pt>
                <c:pt idx="72">
                  <c:v>0.77</c:v>
                </c:pt>
                <c:pt idx="73">
                  <c:v>0.78</c:v>
                </c:pt>
                <c:pt idx="74">
                  <c:v>0.79</c:v>
                </c:pt>
                <c:pt idx="75">
                  <c:v>0.8</c:v>
                </c:pt>
                <c:pt idx="76">
                  <c:v>0.81</c:v>
                </c:pt>
                <c:pt idx="77">
                  <c:v>0.8200000000000001</c:v>
                </c:pt>
                <c:pt idx="78">
                  <c:v>0.8300000000000001</c:v>
                </c:pt>
                <c:pt idx="79">
                  <c:v>0.8400000000000001</c:v>
                </c:pt>
                <c:pt idx="80">
                  <c:v>0.8500000000000001</c:v>
                </c:pt>
                <c:pt idx="81">
                  <c:v>0.8600000000000001</c:v>
                </c:pt>
                <c:pt idx="82">
                  <c:v>0.8700000000000001</c:v>
                </c:pt>
                <c:pt idx="83">
                  <c:v>0.8800000000000001</c:v>
                </c:pt>
                <c:pt idx="84">
                  <c:v>0.89</c:v>
                </c:pt>
                <c:pt idx="85">
                  <c:v>0.9</c:v>
                </c:pt>
                <c:pt idx="86">
                  <c:v>0.91</c:v>
                </c:pt>
                <c:pt idx="87">
                  <c:v>0.92</c:v>
                </c:pt>
                <c:pt idx="88">
                  <c:v>0.93</c:v>
                </c:pt>
                <c:pt idx="89">
                  <c:v>0.9400000000000001</c:v>
                </c:pt>
                <c:pt idx="90">
                  <c:v>0.9500000000000001</c:v>
                </c:pt>
              </c:numCache>
            </c:numRef>
          </c:xVal>
          <c:yVal>
            <c:numRef>
              <c:f>Sheet1!$B$2:$B$92</c:f>
              <c:numCache>
                <c:formatCode>General</c:formatCode>
                <c:ptCount val="91"/>
                <c:pt idx="0">
                  <c:v>2.2582928552667147</c:v>
                </c:pt>
                <c:pt idx="1">
                  <c:v>2.4738358765646575</c:v>
                </c:pt>
                <c:pt idx="2">
                  <c:v>2.6720481410723433</c:v>
                </c:pt>
                <c:pt idx="3">
                  <c:v>2.8565396185311176</c:v>
                </c:pt>
                <c:pt idx="4">
                  <c:v>3.0298178024870803</c:v>
                </c:pt>
                <c:pt idx="5">
                  <c:v>3.193708383728448</c:v>
                </c:pt>
                <c:pt idx="6">
                  <c:v>3.34958961132959</c:v>
                </c:pt>
                <c:pt idx="7">
                  <c:v>3.4985322477228724</c:v>
                </c:pt>
                <c:pt idx="8">
                  <c:v>3.641387814060265</c:v>
                </c:pt>
                <c:pt idx="9">
                  <c:v>3.778846720418325</c:v>
                </c:pt>
                <c:pt idx="10">
                  <c:v>3.911477963691739</c:v>
                </c:pt>
                <c:pt idx="11">
                  <c:v>4.039757069982774</c:v>
                </c:pt>
                <c:pt idx="12">
                  <c:v>4.1640862753436725</c:v>
                </c:pt>
                <c:pt idx="13">
                  <c:v>4.284809427796676</c:v>
                </c:pt>
                <c:pt idx="14">
                  <c:v>4.4022232061272195</c:v>
                </c:pt>
                <c:pt idx="15">
                  <c:v>4.5165857105334295</c:v>
                </c:pt>
                <c:pt idx="16">
                  <c:v>4.628123140607269</c:v>
                </c:pt>
                <c:pt idx="17">
                  <c:v>4.737035056726331</c:v>
                </c:pt>
                <c:pt idx="18">
                  <c:v>4.843498575687203</c:v>
                </c:pt>
                <c:pt idx="19">
                  <c:v>4.947671753129315</c:v>
                </c:pt>
                <c:pt idx="20">
                  <c:v>5.049696337478467</c:v>
                </c:pt>
                <c:pt idx="21">
                  <c:v>5.149700032504144</c:v>
                </c:pt>
                <c:pt idx="22">
                  <c:v>5.247798371584309</c:v>
                </c:pt>
                <c:pt idx="23">
                  <c:v>5.344096282144687</c:v>
                </c:pt>
                <c:pt idx="24">
                  <c:v>5.4386894006610085</c:v>
                </c:pt>
                <c:pt idx="25">
                  <c:v>5.531665185176352</c:v>
                </c:pt>
                <c:pt idx="26">
                  <c:v>5.623103862185179</c:v>
                </c:pt>
                <c:pt idx="27">
                  <c:v>5.713079237062235</c:v>
                </c:pt>
                <c:pt idx="28">
                  <c:v>5.801659391327739</c:v>
                </c:pt>
                <c:pt idx="29">
                  <c:v>5.888907285482689</c:v>
                </c:pt>
                <c:pt idx="30">
                  <c:v>5.974881282589707</c:v>
                </c:pt>
                <c:pt idx="31">
                  <c:v>6.059635604974161</c:v>
                </c:pt>
                <c:pt idx="32">
                  <c:v>6.143220734199635</c:v>
                </c:pt>
                <c:pt idx="33">
                  <c:v>6.225683762698683</c:v>
                </c:pt>
                <c:pt idx="34">
                  <c:v>6.30706870401455</c:v>
                </c:pt>
                <c:pt idx="35">
                  <c:v>6.387416767456896</c:v>
                </c:pt>
                <c:pt idx="36">
                  <c:v>6.466766602036851</c:v>
                </c:pt>
                <c:pt idx="37">
                  <c:v>6.545154513779563</c:v>
                </c:pt>
                <c:pt idx="38">
                  <c:v>6.622614659881603</c:v>
                </c:pt>
                <c:pt idx="39">
                  <c:v>6.69917922265918</c:v>
                </c:pt>
                <c:pt idx="40">
                  <c:v>6.774878565800143</c:v>
                </c:pt>
                <c:pt idx="41">
                  <c:v>6.849741375071613</c:v>
                </c:pt>
                <c:pt idx="42">
                  <c:v>6.923794785332511</c:v>
                </c:pt>
                <c:pt idx="43">
                  <c:v>6.997064495445744</c:v>
                </c:pt>
                <c:pt idx="44">
                  <c:v>7.069574872469854</c:v>
                </c:pt>
                <c:pt idx="45">
                  <c:v>7.141349046327793</c:v>
                </c:pt>
                <c:pt idx="46">
                  <c:v>7.212408995995486</c:v>
                </c:pt>
                <c:pt idx="47">
                  <c:v>7.28277562812053</c:v>
                </c:pt>
                <c:pt idx="48">
                  <c:v>7.352468848868121</c:v>
                </c:pt>
                <c:pt idx="49">
                  <c:v>7.421507629693973</c:v>
                </c:pt>
                <c:pt idx="50">
                  <c:v>7.489910067660064</c:v>
                </c:pt>
                <c:pt idx="51">
                  <c:v>7.55769344083665</c:v>
                </c:pt>
                <c:pt idx="52">
                  <c:v>7.624874259271104</c:v>
                </c:pt>
                <c:pt idx="53">
                  <c:v>7.691468311949598</c:v>
                </c:pt>
                <c:pt idx="54">
                  <c:v>7.7574907101300825</c:v>
                </c:pt>
                <c:pt idx="55">
                  <c:v>7.822955927383478</c:v>
                </c:pt>
                <c:pt idx="56">
                  <c:v>7.887877836643645</c:v>
                </c:pt>
                <c:pt idx="57">
                  <c:v>7.952269744534811</c:v>
                </c:pt>
                <c:pt idx="58">
                  <c:v>8.01614442321703</c:v>
                </c:pt>
                <c:pt idx="59">
                  <c:v>8.079514139965548</c:v>
                </c:pt>
                <c:pt idx="60">
                  <c:v>8.142390684678118</c:v>
                </c:pt>
                <c:pt idx="61">
                  <c:v>8.204785395484922</c:v>
                </c:pt>
                <c:pt idx="62">
                  <c:v>8.266709182618706</c:v>
                </c:pt>
                <c:pt idx="63">
                  <c:v>8.328172550687345</c:v>
                </c:pt>
                <c:pt idx="64">
                  <c:v>8.389185619477727</c:v>
                </c:pt>
                <c:pt idx="65">
                  <c:v>8.449758143407518</c:v>
                </c:pt>
                <c:pt idx="66">
                  <c:v>8.509899529730736</c:v>
                </c:pt>
                <c:pt idx="67">
                  <c:v>8.569618855593353</c:v>
                </c:pt>
                <c:pt idx="68">
                  <c:v>8.62892488402645</c:v>
                </c:pt>
                <c:pt idx="69">
                  <c:v>8.687826078956727</c:v>
                </c:pt>
                <c:pt idx="70">
                  <c:v>8.746330619307182</c:v>
                </c:pt>
                <c:pt idx="71">
                  <c:v>8.804446412254439</c:v>
                </c:pt>
                <c:pt idx="72">
                  <c:v>8.862181105703597</c:v>
                </c:pt>
                <c:pt idx="73">
                  <c:v>8.919542100036276</c:v>
                </c:pt>
                <c:pt idx="74">
                  <c:v>8.976536559183018</c:v>
                </c:pt>
                <c:pt idx="75">
                  <c:v>9.033171421066859</c:v>
                </c:pt>
                <c:pt idx="76">
                  <c:v>9.08945340746124</c:v>
                </c:pt>
                <c:pt idx="77">
                  <c:v>9.14538903330189</c:v>
                </c:pt>
                <c:pt idx="78">
                  <c:v>9.200984615489162</c:v>
                </c:pt>
                <c:pt idx="79">
                  <c:v>9.256246281214539</c:v>
                </c:pt>
                <c:pt idx="80">
                  <c:v>9.311179975842359</c:v>
                </c:pt>
                <c:pt idx="81">
                  <c:v>9.365791470375447</c:v>
                </c:pt>
                <c:pt idx="82">
                  <c:v>9.420086368531193</c:v>
                </c:pt>
                <c:pt idx="83">
                  <c:v>9.474070113452662</c:v>
                </c:pt>
                <c:pt idx="84">
                  <c:v>9.52774799407744</c:v>
                </c:pt>
                <c:pt idx="85">
                  <c:v>9.581125151185343</c:v>
                </c:pt>
                <c:pt idx="86">
                  <c:v>9.63420658314457</c:v>
                </c:pt>
                <c:pt idx="87">
                  <c:v>9.686997151374408</c:v>
                </c:pt>
                <c:pt idx="88">
                  <c:v>9.739501585541511</c:v>
                </c:pt>
                <c:pt idx="89">
                  <c:v>9.79172448850535</c:v>
                </c:pt>
                <c:pt idx="90">
                  <c:v>9.843670341027533</c:v>
                </c:pt>
              </c:numCache>
            </c:numRef>
          </c:yVal>
          <c:smooth val="0"/>
        </c:ser>
        <c:axId val="-2128940872"/>
        <c:axId val="-2129643912"/>
      </c:scatterChart>
      <c:valAx>
        <c:axId val="-2128940872"/>
        <c:scaling>
          <c:orientation val="minMax"/>
          <c:max val="1.0"/>
          <c:min val="0.0"/>
        </c:scaling>
        <c:delete val="0"/>
        <c:axPos val="b"/>
        <c:title>
          <c:tx>
            <c:rich>
              <a:bodyPr/>
              <a:lstStyle/>
              <a:p>
                <a:pPr>
                  <a:defRPr sz="1400">
                    <a:solidFill>
                      <a:srgbClr val="243343"/>
                    </a:solidFill>
                    <a:latin typeface="Noto Sans CJK SC"/>
                  </a:defRPr>
                </a:pPr>
                <a:r>
                  <a:t>可用于局域熔融的能量比例 η</a:t>
                </a:r>
              </a:p>
            </c:rich>
          </c:tx>
          <c:layout/>
          <c:overlay val="0"/>
        </c:title>
        <c:numFmt formatCode="General" sourceLinked="1"/>
        <c:majorTickMark val="none"/>
        <c:minorTickMark val="none"/>
        <c:tickLblPos val="nextTo"/>
        <c:spPr>
          <a:ln w="12700">
            <a:solidFill>
              <a:srgbClr val="D5DEE6"/>
            </a:solidFill>
          </a:ln>
        </c:spPr>
        <c:txPr>
          <a:bodyPr/>
          <a:lstStyle/>
          <a:p>
            <a:pPr>
              <a:defRPr sz="1200">
                <a:solidFill>
                  <a:srgbClr val="6D7985"/>
                </a:solidFill>
                <a:latin typeface="Noto Sans CJK SC"/>
              </a:defRPr>
            </a:pPr>
          </a:p>
        </c:txPr>
        <c:crossAx val="-2129643912"/>
        <c:crosses val="autoZero"/>
        <c:crossBetween val="midCat"/>
        <c:majorUnit val="0.2"/>
      </c:valAx>
      <c:valAx>
        <c:axId val="-2129643912"/>
        <c:scaling>
          <c:orientation val="minMax"/>
          <c:max val="11.0"/>
          <c:min val="0.0"/>
        </c:scaling>
        <c:delete val="0"/>
        <c:axPos val="l"/>
        <c:majorGridlines>
          <c:spPr>
            <a:ln>
              <a:solidFill>
                <a:srgbClr val="EFF4F8"/>
              </a:solidFill>
            </a:ln>
          </c:spPr>
        </c:majorGridlines>
        <c:title>
          <c:tx>
            <c:rich>
              <a:bodyPr/>
              <a:lstStyle/>
              <a:p>
                <a:pPr>
                  <a:defRPr sz="1400">
                    <a:solidFill>
                      <a:srgbClr val="243343"/>
                    </a:solidFill>
                    <a:latin typeface="Noto Sans CJK SC"/>
                  </a:defRPr>
                </a:pPr>
                <a:r>
                  <a:t>Rmax / nm</a:t>
                </a:r>
              </a:p>
            </c:rich>
          </c:tx>
          <c:layout/>
          <c:overlay val="0"/>
        </c:title>
        <c:numFmt formatCode="General" sourceLinked="1"/>
        <c:majorTickMark val="none"/>
        <c:minorTickMark val="none"/>
        <c:tickLblPos val="nextTo"/>
        <c:spPr>
          <a:ln w="12700">
            <a:solidFill>
              <a:srgbClr val="D5DEE6"/>
            </a:solidFill>
          </a:ln>
        </c:spPr>
        <c:txPr>
          <a:bodyPr/>
          <a:lstStyle/>
          <a:p>
            <a:pPr>
              <a:defRPr sz="1200">
                <a:solidFill>
                  <a:srgbClr val="6D7985"/>
                </a:solidFill>
                <a:latin typeface="Noto Sans CJK SC"/>
              </a:defRPr>
            </a:pPr>
          </a:p>
        </c:txPr>
        <c:crossAx val="-2128940872"/>
        <c:crosses val="autoZero"/>
        <c:crossBetween val="midCat"/>
        <c:majorUnit val="2.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Au</c:v>
                </c:pt>
              </c:strCache>
            </c:strRef>
          </c:tx>
          <c:spPr>
            <a:ln w="31750">
              <a:noFill/>
            </a:ln>
          </c:spPr>
          <c:marker>
            <c:symbol val="circle"/>
            <c:size val="8"/>
            <c:spPr>
              <a:solidFill>
                <a:srgbClr val="CF7B2B"/>
              </a:solidFill>
              <a:ln>
                <a:solidFill>
                  <a:srgbClr val="CF7B2B"/>
                </a:solidFill>
              </a:ln>
            </c:spPr>
          </c:marker>
          <c:errBars>
            <c:errDir val="y"/>
            <c:errBarType val="both"/>
            <c:errValType val="cust"/>
            <c:noEndCap val="0"/>
            <c:plus>
              <c:numLit>
                <c:formatCode>General</c:formatCode>
                <c:ptCount val="4"/>
                <c:pt idx="0">
                  <c:v>0.2</c:v>
                </c:pt>
                <c:pt idx="1">
                  <c:v>0.1</c:v>
                </c:pt>
                <c:pt idx="2">
                  <c:v>0.1</c:v>
                </c:pt>
                <c:pt idx="3">
                  <c:v>0.1</c:v>
                </c:pt>
              </c:numLit>
            </c:plus>
            <c:minus>
              <c:numLit>
                <c:formatCode>General</c:formatCode>
                <c:ptCount val="4"/>
                <c:pt idx="0">
                  <c:v>0.2</c:v>
                </c:pt>
                <c:pt idx="1">
                  <c:v>0.1</c:v>
                </c:pt>
                <c:pt idx="2">
                  <c:v>0.1</c:v>
                </c:pt>
                <c:pt idx="3">
                  <c:v>0.1</c:v>
                </c:pt>
              </c:numLit>
            </c:minus>
          </c:errBars>
          <c:xVal>
            <c:numRef>
              <c:f>Sheet1!$A$2:$A$5</c:f>
              <c:numCache>
                <c:formatCode>General</c:formatCode>
                <c:ptCount val="4"/>
                <c:pt idx="0">
                  <c:v>4.0</c:v>
                </c:pt>
                <c:pt idx="1">
                  <c:v>7.5</c:v>
                </c:pt>
                <c:pt idx="2">
                  <c:v>11.0</c:v>
                </c:pt>
                <c:pt idx="3">
                  <c:v>16.5</c:v>
                </c:pt>
              </c:numCache>
            </c:numRef>
          </c:xVal>
          <c:yVal>
            <c:numRef>
              <c:f>Sheet1!$B$2:$B$5</c:f>
              <c:numCache>
                <c:formatCode>General</c:formatCode>
                <c:ptCount val="4"/>
                <c:pt idx="0">
                  <c:v>2.4</c:v>
                </c:pt>
                <c:pt idx="1">
                  <c:v>4.2</c:v>
                </c:pt>
                <c:pt idx="2">
                  <c:v>4.9</c:v>
                </c:pt>
                <c:pt idx="3">
                  <c:v>5.4</c:v>
                </c:pt>
              </c:numCache>
            </c:numRef>
          </c:yVal>
          <c:smooth val="0"/>
        </c:ser>
        <c:ser>
          <c:idx val="1"/>
          <c:order val="1"/>
          <c:tx>
            <c:strRef>
              <c:f>Sheet1!$B$7</c:f>
              <c:strCache>
                <c:ptCount val="1"/>
                <c:pt idx="0">
                  <c:v>Xe</c:v>
                </c:pt>
              </c:strCache>
            </c:strRef>
          </c:tx>
          <c:spPr>
            <a:ln w="31750">
              <a:noFill/>
            </a:ln>
          </c:spPr>
          <c:marker>
            <c:symbol val="triangle"/>
            <c:size val="8"/>
            <c:spPr>
              <a:solidFill>
                <a:srgbClr val="2560A8"/>
              </a:solidFill>
              <a:ln>
                <a:solidFill>
                  <a:srgbClr val="2560A8"/>
                </a:solidFill>
              </a:ln>
            </c:spPr>
          </c:marker>
          <c:errBars>
            <c:errDir val="y"/>
            <c:errBarType val="both"/>
            <c:errValType val="cust"/>
            <c:noEndCap val="0"/>
            <c:plus>
              <c:numLit>
                <c:formatCode>General</c:formatCode>
                <c:ptCount val="2"/>
                <c:pt idx="0">
                  <c:v>0.3</c:v>
                </c:pt>
                <c:pt idx="1">
                  <c:v>0.2</c:v>
                </c:pt>
              </c:numLit>
            </c:plus>
            <c:minus>
              <c:numLit>
                <c:formatCode>General</c:formatCode>
                <c:ptCount val="2"/>
                <c:pt idx="0">
                  <c:v>0.3</c:v>
                </c:pt>
                <c:pt idx="1">
                  <c:v>0.2</c:v>
                </c:pt>
              </c:numLit>
            </c:minus>
          </c:errBars>
          <c:xVal>
            <c:numRef>
              <c:f>Sheet1!$A$8:$A$9</c:f>
              <c:numCache>
                <c:formatCode>General</c:formatCode>
                <c:ptCount val="2"/>
                <c:pt idx="0">
                  <c:v>13.6</c:v>
                </c:pt>
                <c:pt idx="1">
                  <c:v>16.0</c:v>
                </c:pt>
              </c:numCache>
            </c:numRef>
          </c:xVal>
          <c:yVal>
            <c:numRef>
              <c:f>Sheet1!$B$8:$B$9</c:f>
              <c:numCache>
                <c:formatCode>General</c:formatCode>
                <c:ptCount val="2"/>
                <c:pt idx="0">
                  <c:v>4.0</c:v>
                </c:pt>
                <c:pt idx="1">
                  <c:v>4.3</c:v>
                </c:pt>
              </c:numCache>
            </c:numRef>
          </c:yVal>
          <c:smooth val="0"/>
        </c:ser>
        <c:axId val="-2128940872"/>
        <c:axId val="-2129643912"/>
      </c:scatterChart>
      <c:valAx>
        <c:axId val="-2128940872"/>
        <c:scaling>
          <c:orientation val="minMax"/>
          <c:max val="18.0"/>
          <c:min val="3.0"/>
        </c:scaling>
        <c:delete val="0"/>
        <c:axPos val="b"/>
        <c:title>
          <c:tx>
            <c:rich>
              <a:bodyPr/>
              <a:lstStyle/>
              <a:p>
                <a:pPr>
                  <a:defRPr sz="1400">
                    <a:solidFill>
                      <a:srgbClr val="243343"/>
                    </a:solidFill>
                    <a:latin typeface="Noto Sans CJK SC"/>
                  </a:defRPr>
                </a:pPr>
                <a:r>
                  <a:t>平均电子阻止本领 Sₑ / keV nm⁻¹</a:t>
                </a:r>
              </a:p>
            </c:rich>
          </c:tx>
          <c:layout/>
          <c:overlay val="0"/>
        </c:title>
        <c:numFmt formatCode="General" sourceLinked="1"/>
        <c:majorTickMark val="none"/>
        <c:minorTickMark val="none"/>
        <c:tickLblPos val="nextTo"/>
        <c:spPr>
          <a:ln w="12700">
            <a:solidFill>
              <a:srgbClr val="D5DEE6"/>
            </a:solidFill>
          </a:ln>
        </c:spPr>
        <c:txPr>
          <a:bodyPr/>
          <a:lstStyle/>
          <a:p>
            <a:pPr>
              <a:defRPr sz="1200">
                <a:solidFill>
                  <a:srgbClr val="6D7985"/>
                </a:solidFill>
                <a:latin typeface="Noto Sans CJK SC"/>
              </a:defRPr>
            </a:pPr>
          </a:p>
        </c:txPr>
        <c:crossAx val="-2129643912"/>
        <c:crosses val="autoZero"/>
        <c:crossBetween val="midCat"/>
        <c:majorUnit val="3.0"/>
      </c:valAx>
      <c:valAx>
        <c:axId val="-2129643912"/>
        <c:scaling>
          <c:orientation val="minMax"/>
          <c:max val="6.0"/>
          <c:min val="1.5"/>
        </c:scaling>
        <c:delete val="0"/>
        <c:axPos val="l"/>
        <c:majorGridlines>
          <c:spPr>
            <a:ln>
              <a:solidFill>
                <a:srgbClr val="EFF4F8"/>
              </a:solidFill>
            </a:ln>
          </c:spPr>
        </c:majorGridlines>
        <c:title>
          <c:tx>
            <c:rich>
              <a:bodyPr/>
              <a:lstStyle/>
              <a:p>
                <a:pPr>
                  <a:defRPr sz="1400">
                    <a:solidFill>
                      <a:srgbClr val="243343"/>
                    </a:solidFill>
                    <a:latin typeface="Noto Sans CJK SC"/>
                  </a:defRPr>
                </a:pPr>
                <a:r>
                  <a:t>总径迹半径 R / nm</a:t>
                </a:r>
              </a:p>
            </c:rich>
          </c:tx>
          <c:layout/>
          <c:overlay val="0"/>
        </c:title>
        <c:numFmt formatCode="General" sourceLinked="1"/>
        <c:majorTickMark val="none"/>
        <c:minorTickMark val="none"/>
        <c:tickLblPos val="nextTo"/>
        <c:spPr>
          <a:ln w="12700">
            <a:solidFill>
              <a:srgbClr val="D5DEE6"/>
            </a:solidFill>
          </a:ln>
        </c:spPr>
        <c:txPr>
          <a:bodyPr/>
          <a:lstStyle/>
          <a:p>
            <a:pPr>
              <a:defRPr sz="1200">
                <a:solidFill>
                  <a:srgbClr val="6D7985"/>
                </a:solidFill>
                <a:latin typeface="Noto Sans CJK SC"/>
              </a:defRPr>
            </a:pPr>
          </a:p>
        </c:txPr>
        <c:crossAx val="-2128940872"/>
        <c:crosses val="autoZero"/>
        <c:crossBetween val="midCat"/>
        <c:majorUnit val="1.0"/>
      </c:valAx>
    </c:plotArea>
    <c:legend>
      <c:legendPos val="b"/>
      <c:layout/>
      <c:overlay val="0"/>
      <c:txPr>
        <a:bodyPr/>
        <a:lstStyle/>
        <a:p>
          <a:pPr>
            <a:defRPr sz="1300">
              <a:latin typeface="Noto Sans CJK SC"/>
            </a:defRPr>
          </a:pPr>
        </a:p>
      </c:txPr>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较窄沉积</c:v>
                </c:pt>
              </c:strCache>
            </c:strRef>
          </c:tx>
          <c:spPr>
            <a:ln w="31750">
              <a:solidFill>
                <a:srgbClr val="CF7B2B"/>
              </a:solidFill>
            </a:ln>
          </c:spPr>
          <c:marker>
            <c:symbol val="none"/>
          </c:marker>
          <c:xVal>
            <c:numRef>
              <c:f>Sheet1!$A$2:$A$82</c:f>
              <c:numCache>
                <c:formatCode>General</c:formatCode>
                <c:ptCount val="81"/>
                <c:pt idx="0">
                  <c:v>0.0</c:v>
                </c:pt>
                <c:pt idx="1">
                  <c:v>0.1</c:v>
                </c:pt>
                <c:pt idx="2">
                  <c:v>0.2</c:v>
                </c:pt>
                <c:pt idx="3">
                  <c:v>0.30000000000000004</c:v>
                </c:pt>
                <c:pt idx="4">
                  <c:v>0.4</c:v>
                </c:pt>
                <c:pt idx="5">
                  <c:v>0.5</c:v>
                </c:pt>
                <c:pt idx="6">
                  <c:v>0.6000000000000001</c:v>
                </c:pt>
                <c:pt idx="7">
                  <c:v>0.7000000000000001</c:v>
                </c:pt>
                <c:pt idx="8">
                  <c:v>0.8</c:v>
                </c:pt>
                <c:pt idx="9">
                  <c:v>0.9</c:v>
                </c:pt>
                <c:pt idx="10">
                  <c:v>1.0</c:v>
                </c:pt>
                <c:pt idx="11">
                  <c:v>1.1</c:v>
                </c:pt>
                <c:pt idx="12">
                  <c:v>1.2000000000000002</c:v>
                </c:pt>
                <c:pt idx="13">
                  <c:v>1.3</c:v>
                </c:pt>
                <c:pt idx="14">
                  <c:v>1.4000000000000001</c:v>
                </c:pt>
                <c:pt idx="15">
                  <c:v>1.5</c:v>
                </c:pt>
                <c:pt idx="16">
                  <c:v>1.6</c:v>
                </c:pt>
                <c:pt idx="17">
                  <c:v>1.7000000000000002</c:v>
                </c:pt>
                <c:pt idx="18">
                  <c:v>1.8</c:v>
                </c:pt>
                <c:pt idx="19">
                  <c:v>1.9000000000000001</c:v>
                </c:pt>
                <c:pt idx="20">
                  <c:v>2.0</c:v>
                </c:pt>
                <c:pt idx="21">
                  <c:v>2.1</c:v>
                </c:pt>
                <c:pt idx="22">
                  <c:v>2.2</c:v>
                </c:pt>
                <c:pt idx="23">
                  <c:v>2.3000000000000003</c:v>
                </c:pt>
                <c:pt idx="24">
                  <c:v>2.4000000000000004</c:v>
                </c:pt>
                <c:pt idx="25">
                  <c:v>2.5</c:v>
                </c:pt>
                <c:pt idx="26">
                  <c:v>2.6</c:v>
                </c:pt>
                <c:pt idx="27">
                  <c:v>2.7</c:v>
                </c:pt>
                <c:pt idx="28">
                  <c:v>2.8000000000000003</c:v>
                </c:pt>
                <c:pt idx="29">
                  <c:v>2.9000000000000004</c:v>
                </c:pt>
                <c:pt idx="30">
                  <c:v>3.0</c:v>
                </c:pt>
                <c:pt idx="31">
                  <c:v>3.1</c:v>
                </c:pt>
                <c:pt idx="32">
                  <c:v>3.2</c:v>
                </c:pt>
                <c:pt idx="33">
                  <c:v>3.3000000000000003</c:v>
                </c:pt>
                <c:pt idx="34">
                  <c:v>3.4000000000000004</c:v>
                </c:pt>
                <c:pt idx="35">
                  <c:v>3.5</c:v>
                </c:pt>
                <c:pt idx="36">
                  <c:v>3.6</c:v>
                </c:pt>
                <c:pt idx="37">
                  <c:v>3.7</c:v>
                </c:pt>
                <c:pt idx="38">
                  <c:v>3.8000000000000003</c:v>
                </c:pt>
                <c:pt idx="39">
                  <c:v>3.9000000000000004</c:v>
                </c:pt>
                <c:pt idx="40">
                  <c:v>4.0</c:v>
                </c:pt>
                <c:pt idx="41">
                  <c:v>4.1000000000000005</c:v>
                </c:pt>
                <c:pt idx="42">
                  <c:v>4.2</c:v>
                </c:pt>
                <c:pt idx="43">
                  <c:v>4.3</c:v>
                </c:pt>
                <c:pt idx="44">
                  <c:v>4.4</c:v>
                </c:pt>
                <c:pt idx="45">
                  <c:v>4.5</c:v>
                </c:pt>
                <c:pt idx="46">
                  <c:v>4.6000000000000005</c:v>
                </c:pt>
                <c:pt idx="47">
                  <c:v>4.7</c:v>
                </c:pt>
                <c:pt idx="48">
                  <c:v>4.800000000000001</c:v>
                </c:pt>
                <c:pt idx="49">
                  <c:v>4.9</c:v>
                </c:pt>
                <c:pt idx="50">
                  <c:v>5.0</c:v>
                </c:pt>
                <c:pt idx="51">
                  <c:v>5.1000000000000005</c:v>
                </c:pt>
                <c:pt idx="52">
                  <c:v>5.2</c:v>
                </c:pt>
                <c:pt idx="53">
                  <c:v>5.300000000000001</c:v>
                </c:pt>
                <c:pt idx="54">
                  <c:v>5.4</c:v>
                </c:pt>
                <c:pt idx="55">
                  <c:v>5.5</c:v>
                </c:pt>
                <c:pt idx="56">
                  <c:v>5.6000000000000005</c:v>
                </c:pt>
                <c:pt idx="57">
                  <c:v>5.7</c:v>
                </c:pt>
                <c:pt idx="58">
                  <c:v>5.800000000000001</c:v>
                </c:pt>
                <c:pt idx="59">
                  <c:v>5.9</c:v>
                </c:pt>
                <c:pt idx="60">
                  <c:v>6.0</c:v>
                </c:pt>
                <c:pt idx="61">
                  <c:v>6.1000000000000005</c:v>
                </c:pt>
                <c:pt idx="62">
                  <c:v>6.2</c:v>
                </c:pt>
                <c:pt idx="63">
                  <c:v>6.300000000000001</c:v>
                </c:pt>
                <c:pt idx="64">
                  <c:v>6.4</c:v>
                </c:pt>
                <c:pt idx="65">
                  <c:v>6.5</c:v>
                </c:pt>
                <c:pt idx="66">
                  <c:v>6.6000000000000005</c:v>
                </c:pt>
                <c:pt idx="67">
                  <c:v>6.7</c:v>
                </c:pt>
                <c:pt idx="68">
                  <c:v>6.800000000000001</c:v>
                </c:pt>
                <c:pt idx="69">
                  <c:v>6.9</c:v>
                </c:pt>
                <c:pt idx="70">
                  <c:v>7.0</c:v>
                </c:pt>
                <c:pt idx="71">
                  <c:v>7.1000000000000005</c:v>
                </c:pt>
                <c:pt idx="72">
                  <c:v>7.2</c:v>
                </c:pt>
                <c:pt idx="73">
                  <c:v>7.300000000000001</c:v>
                </c:pt>
                <c:pt idx="74">
                  <c:v>7.4</c:v>
                </c:pt>
                <c:pt idx="75">
                  <c:v>7.5</c:v>
                </c:pt>
                <c:pt idx="76">
                  <c:v>7.6000000000000005</c:v>
                </c:pt>
                <c:pt idx="77">
                  <c:v>7.7</c:v>
                </c:pt>
                <c:pt idx="78">
                  <c:v>7.800000000000001</c:v>
                </c:pt>
                <c:pt idx="79">
                  <c:v>7.9</c:v>
                </c:pt>
                <c:pt idx="80">
                  <c:v>8.0</c:v>
                </c:pt>
              </c:numCache>
            </c:numRef>
          </c:xVal>
          <c:yVal>
            <c:numRef>
              <c:f>Sheet1!$B$2:$B$82</c:f>
              <c:numCache>
                <c:formatCode>General</c:formatCode>
                <c:ptCount val="81"/>
                <c:pt idx="0">
                  <c:v>0.062169899645271615</c:v>
                </c:pt>
                <c:pt idx="1">
                  <c:v>0.062048592562537405</c:v>
                </c:pt>
                <c:pt idx="2">
                  <c:v>0.06168608964787765</c:v>
                </c:pt>
                <c:pt idx="3">
                  <c:v>0.06108661829901836</c:v>
                </c:pt>
                <c:pt idx="4">
                  <c:v>0.06025713292025633</c:v>
                </c:pt>
                <c:pt idx="5">
                  <c:v>0.05920718063717939</c:v>
                </c:pt>
                <c:pt idx="6">
                  <c:v>0.05794871840909938</c:v>
                </c:pt>
                <c:pt idx="7">
                  <c:v>0.056495886437238435</c:v>
                </c:pt>
                <c:pt idx="8">
                  <c:v>0.054864743870947336</c:v>
                </c:pt>
                <c:pt idx="9">
                  <c:v>0.05307297371436846</c:v>
                </c:pt>
                <c:pt idx="10">
                  <c:v>0.05113956450477713</c:v>
                </c:pt>
                <c:pt idx="11">
                  <c:v>0.049084476753588506</c:v>
                </c:pt>
                <c:pt idx="12">
                  <c:v>0.046928302303933356</c:v>
                </c:pt>
                <c:pt idx="13">
                  <c:v>0.044691924667059756</c:v>
                </c:pt>
                <c:pt idx="14">
                  <c:v>0.04239618806552508</c:v>
                </c:pt>
                <c:pt idx="15">
                  <c:v>0.04006158235492694</c:v>
                </c:pt>
                <c:pt idx="16">
                  <c:v>0.037707950246114806</c:v>
                </c:pt>
                <c:pt idx="17">
                  <c:v>0.0353542223408607</c:v>
                </c:pt>
                <c:pt idx="18">
                  <c:v>0.033018184464673486</c:v>
                </c:pt>
                <c:pt idx="19">
                  <c:v>0.03071628067220396</c:v>
                </c:pt>
                <c:pt idx="20">
                  <c:v>0.028463454155598596</c:v>
                </c:pt>
                <c:pt idx="21">
                  <c:v>0.026273027145232955</c:v>
                </c:pt>
                <c:pt idx="22">
                  <c:v>0.02415661979379833</c:v>
                </c:pt>
                <c:pt idx="23">
                  <c:v>0.022124107012916026</c:v>
                </c:pt>
                <c:pt idx="24">
                  <c:v>0.02018361131525842</c:v>
                </c:pt>
                <c:pt idx="25">
                  <c:v>0.018341528927446588</c:v>
                </c:pt>
                <c:pt idx="26">
                  <c:v>0.01660258579610738</c:v>
                </c:pt>
                <c:pt idx="27">
                  <c:v>0.014969919621043049</c:v>
                </c:pt>
                <c:pt idx="28">
                  <c:v>0.013445183718582016</c:v>
                </c:pt>
                <c:pt idx="29">
                  <c:v>0.01202866834181888</c:v>
                </c:pt>
                <c:pt idx="30">
                  <c:v>0.010719435054149382</c:v>
                </c:pt>
                <c:pt idx="31">
                  <c:v>0.0095154598552024</c:v>
                </c:pt>
                <c:pt idx="32">
                  <c:v>0.00841378097728462</c:v>
                </c:pt>
                <c:pt idx="33">
                  <c:v>0.007410647586516145</c:v>
                </c:pt>
                <c:pt idx="34">
                  <c:v>0.006501666015139951</c:v>
                </c:pt>
                <c:pt idx="35">
                  <c:v>0.005681940598689965</c:v>
                </c:pt>
                <c:pt idx="36">
                  <c:v>0.004946206672839329</c:v>
                </c:pt>
                <c:pt idx="37">
                  <c:v>0.004288953780040314</c:v>
                </c:pt>
                <c:pt idx="38">
                  <c:v>0.003704537627563487</c:v>
                </c:pt>
                <c:pt idx="39">
                  <c:v>0.003187279810632806</c:v>
                </c:pt>
                <c:pt idx="40">
                  <c:v>0.0027315547540882</c:v>
                </c:pt>
                <c:pt idx="41">
                  <c:v>0.002331863723285053</c:v>
                </c:pt>
                <c:pt idx="42">
                  <c:v>0.001982896102531983</c:v>
                </c:pt>
                <c:pt idx="43">
                  <c:v>0.0016795784328205142</c:v>
                </c:pt>
                <c:pt idx="44">
                  <c:v>0.001417111938030348</c:v>
                </c:pt>
                <c:pt idx="45">
                  <c:v>0.0011909994506015432</c:v>
                </c:pt>
                <c:pt idx="46">
                  <c:v>0.0009970627761885854</c:v>
                </c:pt>
                <c:pt idx="47">
                  <c:v>0.0008314516159492015</c:v>
                </c:pt>
                <c:pt idx="48">
                  <c:v>0.0006906451999421939</c:v>
                </c:pt>
                <c:pt idx="49">
                  <c:v>0.000571447781475315</c:v>
                </c:pt>
                <c:pt idx="50">
                  <c:v>0.00047097910645458837</c:v>
                </c:pt>
                <c:pt idx="51">
                  <c:v>0.0003866609102602296</c:v>
                </c:pt>
                <c:pt idx="52">
                  <c:v>0.0003162004136809636</c:v>
                </c:pt>
                <c:pt idx="53">
                  <c:v>0.00025757169487864665</c:v>
                </c:pt>
                <c:pt idx="54">
                  <c:v>0.00020899571159361396</c:v>
                </c:pt>
                <c:pt idx="55">
                  <c:v>0.00016891964155175442</c:v>
                </c:pt>
                <c:pt idx="56">
                  <c:v>0.00013599610329235296</c:v>
                </c:pt>
                <c:pt idx="57">
                  <c:v>0.00010906271765261796</c:v>
                </c:pt>
                <c:pt idx="58">
                  <c:v>8.712237443906097e-05</c:v>
                </c:pt>
                <c:pt idx="59">
                  <c:v>6.932448121257524e-05</c:v>
                </c:pt>
                <c:pt idx="60">
                  <c:v>5.494739280600318e-05</c:v>
                </c:pt>
                <c:pt idx="61">
                  <c:v>4.338215181696344e-05</c:v>
                </c:pt>
                <c:pt idx="62">
                  <c:v>3.4117612039779235e-05</c:v>
                </c:pt>
                <c:pt idx="63">
                  <c:v>2.6726968399533047e-05</c:v>
                </c:pt>
                <c:pt idx="64">
                  <c:v>2.0855677911438254e-05</c:v>
                </c:pt>
                <c:pt idx="65">
                  <c:v>1.621072577548753e-05</c:v>
                </c:pt>
                <c:pt idx="66">
                  <c:v>1.2551168051298047e-05</c:v>
                </c:pt>
                <c:pt idx="67">
                  <c:v>9.679866482502565e-06</c:v>
                </c:pt>
                <c:pt idx="68">
                  <c:v>7.436320968513842e-06</c:v>
                </c:pt>
                <c:pt idx="69">
                  <c:v>5.690499944936731e-06</c:v>
                </c:pt>
                <c:pt idx="70">
                  <c:v>4.3375676125681774e-06</c:v>
                </c:pt>
                <c:pt idx="71">
                  <c:v>3.2934087020361663e-06</c:v>
                </c:pt>
                <c:pt idx="72">
                  <c:v>2.4908555181777346e-06</c:v>
                </c:pt>
                <c:pt idx="73">
                  <c:v>1.8765277132395695e-06</c:v>
                </c:pt>
                <c:pt idx="74">
                  <c:v>1.4082020277539254e-06</c:v>
                </c:pt>
                <c:pt idx="75">
                  <c:v>1.0526366459868363e-06</c:v>
                </c:pt>
                <c:pt idx="76">
                  <c:v>7.837824636744923e-07</c:v>
                </c:pt>
                <c:pt idx="77">
                  <c:v>5.813211668776142e-07</c:v>
                </c:pt>
                <c:pt idx="78">
                  <c:v>4.294773533289194e-07</c:v>
                </c:pt>
                <c:pt idx="79">
                  <c:v>3.16058836289652e-07</c:v>
                </c:pt>
                <c:pt idx="80">
                  <c:v>2.3168565372086452e-07</c:v>
                </c:pt>
              </c:numCache>
            </c:numRef>
          </c:yVal>
          <c:smooth val="0"/>
        </c:ser>
        <c:ser>
          <c:idx val="1"/>
          <c:order val="1"/>
          <c:tx>
            <c:strRef>
              <c:f>Sheet1!$B$84</c:f>
              <c:strCache>
                <c:ptCount val="1"/>
                <c:pt idx="0">
                  <c:v>较宽沉积</c:v>
                </c:pt>
              </c:strCache>
            </c:strRef>
          </c:tx>
          <c:spPr>
            <a:ln w="31750">
              <a:solidFill>
                <a:srgbClr val="2560A8"/>
              </a:solidFill>
            </a:ln>
          </c:spPr>
          <c:marker>
            <c:symbol val="none"/>
          </c:marker>
          <c:xVal>
            <c:numRef>
              <c:f>Sheet1!$A$85:$A$165</c:f>
              <c:numCache>
                <c:formatCode>General</c:formatCode>
                <c:ptCount val="81"/>
                <c:pt idx="0">
                  <c:v>0.0</c:v>
                </c:pt>
                <c:pt idx="1">
                  <c:v>0.1</c:v>
                </c:pt>
                <c:pt idx="2">
                  <c:v>0.2</c:v>
                </c:pt>
                <c:pt idx="3">
                  <c:v>0.30000000000000004</c:v>
                </c:pt>
                <c:pt idx="4">
                  <c:v>0.4</c:v>
                </c:pt>
                <c:pt idx="5">
                  <c:v>0.5</c:v>
                </c:pt>
                <c:pt idx="6">
                  <c:v>0.6000000000000001</c:v>
                </c:pt>
                <c:pt idx="7">
                  <c:v>0.7000000000000001</c:v>
                </c:pt>
                <c:pt idx="8">
                  <c:v>0.8</c:v>
                </c:pt>
                <c:pt idx="9">
                  <c:v>0.9</c:v>
                </c:pt>
                <c:pt idx="10">
                  <c:v>1.0</c:v>
                </c:pt>
                <c:pt idx="11">
                  <c:v>1.1</c:v>
                </c:pt>
                <c:pt idx="12">
                  <c:v>1.2000000000000002</c:v>
                </c:pt>
                <c:pt idx="13">
                  <c:v>1.3</c:v>
                </c:pt>
                <c:pt idx="14">
                  <c:v>1.4000000000000001</c:v>
                </c:pt>
                <c:pt idx="15">
                  <c:v>1.5</c:v>
                </c:pt>
                <c:pt idx="16">
                  <c:v>1.6</c:v>
                </c:pt>
                <c:pt idx="17">
                  <c:v>1.7000000000000002</c:v>
                </c:pt>
                <c:pt idx="18">
                  <c:v>1.8</c:v>
                </c:pt>
                <c:pt idx="19">
                  <c:v>1.9000000000000001</c:v>
                </c:pt>
                <c:pt idx="20">
                  <c:v>2.0</c:v>
                </c:pt>
                <c:pt idx="21">
                  <c:v>2.1</c:v>
                </c:pt>
                <c:pt idx="22">
                  <c:v>2.2</c:v>
                </c:pt>
                <c:pt idx="23">
                  <c:v>2.3000000000000003</c:v>
                </c:pt>
                <c:pt idx="24">
                  <c:v>2.4000000000000004</c:v>
                </c:pt>
                <c:pt idx="25">
                  <c:v>2.5</c:v>
                </c:pt>
                <c:pt idx="26">
                  <c:v>2.6</c:v>
                </c:pt>
                <c:pt idx="27">
                  <c:v>2.7</c:v>
                </c:pt>
                <c:pt idx="28">
                  <c:v>2.8000000000000003</c:v>
                </c:pt>
                <c:pt idx="29">
                  <c:v>2.9000000000000004</c:v>
                </c:pt>
                <c:pt idx="30">
                  <c:v>3.0</c:v>
                </c:pt>
                <c:pt idx="31">
                  <c:v>3.1</c:v>
                </c:pt>
                <c:pt idx="32">
                  <c:v>3.2</c:v>
                </c:pt>
                <c:pt idx="33">
                  <c:v>3.3000000000000003</c:v>
                </c:pt>
                <c:pt idx="34">
                  <c:v>3.4000000000000004</c:v>
                </c:pt>
                <c:pt idx="35">
                  <c:v>3.5</c:v>
                </c:pt>
                <c:pt idx="36">
                  <c:v>3.6</c:v>
                </c:pt>
                <c:pt idx="37">
                  <c:v>3.7</c:v>
                </c:pt>
                <c:pt idx="38">
                  <c:v>3.8000000000000003</c:v>
                </c:pt>
                <c:pt idx="39">
                  <c:v>3.9000000000000004</c:v>
                </c:pt>
                <c:pt idx="40">
                  <c:v>4.0</c:v>
                </c:pt>
                <c:pt idx="41">
                  <c:v>4.1000000000000005</c:v>
                </c:pt>
                <c:pt idx="42">
                  <c:v>4.2</c:v>
                </c:pt>
                <c:pt idx="43">
                  <c:v>4.3</c:v>
                </c:pt>
                <c:pt idx="44">
                  <c:v>4.4</c:v>
                </c:pt>
                <c:pt idx="45">
                  <c:v>4.5</c:v>
                </c:pt>
                <c:pt idx="46">
                  <c:v>4.6000000000000005</c:v>
                </c:pt>
                <c:pt idx="47">
                  <c:v>4.7</c:v>
                </c:pt>
                <c:pt idx="48">
                  <c:v>4.800000000000001</c:v>
                </c:pt>
                <c:pt idx="49">
                  <c:v>4.9</c:v>
                </c:pt>
                <c:pt idx="50">
                  <c:v>5.0</c:v>
                </c:pt>
                <c:pt idx="51">
                  <c:v>5.1000000000000005</c:v>
                </c:pt>
                <c:pt idx="52">
                  <c:v>5.2</c:v>
                </c:pt>
                <c:pt idx="53">
                  <c:v>5.300000000000001</c:v>
                </c:pt>
                <c:pt idx="54">
                  <c:v>5.4</c:v>
                </c:pt>
                <c:pt idx="55">
                  <c:v>5.5</c:v>
                </c:pt>
                <c:pt idx="56">
                  <c:v>5.6000000000000005</c:v>
                </c:pt>
                <c:pt idx="57">
                  <c:v>5.7</c:v>
                </c:pt>
                <c:pt idx="58">
                  <c:v>5.800000000000001</c:v>
                </c:pt>
                <c:pt idx="59">
                  <c:v>5.9</c:v>
                </c:pt>
                <c:pt idx="60">
                  <c:v>6.0</c:v>
                </c:pt>
                <c:pt idx="61">
                  <c:v>6.1000000000000005</c:v>
                </c:pt>
                <c:pt idx="62">
                  <c:v>6.2</c:v>
                </c:pt>
                <c:pt idx="63">
                  <c:v>6.300000000000001</c:v>
                </c:pt>
                <c:pt idx="64">
                  <c:v>6.4</c:v>
                </c:pt>
                <c:pt idx="65">
                  <c:v>6.5</c:v>
                </c:pt>
                <c:pt idx="66">
                  <c:v>6.6000000000000005</c:v>
                </c:pt>
                <c:pt idx="67">
                  <c:v>6.7</c:v>
                </c:pt>
                <c:pt idx="68">
                  <c:v>6.800000000000001</c:v>
                </c:pt>
                <c:pt idx="69">
                  <c:v>6.9</c:v>
                </c:pt>
                <c:pt idx="70">
                  <c:v>7.0</c:v>
                </c:pt>
                <c:pt idx="71">
                  <c:v>7.1000000000000005</c:v>
                </c:pt>
                <c:pt idx="72">
                  <c:v>7.2</c:v>
                </c:pt>
                <c:pt idx="73">
                  <c:v>7.300000000000001</c:v>
                </c:pt>
                <c:pt idx="74">
                  <c:v>7.4</c:v>
                </c:pt>
                <c:pt idx="75">
                  <c:v>7.5</c:v>
                </c:pt>
                <c:pt idx="76">
                  <c:v>7.6000000000000005</c:v>
                </c:pt>
                <c:pt idx="77">
                  <c:v>7.7</c:v>
                </c:pt>
                <c:pt idx="78">
                  <c:v>7.800000000000001</c:v>
                </c:pt>
                <c:pt idx="79">
                  <c:v>7.9</c:v>
                </c:pt>
                <c:pt idx="80">
                  <c:v>8.0</c:v>
                </c:pt>
              </c:numCache>
            </c:numRef>
          </c:xVal>
          <c:yVal>
            <c:numRef>
              <c:f>Sheet1!$B$85:$B$165</c:f>
              <c:numCache>
                <c:formatCode>General</c:formatCode>
                <c:ptCount val="81"/>
                <c:pt idx="0">
                  <c:v>0.01768388256576615</c:v>
                </c:pt>
                <c:pt idx="1">
                  <c:v>0.01767406091505187</c:v>
                </c:pt>
                <c:pt idx="2">
                  <c:v>0.01764462868053523</c:v>
                </c:pt>
                <c:pt idx="3">
                  <c:v>0.017595683833515226</c:v>
                </c:pt>
                <c:pt idx="4">
                  <c:v>0.017527389055635174</c:v>
                </c:pt>
                <c:pt idx="5">
                  <c:v>0.01743997083802224</c:v>
                </c:pt>
                <c:pt idx="6">
                  <c:v>0.01733371822987644</c:v>
                </c:pt>
                <c:pt idx="7">
                  <c:v>0.01720898124618541</c:v>
                </c:pt>
                <c:pt idx="8">
                  <c:v>0.017066168946840248</c:v>
                </c:pt>
                <c:pt idx="9">
                  <c:v>0.016905747201904697</c:v>
                </c:pt>
                <c:pt idx="10">
                  <c:v>0.016728236160121753</c:v>
                </c:pt>
                <c:pt idx="11">
                  <c:v>0.01653420743990533</c:v>
                </c:pt>
                <c:pt idx="12">
                  <c:v>0.016324281064040373</c:v>
                </c:pt>
                <c:pt idx="13">
                  <c:v>0.016099122161084566</c:v>
                </c:pt>
                <c:pt idx="14">
                  <c:v>0.015859437458012667</c:v>
                </c:pt>
                <c:pt idx="15">
                  <c:v>0.015605971589958354</c:v>
                </c:pt>
                <c:pt idx="16">
                  <c:v>0.015339503253977267</c:v>
                </c:pt>
                <c:pt idx="17">
                  <c:v>0.015060841234571923</c:v>
                </c:pt>
                <c:pt idx="18">
                  <c:v>0.014770820329279599</c:v>
                </c:pt>
                <c:pt idx="19">
                  <c:v>0.014470297202926542</c:v>
                </c:pt>
                <c:pt idx="20">
                  <c:v>0.014160146199197407</c:v>
                </c:pt>
                <c:pt idx="21">
                  <c:v>0.013841255137961417</c:v>
                </c:pt>
                <c:pt idx="22">
                  <c:v>0.013514521126343573</c:v>
                </c:pt>
                <c:pt idx="23">
                  <c:v>0.013180846410839192</c:v>
                </c:pt>
                <c:pt idx="24">
                  <c:v>0.012841134296855319</c:v>
                </c:pt>
                <c:pt idx="25">
                  <c:v>0.01249628516093674</c:v>
                </c:pt>
                <c:pt idx="26">
                  <c:v>0.012147192579613709</c:v>
                </c:pt>
                <c:pt idx="27">
                  <c:v>0.01179473959731048</c:v>
                </c:pt>
                <c:pt idx="28">
                  <c:v>0.011439795154097952</c:v>
                </c:pt>
                <c:pt idx="29">
                  <c:v>0.01108321069228015</c:v>
                </c:pt>
                <c:pt idx="30">
                  <c:v>0.01072581695889488</c:v>
                </c:pt>
                <c:pt idx="31">
                  <c:v>0.01036842101920519</c:v>
                </c:pt>
                <c:pt idx="32">
                  <c:v>0.01001180349418333</c:v>
                </c:pt>
                <c:pt idx="33">
                  <c:v>0.009656716032864703</c:v>
                </c:pt>
                <c:pt idx="34">
                  <c:v>0.009303879028298918</c:v>
                </c:pt>
                <c:pt idx="35">
                  <c:v>0.008953979583669797</c:v>
                </c:pt>
                <c:pt idx="36">
                  <c:v>0.008607669733017884</c:v>
                </c:pt>
                <c:pt idx="37">
                  <c:v>0.008265564918897794</c:v>
                </c:pt>
                <c:pt idx="38">
                  <c:v>0.007928242727257914</c:v>
                </c:pt>
                <c:pt idx="39">
                  <c:v>0.007596241877859453</c:v>
                </c:pt>
                <c:pt idx="40">
                  <c:v>0.00727006146667224</c:v>
                </c:pt>
                <c:pt idx="41">
                  <c:v>0.006950160454910512</c:v>
                </c:pt>
                <c:pt idx="42">
                  <c:v>0.006636957397716801</c:v>
                </c:pt>
                <c:pt idx="43">
                  <c:v>0.0063308304039765215</c:v>
                </c:pt>
                <c:pt idx="44">
                  <c:v>0.0060321173173602275</c:v>
                </c:pt>
                <c:pt idx="45">
                  <c:v>0.005741116107451285</c:v>
                </c:pt>
                <c:pt idx="46">
                  <c:v>0.005458085458730228</c:v>
                </c:pt>
                <c:pt idx="47">
                  <c:v>0.005183245544256679</c:v>
                </c:pt>
                <c:pt idx="48">
                  <c:v>0.0049167789701169235</c:v>
                </c:pt>
                <c:pt idx="49">
                  <c:v>0.004658831876090695</c:v>
                </c:pt>
                <c:pt idx="50">
                  <c:v>0.00440951517753211</c:v>
                </c:pt>
                <c:pt idx="51">
                  <c:v>0.004168905933154006</c:v>
                </c:pt>
                <c:pt idx="52">
                  <c:v>0.003937048823247404</c:v>
                </c:pt>
                <c:pt idx="53">
                  <c:v>0.0037139577228519913</c:v>
                </c:pt>
                <c:pt idx="54">
                  <c:v>0.003499617354512535</c:v>
                </c:pt>
                <c:pt idx="55">
                  <c:v>0.0032939850055009492</c:v>
                </c:pt>
                <c:pt idx="56">
                  <c:v>0.003096992294745695</c:v>
                </c:pt>
                <c:pt idx="57">
                  <c:v>0.0029085469751786107</c:v>
                </c:pt>
                <c:pt idx="58">
                  <c:v>0.0027285347577739746</c:v>
                </c:pt>
                <c:pt idx="59">
                  <c:v>0.002556821144204337</c:v>
                </c:pt>
                <c:pt idx="60">
                  <c:v>0.002393253255760959</c:v>
                </c:pt>
                <c:pt idx="61">
                  <c:v>0.0022376616469724957</c:v>
                </c:pt>
                <c:pt idx="62">
                  <c:v>0.0020898620931920097</c:v>
                </c:pt>
                <c:pt idx="63">
                  <c:v>0.001949657342298545</c:v>
                </c:pt>
                <c:pt idx="64">
                  <c:v>0.00181683882156426</c:v>
                </c:pt>
                <c:pt idx="65">
                  <c:v>0.001691188291660854</c:v>
                </c:pt>
                <c:pt idx="66">
                  <c:v>0.0015724794407097683</c:v>
                </c:pt>
                <c:pt idx="67">
                  <c:v>0.0014604794122098155</c:v>
                </c:pt>
                <c:pt idx="68">
                  <c:v>0.001354950261594609</c:v>
                </c:pt>
                <c:pt idx="69">
                  <c:v>0.0012556503370724239</c:v>
                </c:pt>
                <c:pt idx="70">
                  <c:v>0.0011623355812753248</c:v>
                </c:pt>
                <c:pt idx="71">
                  <c:v>0.0010747607510862205</c:v>
                </c:pt>
                <c:pt idx="72">
                  <c:v>0.0009926805538159546</c:v>
                </c:pt>
                <c:pt idx="73">
                  <c:v>0.000915850698662783</c:v>
                </c:pt>
                <c:pt idx="74">
                  <c:v>0.0008440288630995656</c:v>
                </c:pt>
                <c:pt idx="75">
                  <c:v>0.000776975574496199</c:v>
                </c:pt>
                <c:pt idx="76">
                  <c:v>0.0007144550078939843</c:v>
                </c:pt>
                <c:pt idx="77">
                  <c:v>0.0006562357014027649</c:v>
                </c:pt>
                <c:pt idx="78">
                  <c:v>0.000602091191189893</c:v>
                </c:pt>
                <c:pt idx="79">
                  <c:v>0.0005518005684719924</c:v>
                </c:pt>
                <c:pt idx="80">
                  <c:v>0.0005051489613062896</c:v>
                </c:pt>
              </c:numCache>
            </c:numRef>
          </c:yVal>
          <c:smooth val="0"/>
        </c:ser>
        <c:axId val="-2128940872"/>
        <c:axId val="-2129643912"/>
      </c:scatterChart>
      <c:valAx>
        <c:axId val="-2128940872"/>
        <c:scaling>
          <c:orientation val="minMax"/>
          <c:max val="8.0"/>
          <c:min val="0.0"/>
        </c:scaling>
        <c:delete val="0"/>
        <c:axPos val="b"/>
        <c:title>
          <c:tx>
            <c:rich>
              <a:bodyPr/>
              <a:lstStyle/>
              <a:p>
                <a:pPr>
                  <a:defRPr sz="1400">
                    <a:solidFill>
                      <a:srgbClr val="243343"/>
                    </a:solidFill>
                    <a:latin typeface="Noto Sans CJK SC"/>
                  </a:defRPr>
                </a:pPr>
                <a:r>
                  <a:t>距轨迹的径向距离 / 任意单位</a:t>
                </a:r>
              </a:p>
            </c:rich>
          </c:tx>
          <c:layout/>
          <c:overlay val="0"/>
        </c:title>
        <c:numFmt formatCode="General" sourceLinked="1"/>
        <c:majorTickMark val="none"/>
        <c:minorTickMark val="none"/>
        <c:tickLblPos val="nextTo"/>
        <c:spPr>
          <a:ln w="12700">
            <a:solidFill>
              <a:srgbClr val="D5DEE6"/>
            </a:solidFill>
          </a:ln>
        </c:spPr>
        <c:txPr>
          <a:bodyPr/>
          <a:lstStyle/>
          <a:p>
            <a:pPr>
              <a:defRPr sz="1200">
                <a:solidFill>
                  <a:srgbClr val="6D7985"/>
                </a:solidFill>
                <a:latin typeface="Noto Sans CJK SC"/>
              </a:defRPr>
            </a:pPr>
          </a:p>
        </c:txPr>
        <c:crossAx val="-2129643912"/>
        <c:crosses val="autoZero"/>
        <c:crossBetween val="midCat"/>
        <c:majorUnit val="2.0"/>
      </c:valAx>
      <c:valAx>
        <c:axId val="-2129643912"/>
        <c:scaling>
          <c:orientation val="minMax"/>
          <c:max val="0.075"/>
          <c:min val="0.0"/>
        </c:scaling>
        <c:delete val="0"/>
        <c:axPos val="l"/>
        <c:majorGridlines>
          <c:spPr>
            <a:ln>
              <a:solidFill>
                <a:srgbClr val="EFF4F8"/>
              </a:solidFill>
            </a:ln>
          </c:spPr>
        </c:majorGridlines>
        <c:title>
          <c:tx>
            <c:rich>
              <a:bodyPr/>
              <a:lstStyle/>
              <a:p>
                <a:pPr>
                  <a:defRPr sz="1400">
                    <a:solidFill>
                      <a:srgbClr val="243343"/>
                    </a:solidFill>
                    <a:latin typeface="Noto Sans CJK SC"/>
                  </a:defRPr>
                </a:pPr>
                <a:r>
                  <a:t>局域能量密度 / 任意单位</a:t>
                </a:r>
              </a:p>
            </c:rich>
          </c:tx>
          <c:layout/>
          <c:overlay val="0"/>
        </c:title>
        <c:numFmt formatCode="General" sourceLinked="1"/>
        <c:majorTickMark val="none"/>
        <c:minorTickMark val="none"/>
        <c:tickLblPos val="nextTo"/>
        <c:spPr>
          <a:ln w="12700">
            <a:solidFill>
              <a:srgbClr val="D5DEE6"/>
            </a:solidFill>
          </a:ln>
        </c:spPr>
        <c:txPr>
          <a:bodyPr/>
          <a:lstStyle/>
          <a:p>
            <a:pPr>
              <a:defRPr sz="1200">
                <a:solidFill>
                  <a:srgbClr val="6D7985"/>
                </a:solidFill>
                <a:latin typeface="Noto Sans CJK SC"/>
              </a:defRPr>
            </a:pPr>
          </a:p>
        </c:txPr>
        <c:crossAx val="-2128940872"/>
        <c:crosses val="autoZero"/>
        <c:crossBetween val="midCat"/>
        <c:majorUnit val="0.025"/>
      </c:valAx>
    </c:plotArea>
    <c:legend>
      <c:legendPos val="b"/>
      <c:layout/>
      <c:overlay val="0"/>
      <c:txPr>
        <a:bodyPr/>
        <a:lstStyle/>
        <a:p>
          <a:pPr>
            <a:defRPr sz="1300">
              <a:latin typeface="Noto Sans CJK SC"/>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建议用时：20秒</a:t>
            </a:r>
          </a:p>
          <a:p/>
          <a:p>
            <a:r>
              <a:t>本报告围绕导师提出的能量传递链展开。先从快速重离子的电子阻止讲起，再解释电子—声子散射的微观过程，随后讨论局域升温、熔融与潜径迹。材料未限定，因此把金属和绝缘体作为对照。所有数值示例都清楚标为假设计算，不能当作具体材料预测。主体第1至19页约20分钟，第20页起是答疑备份。</a:t>
            </a:r>
          </a:p>
          <a:p/>
          <a:p>
            <a:r>
              <a:t>文献依据：</a:t>
            </a:r>
          </a:p>
          <a:p>
            <a:r>
              <a:t>[R5] Medvedev et al., 2023. Frontiers, challenges, and solutions in modeling of swift heavy ion effects in materials. J. Appl. Phys. 133, 100701. https://doi.org/10.1063/5.0128774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建议用时：50秒</a:t>
            </a:r>
          </a:p>
          <a:p/>
          <a:p>
            <a:r>
              <a:t>导师给出的路径抓住了热机制的主干，但不能把每个箭头当作必然事件。晶格获得能量可以仅产生可恢复振动，也可能形成缺陷。达到熔融还需要局域焓和时间条件。即使出现瞬态熔融，快速再结晶也可能减少残余损伤。另有一条并行的非热路径：电子占据改变原子间势能面，从而驱动原子运动。接下来重点解释热路径，并保留这些适用边界。</a:t>
            </a:r>
          </a:p>
          <a:p/>
          <a:p>
            <a:r>
              <a:t>文献依据：</a:t>
            </a:r>
          </a:p>
          <a:p>
            <a:r>
              <a:t>[R2] Toulemonde, Dufour &amp; Paumier, 1992. Transient thermal process after a high-energy heavy-ion irradiation of amorphous metals and semiconductors. Phys. Rev. B 46, 14362–14369. https://doi.org/10.1103/PhysRevB.46.14362</a:t>
            </a:r>
          </a:p>
          <a:p>
            <a:r>
              <a:t>[R6] Medvedev, Voronkov &amp; Volkov, 2024. Nonthermal effects in solids after swift heavy ion impact. Nucl. Instrum. Methods B 547, 165218. https://doi.org/10.1016/j.nimb.2023.165218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建议用时：60秒</a:t>
            </a:r>
          </a:p>
          <a:p/>
          <a:p>
            <a:r>
              <a:t>快速重离子在材料中损失动能，通常区分电子阻止本领Se与核阻止本领Sn。Se表示每单位路径传递给电子的能量，常用keV/nm；它不是温度，也不是单位体积能量。电子激发包括电离、电子—空穴产生及高能次级电子δ电子，它们进一步电离并径向输运。近轨迹的局部能量密度由离子速度、电子输运和材料响应共同决定。仅知道Se尚不足以确定熔融半径。图为原创示意，无比例尺。</a:t>
            </a:r>
          </a:p>
          <a:p/>
          <a:p>
            <a:r>
              <a:t>文献依据：</a:t>
            </a:r>
          </a:p>
          <a:p>
            <a:r>
              <a:t>[R5] Medvedev et al., 2023. Frontiers, challenges, and solutions in modeling of swift heavy ion effects in materials. J. Appl. Phys. 133, 100701. https://doi.org/10.1063/5.0128774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建议用时：50秒</a:t>
            </a:r>
          </a:p>
          <a:p/>
          <a:p>
            <a:r>
              <a:t>这张图只给数量级，不给固定分界。综述把最早的电离沉积放在阿秒尺度，把电子和空穴级联与输运放在飞秒尺度，晶格激发及响应常到皮秒尺度，而后续原子松弛可延伸到纳秒或更长。不同机制有重叠，例如电子—声子散射可以在电子整体热化以前开始。真实材料中不能用一条固定的1皮秒界线把所有阶段分开。研究时要检查模型是否覆盖了相应尺度。</a:t>
            </a:r>
          </a:p>
          <a:p/>
          <a:p>
            <a:r>
              <a:t>文献依据：</a:t>
            </a:r>
          </a:p>
          <a:p>
            <a:r>
              <a:t>[R5] Medvedev et al., 2023. Frontiers, challenges, and solutions in modeling of swift heavy ion effects in materials. J. Appl. Phys. 133, 100701. https://doi.org/10.1063/5.0128774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建议用时：80秒</a:t>
            </a:r>
          </a:p>
          <a:p/>
          <a:p>
            <a:r>
              <a:t>电子—声子耦合的微观来源是原子位移对电子势能的调制。把原子位置写成平衡位置加位移u，对势能作一阶展开，位移项成为电子与振动模式之间的相互作用。将集体振动量子化，便得到电子—声子哈密顿量。电子发生非弹性跃迁时，电子能量变化与某个振动模式的声子能量相匹配。图画的是电子释放能量的一次跃迁。散射矩阵元取决于电子态、声子模式和材料的电子结构。这个集体模式描述比孤立原子的碰撞图景更适合晶体。</a:t>
            </a:r>
          </a:p>
          <a:p/>
          <a:p>
            <a:r>
              <a:t>文献依据：</a:t>
            </a:r>
          </a:p>
          <a:p>
            <a:r>
              <a:t>[R1] Allen, 1987. Theory of thermal relaxation of electrons in metals. Phys. Rev. Lett. 59, 1460–1463. https://doi.org/10.1103/PhysRevLett.59.1460</a:t>
            </a:r>
          </a:p>
          <a:p>
            <a:r>
              <a:t>[R12] Giustino, 2017. Electron-phonon interactions from first principles. Rev. Mod. Phys. 89, 015003. https://doi.org/10.1103/RevModPhys.89.015003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建议用时：70秒</a:t>
            </a:r>
          </a:p>
          <a:p/>
          <a:p>
            <a:r>
              <a:t>声子发射和吸收都存在。发射时电子损失hbar omega、该模式的声子数增加；吸收时相反。式中的n+1含自发发射和受激发射，n是吸收的玻色占据因素。这里仅显示核心因子，完整费米黄金律还必须包含初态电子占据f、末态未占据因子1-f，以及能量守恒delta函数。在准平衡且Te大于Tl时，所有过程求和后的净能量流通常指向晶格。当两子系统平衡时发射与吸收满足细致平衡。对于固定频率的非相干谐振模式，广义坐标Q的均方幅度为hbar(n+1/2)/(M_eff omega)，因此声子占据增加意味着该模式的振动幅度增大。实际原子位移需要对所有模式按极化矢量和质量求和；相干运动和强非谐情况需另行分析。每种声子模式的获能可以不同，因此先增加的声子占据不一定立刻对应唯一晶格温度。</a:t>
            </a:r>
          </a:p>
          <a:p/>
          <a:p>
            <a:r>
              <a:t>文献依据：</a:t>
            </a:r>
          </a:p>
          <a:p>
            <a:r>
              <a:t>[R1] Allen, 1987. Theory of thermal relaxation of electrons in metals. Phys. Rev. Lett. 59, 1460–1463. https://doi.org/10.1103/PhysRevLett.59.1460</a:t>
            </a:r>
          </a:p>
          <a:p>
            <a:r>
              <a:t>[R4] Waldecker et al., 2016. Electron-Phonon Coupling and Energy Flow in a Simple Metal beyond the Two-Temperature Approximation. Phys. Rev. X 6, 021003. https://doi.org/10.1103/PhysRevX.6.021003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建议用时：70秒</a:t>
            </a:r>
          </a:p>
          <a:p/>
          <a:p>
            <a:r>
              <a:t>电子—电子散射可以使电子分布趋向费米分布，但主要在电子体系内部重分配能量，并不等价于晶格加热。只有电子局部热化后，才适合用电子温度Te来压缩描述电子分布。同样，电子可能先激发某一类声子，声子之间尚未热化，此时一个Tl无法完整描述整个晶格。Waldecker等在激光激发铝的研究表明，按声子分支区分的模型能解释单一双温模型的偏差。这是模型适用性证据，不能把激光实验当作重离子径迹的直接原位测量。对于液态或高度无序区，应使用电子—离子能量交换及原子动力学的更一般描述。</a:t>
            </a:r>
          </a:p>
          <a:p/>
          <a:p>
            <a:r>
              <a:t>文献依据：</a:t>
            </a:r>
          </a:p>
          <a:p>
            <a:r>
              <a:t>[R1] Allen, 1987. Theory of thermal relaxation of electrons in metals. Phys. Rev. Lett. 59, 1460–1463. https://doi.org/10.1103/PhysRevLett.59.1460</a:t>
            </a:r>
          </a:p>
          <a:p>
            <a:r>
              <a:t>[R4] Waldecker et al., 2016. Electron-Phonon Coupling and Energy Flow in a Simple Metal beyond the Two-Temperature Approximation. Phys. Rev. X 6, 021003. https://doi.org/10.1103/PhysRevX.6.021003</a:t>
            </a:r>
          </a:p>
          <a:p>
            <a:r>
              <a:t>[R5] Medvedev et al., 2023. Frontiers, challenges, and solutions in modeling of swift heavy ion effects in materials. J. Appl. Phys. 133, 100701. https://doi.org/10.1063/5.0128774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建议用时：90秒</a:t>
            </a:r>
          </a:p>
          <a:p/>
          <a:p>
            <a:r>
              <a:t>经典双温模型把材料看成电子和晶格两个能量子系统。Ce和Cl在这里均为体积热容，单位J每立方米每开尔文；Ke和Kl为热导率。G是体积电子—声子能量交换系数，单位W每立方米每开尔文。A是电子沉积源，单位W每立方米。电子方程损失的G乘温差，正好进入晶格方程。两式相加，耦合项抵消，只剩外部能量输入和输运。非弹性热峰模型以离子轨迹周围的径向沉积为几何背景。这个模型为跨尺度连接提供框架，但G、Ce、Ke可随温度和状态变化，不能任意从常温或激光表格拿一个数用于所有辐照条件。相变要加入焓或潜热，后面展开。</a:t>
            </a:r>
          </a:p>
          <a:p/>
          <a:p>
            <a:r>
              <a:t>文献依据：</a:t>
            </a:r>
          </a:p>
          <a:p>
            <a:r>
              <a:t>[R1] Allen, 1987. Theory of thermal relaxation of electrons in metals. Phys. Rev. Lett. 59, 1460–1463. https://doi.org/10.1103/PhysRevLett.59.1460</a:t>
            </a:r>
          </a:p>
          <a:p>
            <a:r>
              <a:t>[R2] Toulemonde, Dufour &amp; Paumier, 1992. Transient thermal process after a high-energy heavy-ion irradiation of amorphous metals and semiconductors. Phys. Rev. B 46, 14362–14369. https://doi.org/10.1103/PhysRevB.46.14362</a:t>
            </a:r>
          </a:p>
          <a:p>
            <a:r>
              <a:t>[R3] Lin, Zhigilei &amp; Celli, 2008. Electron-phonon coupling and electron heat capacity of metals under conditions of strong electron-phonon nonequilibrium. Phys. Rev. B 77, 075133. https://doi.org/10.1103/PhysRevB.77.075133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建议用时：65秒</a:t>
            </a:r>
          </a:p>
          <a:p/>
          <a:p>
            <a:r>
              <a:t>理解热峰不能只看耦合常数。假设晶格温度近似固定、参数为常数，那么电子温差衰减的时间尺度约为Ce/G。电子径向扩散的时间尺度约为R平方除以电子扩散率De，其中De等于Ke/Ce，省略与几何和边界有关的系数。二者的比值可写为G R平方/Ke。大比值意味着在能量扩散离开之前，更容易把能量交给近轨迹晶格。这个比值只是近似判据，不是普适径迹阈值。如果考虑两个有限热容量、忽略空间输运，则电子晶格温差的完整弛豫时间为CeCl/[G(Ce+Cl)]，推导在备份页。在激发密度和材料变化时，还要重新评估所有参数。</a:t>
            </a:r>
          </a:p>
          <a:p/>
          <a:p>
            <a:r>
              <a:t>文献依据：</a:t>
            </a:r>
          </a:p>
          <a:p>
            <a:r>
              <a:t>[R2] Toulemonde, Dufour &amp; Paumier, 1992. Transient thermal process after a high-energy heavy-ion irradiation of amorphous metals and semiconductors. Phys. Rev. B 46, 14362–14369. https://doi.org/10.1103/PhysRevB.46.14362</a:t>
            </a:r>
          </a:p>
          <a:p>
            <a:r>
              <a:t>[R5] Medvedev et al., 2023. Frontiers, challenges, and solutions in modeling of swift heavy ion effects in materials. J. Appl. Phys. 133, 100701. https://doi.org/10.1063/5.0128774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建议用时：65秒</a:t>
            </a:r>
          </a:p>
          <a:p/>
          <a:p>
            <a:r>
              <a:t>这页给出独立计算的教学曲线，所有参数都是假设，未对应某个实际材料。初始电子温度12000K，初始晶格和环境温度300K；Ce=2乘10的5次J每立方米每开尔文，Cl=2.5乘10的6次同单位；电子能量逃逸时间0.5ps。只把G从2乘10的17次改为2乘10的18次W每立方米每开尔文。电子方程额外加入向环境逃逸项−Ce(Te−T0)/tauesc。结果晶格温度峰值分别约588K和1005K。差异来源于能量是先进入晶格还是先离开这个局域区域。电子、晶格和已逃逸能量的总和在数值上守恒。该模型仅描述显热，没有潜热、成核、原子重排，因此即使温度曲线很高，也不能把它当作熔融或真实径迹半径的预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建议用时：65秒</a:t>
            </a:r>
          </a:p>
          <a:p/>
          <a:p>
            <a:r>
              <a:t>在热机制的能量预算中，完整熔融所需的体积焓包括从初始温度到熔点的总平衡体积热容积分（包含电子贡献），以及rho乘质量比熔化潜热Lf。如果忽略潜热，只检查Tl是否越过平衡熔点，就可能高估熔融体积。图为相变焓的概念示意，横轴1对应熔点，纵向跃增表示潜热，无材料数值。此教学预算忽略机械功，快速辐照下的纳米区域还有压力、过热、成核延迟与强非均匀性。充分的焓是理想化热熔融的能量条件，但仍不足以证明相变真的发生。判断液态最好同时查看原子扩散、径向分布函数或时间分辨结构信号。Lindemann类均方位移判据可作提示，单独一个振动幅度阈值难以成为普适证据。</a:t>
            </a:r>
          </a:p>
          <a:p/>
          <a:p>
            <a:r>
              <a:t>文献依据：</a:t>
            </a:r>
          </a:p>
          <a:p>
            <a:r>
              <a:t>[R2] Toulemonde, Dufour &amp; Paumier, 1992. Transient thermal process after a high-energy heavy-ion irradiation of amorphous metals and semiconductors. Phys. Rev. B 46, 14362–14369. https://doi.org/10.1103/PhysRevB.46.14362</a:t>
            </a:r>
          </a:p>
          <a:p>
            <a:r>
              <a:t>[R5] Medvedev et al., 2023. Frontiers, challenges, and solutions in modeling of swift heavy ion effects in materials. J. Appl. Phys. 133, 100701. https://doi.org/10.1063/5.0128774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建议用时：55秒</a:t>
            </a:r>
          </a:p>
          <a:p/>
          <a:p>
            <a:r>
              <a:t>Se是每单位路径能量，而完全熔融一个半径R的圆柱，每单位长度至少需要pi R平方乘熔融体积焓。令eta表示可用于该局域熔融区的能量占电子阻止能量的比例，就得到一个条件式上界。以教学假设Se=10keV/nm、eta=0.3、hm=5乘10的9次J每立方米为例，10keV/nm换算成1.602乘10的负6次J/m；代入得半径约5.53nm。hm已经包含潜热，eta没有来自材料拟合。该计算还假设圆柱内均匀且完全熔融，没有额外机械、化学或热传导支出，因此是条件式上界。曲线展示eta的不确定性如何影响结果，不能把5.5nm写成任何实际材料的径迹半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建议用时：65秒</a:t>
            </a:r>
          </a:p>
          <a:p/>
          <a:p>
            <a:r>
              <a:t>这里区分能量转移的微观来源。热路径强调电子或空穴通过非弹性散射向原子振动传递能量；非热路径强调电子占据改变导致原子间势能面变化，使原子受到新的力。后者释放的势能同样可以转化为原子动能，所以看到快速原子升温不必然说明常规电子—声子散射足够快。非热机制对材料、电子结构和激发密度敏感，两者也会并行。高激发、接近熔融或已经液化时，严格的谐波晶体声子图景会失效，应使用更一般的电子—离子能量交换和原子动力学。不能把所有材料的径迹都归因于同一个非热机制。</a:t>
            </a:r>
          </a:p>
          <a:p/>
          <a:p>
            <a:r>
              <a:t>文献依据：</a:t>
            </a:r>
          </a:p>
          <a:p>
            <a:r>
              <a:t>[R6] Medvedev, Voronkov &amp; Volkov, 2024. Nonthermal effects in solids after swift heavy ion impact. Nucl. Instrum. Methods B 547, 165218. https://doi.org/10.1016/j.nimb.2023.165218</a:t>
            </a:r>
          </a:p>
          <a:p>
            <a:r>
              <a:t>[R9] Medvedev &amp; Volkov, 2022. Nonthermal acceleration of atoms as a mechanism of fast lattice heating in ion tracks. J. Appl. Phys. 131, 225903. https://doi.org/10.1063/5.0095724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建议用时：65秒</a:t>
            </a:r>
          </a:p>
          <a:p/>
          <a:p>
            <a:r>
              <a:t>这张表是机制分类，不是严格材料排序。金属通常有较多自由电子，电子热化和能量输运可很快；但不同金属的d带态密度等使Ce和G随电子温度的变化显著不同。半导体在辐照后既有电子也有空穴，载流子数、带隙、复合和扩散都会影响能量流，单一温度未必足够。绝缘体中的电离、空穴、自陷和局域激发可以参与结构变化。还要考虑材料是否容易非晶化、是否会快速外延再结晶以及初始缺陷。不能简单断言所有绝缘体耦合更强，或者所有金属不会形成径迹。参数只能在指定材料、离子和条件下讨论。</a:t>
            </a:r>
          </a:p>
          <a:p/>
          <a:p>
            <a:r>
              <a:t>文献依据：</a:t>
            </a:r>
          </a:p>
          <a:p>
            <a:r>
              <a:t>[R3] Lin, Zhigilei &amp; Celli, 2008. Electron-phonon coupling and electron heat capacity of metals under conditions of strong electron-phonon nonequilibrium. Phys. Rev. B 77, 075133. https://doi.org/10.1103/PhysRevB.77.075133</a:t>
            </a:r>
          </a:p>
          <a:p>
            <a:r>
              <a:t>[R5] Medvedev et al., 2023. Frontiers, challenges, and solutions in modeling of swift heavy ion effects in materials. J. Appl. Phys. 133, 100701. https://doi.org/10.1063/5.0128774</a:t>
            </a:r>
          </a:p>
          <a:p>
            <a:r>
              <a:t>[R6] Medvedev, Voronkov &amp; Volkov, 2024. Nonthermal effects in solids after swift heavy ion impact. Nucl. Instrum. Methods B 547, 165218. https://doi.org/10.1016/j.nimb.2023.165218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建议用时：75秒</a:t>
            </a:r>
          </a:p>
          <a:p/>
          <a:p>
            <a:r>
              <a:t>这页使用Kluth等2008年表I的真实SAXS拟合值重绘，没有从示意曲线制造实验点。样品为室温辐照的2微米热生长非晶SiO2薄膜。Au初始能量27.4、54、89、185MeV对应平均Se为4、7.5、11、16.5keV/nm，总径迹半径为2.4±0.2、4.2±0.1、4.9±0.1、5.4±0.1nm；Xe的两点为初始1430、644MeV，平均Se为13.6、16keV/nm，总半径4.0±0.3、4.3±0.2nm。误差由原文对拟合参数相关性的系统分析估计，不自行传播或另定置信水平。R等于平均核心半径Rc加平均壳厚Ts。源表的Å转为nm时除以10。测量的是SAXS散射强度，半径和核壳剖面来自模型拟合，不能称为直接空间成像。原文讨论与热峰和MD一致，但终态结构仍不能唯一证明瞬态路径；Amekura2018指出核壳结构不要求先发生汽化。</a:t>
            </a:r>
          </a:p>
          <a:p/>
          <a:p>
            <a:r>
              <a:t>文献依据：</a:t>
            </a:r>
          </a:p>
          <a:p>
            <a:r>
              <a:t>[R7] Kluth et al., 2008. Fine Structure in Swift Heavy Ion Tracks in Amorphous SiO2. Phys. Rev. Lett. 101, 175503. https://doi.org/10.1103/PhysRevLett.101.175503</a:t>
            </a:r>
          </a:p>
          <a:p>
            <a:r>
              <a:t>[R10] Amekura et al., 2018. Vaporlike phase of amorphous SiO2 is not a prerequisite for the core/shell ion tracks or ion shaping. Phys. Rev. Materials 2, 096001. https://doi.org/10.1103/PhysRevMaterials.2.096001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建议用时：60秒</a:t>
            </a:r>
          </a:p>
          <a:p/>
          <a:p>
            <a:r>
              <a:t>Meftah等在磁性绝缘体中报告了损伤截面的速度效应，指出电子阻止本领相同也不能保证损伤相同。一个常见解释是离子速度改变次级电子能谱和径向沉积范围，从而改变局部能量密度。图采用两个二维归一化高斯，按2pi r积分的总能量相同，宽度分别为任意单位1.6与3.0。较宽沉积的中心密度较低。积分至无穷远时才完全归一化，图仅显示至r=8，宽曲线尚有约2.9%尾部在图外。曲线完全是概念示意，不是原论文数据或材料预测。真实速度效应与材料、速度区间和阈值有关，本页不声称所有材料都遵循同一个半径随速度变化规律。</a:t>
            </a:r>
          </a:p>
          <a:p/>
          <a:p>
            <a:r>
              <a:t>文献依据：</a:t>
            </a:r>
          </a:p>
          <a:p>
            <a:r>
              <a:t>[R8] Meftah et al., 1993. Swift heavy ions in magnetic insulators: A damage-cross-section velocity effect. Phys. Rev. B 48, 920–925. https://doi.org/10.1103/PhysRevB.48.920</a:t>
            </a:r>
          </a:p>
          <a:p>
            <a:r>
              <a:t>[R5] Medvedev et al., 2023. Frontiers, challenges, and solutions in modeling of swift heavy ion effects in materials. J. Appl. Phys. 133, 100701. https://doi.org/10.1063/5.0128774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建议用时：60秒</a:t>
            </a:r>
          </a:p>
          <a:p/>
          <a:p>
            <a:r>
              <a:t>机制研究要避免只用一个终态尺寸拟合一个常数，然后把拟合当作唯一微观证明。TEM和SAXS可以约束终态结构，但不能直接给出初始电子分布或耦合的时间历程。时间分辨衍射及散射能够约束原子运动，但温度解释可能受到声子模式非平衡影响。电子探测补充电子能量和载流子信息。模拟则把这些约束连接起来，需要检查源项、输运、势函数与相变的可信度。实际重离子过程的原位超快测量较难，因此激光实验可用于校验材料动力学和参数量级，却不能直接替代离子几何和沉积源条件。</a:t>
            </a:r>
          </a:p>
          <a:p/>
          <a:p>
            <a:r>
              <a:t>文献依据：</a:t>
            </a:r>
          </a:p>
          <a:p>
            <a:r>
              <a:t>[R4] Waldecker et al., 2016. Electron-Phonon Coupling and Energy Flow in a Simple Metal beyond the Two-Temperature Approximation. Phys. Rev. X 6, 021003. https://doi.org/10.1103/PhysRevX.6.021003</a:t>
            </a:r>
          </a:p>
          <a:p>
            <a:r>
              <a:t>[R5] Medvedev et al., 2023. Frontiers, challenges, and solutions in modeling of swift heavy ion effects in materials. J. Appl. Phys. 133, 100701. https://doi.org/10.1063/5.0128774</a:t>
            </a:r>
          </a:p>
          <a:p>
            <a:r>
              <a:t>[R7] Kluth et al., 2008. Fine Structure in Swift Heavy Ion Tracks in Amorphous SiO2. Phys. Rev. Lett. 101, 175503. https://doi.org/10.1103/PhysRevLett.101.175503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建议用时：60秒</a:t>
            </a:r>
          </a:p>
          <a:p/>
          <a:p>
            <a:r>
              <a:t>如果向导师提出下一步研究，我建议把问题化成可以区分机制的预测。第一步明确材料组成、晶体或非晶状态、厚度、离子种类和能量，建立实验或文献基线。第二步获得电子和核阻止本领并建立径向源项，注意简单SRIM线能量损失并不提供完整飞秒级电子级联。第三步做参数敏感性，把G、电子输运与Ce分开变化，不只优化一个参数去拟合半径。第四步将预测同时与结构半径、核壳密度、缺陷及再结晶比较。两个有判别力的条件扫描是相同Se附近改变离子速度，以及同一束流下改变初始温度。若经典热模型在独立约束下仍无法解释快速原子获能或结构变化，再有针对性地加入非热势能面变化，避免先下结论。</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建议用时：55秒</a:t>
            </a:r>
          </a:p>
          <a:p/>
          <a:p>
            <a:r>
              <a:t>最后直接回应导师的问题。高能重离子首先激发和电离电子，产生次级电子与空间能量分布。原子位移对电子势的调制允许电子与振动模式发生非弹性散射；当电子体系更热时，净声子发射使晶格获得能量。不同振动模式通过声子—声子散射再分配能量，原子热运动随之增强。只有局域能量足够覆盖升温和潜热、结构转变来得及发生时，热路径才可能形成瞬态液态。冷却后是否留下永久径迹，还取决于再结晶和缺陷保留。对强激发材料还需要考虑电子占据改变原子间势的并行非热通道。因此建议把研究集中在局域沉积、耦合速率、输运速率和结构证据的联合约束。</a:t>
            </a:r>
          </a:p>
          <a:p/>
          <a:p>
            <a:r>
              <a:t>文献依据：</a:t>
            </a:r>
          </a:p>
          <a:p>
            <a:r>
              <a:t>[R1] Allen, 1987. Theory of thermal relaxation of electrons in metals. Phys. Rev. Lett. 59, 1460–1463. https://doi.org/10.1103/PhysRevLett.59.1460</a:t>
            </a:r>
          </a:p>
          <a:p>
            <a:r>
              <a:t>[R2] Toulemonde, Dufour &amp; Paumier, 1992. Transient thermal process after a high-energy heavy-ion irradiation of amorphous metals and semiconductors. Phys. Rev. B 46, 14362–14369. https://doi.org/10.1103/PhysRevB.46.14362</a:t>
            </a:r>
          </a:p>
          <a:p>
            <a:r>
              <a:t>[R5] Medvedev et al., 2023. Frontiers, challenges, and solutions in modeling of swift heavy ion effects in materials. J. Appl. Phys. 133, 100701. https://doi.org/10.1063/5.0128774</a:t>
            </a:r>
          </a:p>
          <a:p>
            <a:r>
              <a:t>[R6] Medvedev, Voronkov &amp; Volkov, 2024. Nonthermal effects in solids after swift heavy ion impact. Nucl. Instrum. Methods B 547, 165218. https://doi.org/10.1016/j.nimb.2023.165218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一个省略电子自旋与能带索引的示意写法。c和c†是电子湮灭与产生算符，b和b†是声子算符，k为电子波矢，q为声子波矢，nu为声子模式。矩阵元M来自电子势对模式位移的导数，并包含量子化位移的归一化。黄金律的发射项含初态电子占据f_i、末态空位1−f_f、声子占据n+1以及delta能量守恒。吸收是n且满足电子能量增加hbar omega。晶体动量可包含倒格矢，即Umklapp。高激发无序体系或液态中不能机械套用理想晶体声子算符，应改用更一般的电子—离子动力学。</a:t>
            </a:r>
          </a:p>
          <a:p/>
          <a:p>
            <a:r>
              <a:t>文献依据：</a:t>
            </a:r>
          </a:p>
          <a:p>
            <a:r>
              <a:t>[R12] Giustino, 2017. Electron-phonon interactions from first principles. Rev. Mod. Phys. 89, 015003. https://doi.org/10.1103/RevModPhys.89.015003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取局域轴对称和忽略沿离子路径温度梯度的近似，可把热扩散算符写为柱坐标的1/r乘径向导数。中心r=0使用对称边界而不是直接数值除以0，远离轨迹可取初始温度。源项对时间和横截面的积分等于每单位长度的电子能量损失Se，但如果Se中有离开有限样品的δ电子能量，源项可用的局域能量应另行核算。电子与晶格参数可以是温度和状态函数。包含核阻止时，需要额外源项或独立处理碰撞级联，不能默默把所有损伤归到A。经典热峰模型对极早的非热电子输运是有效近似。</a:t>
            </a:r>
          </a:p>
          <a:p/>
          <a:p>
            <a:r>
              <a:t>文献依据：</a:t>
            </a:r>
          </a:p>
          <a:p>
            <a:r>
              <a:t>[R2] Toulemonde, Dufour &amp; Paumier, 1992. Transient thermal process after a high-energy heavy-ion irradiation of amorphous metals and semiconductors. Phys. Rev. B 46, 14362–14369. https://doi.org/10.1103/PhysRevB.46.14362</a:t>
            </a:r>
          </a:p>
          <a:p>
            <a:r>
              <a:t>[R5] Medvedev et al., 2023. Frontiers, challenges, and solutions in modeling of swift heavy ion effects in materials. J. Appl. Phys. 133, 100701. https://doi.org/10.1063/5.0128774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导的条件是两个均匀的子系统，源项已经结束，无扩散，Ce、Cl和G均为常数。用电子方程减去晶格方程得到温差的指数衰减。tau_rel=CeCl/[G(Ce+Cl)]；只有Cl远大于Ce时才近似Ce/G。若把晶格严格当作固定冷库也会得到Ce/G。Ce可能随Te变化，这时必须积分而不是用单一常数时间。不要把无输运的温差平衡时间与实际空间热峰或轨迹冷却时间混为一谈。</a:t>
            </a:r>
          </a:p>
          <a:p/>
          <a:p>
            <a:r>
              <a:t>文献依据：</a:t>
            </a:r>
          </a:p>
          <a:p>
            <a:r>
              <a:t>[R1] Allen, 1987. Theory of thermal relaxation of electrons in metals. Phys. Rev. Lett. 59, 1460–1463. https://doi.org/10.1103/PhysRevLett.59.1460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电子逃逸项把本地电子过剩能量送往固定环境T0，模拟从局域体积输运出去的能量。这不是完整径向扩散方程。令逃逸能量的变化率为Ce(Te−T0)/tauesc，再把三类能量相加即守恒。这里采用解析矩阵指数解，在所采样时刻的能量守恒相对误差小于2乘10的负15次。G单位为W每立方米每开尔文。初始多余能量密度Ce乘11700K为2.34乘10的9次J每立方米。模型没有晶格热扩散、潜热、复合及结构转变，所以不应用于任何具体材料的熔融阈值。所有采样曲线已作为原生可编辑图表嵌入PP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微观电子—声子耦合常用Eliashberg谱函数alpha平方F及其无量纲积分lambda来表征，而双温模型的G是体积能量交换系数，单位不同。两者的联系还涉及谱矩、电子态密度和占据，不能把lambda=0.几直接当作G的量级。Lin等显示Ce和G的温度依赖对金属可以显著偏离线性热容和常数耦合。Waldecker等说明用单一Tl拟合时得到的G可能与第一性原理结果不同。轨迹模型中的G也可能补偿源项或输运误差，因此要用独立资料约束。</a:t>
            </a:r>
          </a:p>
          <a:p/>
          <a:p>
            <a:r>
              <a:t>文献依据：</a:t>
            </a:r>
          </a:p>
          <a:p>
            <a:r>
              <a:t>[R1] Allen, 1987. Theory of thermal relaxation of electrons in metals. Phys. Rev. Lett. 59, 1460–1463. https://doi.org/10.1103/PhysRevLett.59.1460</a:t>
            </a:r>
          </a:p>
          <a:p>
            <a:r>
              <a:t>[R3] Lin, Zhigilei &amp; Celli, 2008. Electron-phonon coupling and electron heat capacity of metals under conditions of strong electron-phonon nonequilibrium. Phys. Rev. B 77, 075133. https://doi.org/10.1103/PhysRevB.77.075133</a:t>
            </a:r>
          </a:p>
          <a:p>
            <a:r>
              <a:t>[R4] Waldecker et al., 2016. Electron-Phonon Coupling and Energy Flow in a Simple Metal beyond the Two-Temperature Approximation. Phys. Rev. X 6, 021003. https://doi.org/10.1103/PhysRevX.6.021003</a:t>
            </a:r>
          </a:p>
          <a:p>
            <a:r>
              <a:t>[R5] Medvedev et al., 2023. Frontiers, challenges, and solutions in modeling of swift heavy ion effects in materials. J. Appl. Phys. 133, 100701. https://doi.org/10.1063/5.0128774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疑时把机制、模型和观测分开。第一，电子—电子散射不等价于电子—晶格能量交换。第二，声子的存在和数量增加不能直接证明熔融。第三，液体没有理想晶体长寿命谐波声子，术语应转向电子—离子交换。第四，非晶化或核壳径迹是终态结构，不能单凭终态证明热熔融，因为还可能存在非热失稳、直接缺陷生成和其他重排过程。</a:t>
            </a:r>
          </a:p>
          <a:p/>
          <a:p>
            <a:r>
              <a:t>文献依据：</a:t>
            </a:r>
          </a:p>
          <a:p>
            <a:r>
              <a:t>[R1] Allen, 1987. Theory of thermal relaxation of electrons in metals. Phys. Rev. Lett. 59, 1460–1463. https://doi.org/10.1103/PhysRevLett.59.1460</a:t>
            </a:r>
          </a:p>
          <a:p>
            <a:r>
              <a:t>[R4] Waldecker et al., 2016. Electron-Phonon Coupling and Energy Flow in a Simple Metal beyond the Two-Temperature Approximation. Phys. Rev. X 6, 021003. https://doi.org/10.1103/PhysRevX.6.021003</a:t>
            </a:r>
          </a:p>
          <a:p>
            <a:r>
              <a:t>[R5] Medvedev et al., 2023. Frontiers, challenges, and solutions in modeling of swift heavy ion effects in materials. J. Appl. Phys. 133, 100701. https://doi.org/10.1063/5.0128774</a:t>
            </a:r>
          </a:p>
          <a:p>
            <a:r>
              <a:t>[R6] Medvedev, Voronkov &amp; Volkov, 2024. Nonthermal effects in solids after swift heavy ion impact. Nucl. Instrum. Methods B 547, 165218. https://doi.org/10.1016/j.nimb.2023.165218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年Swain、Kuttruff、Vorberger和Baum在单晶硅中用超快电子衍射研究光激发后载流子的弛豫。他们报告载流子密度较高时，向声子弛豫反而更慢。这一观测提示不能预设电子激发越强，常规电子—声子散射就必然越快。这里不把激光结果当作重离子沉积源的直接测量，也不把某个实验时间直接代入离子径迹。其用途是加强材料参数的适用边界：要明确载流子密度、电子温度、能带和测量模型。</a:t>
            </a:r>
          </a:p>
          <a:p/>
          <a:p>
            <a:r>
              <a:t>文献依据：</a:t>
            </a:r>
          </a:p>
          <a:p>
            <a:r>
              <a:t>[R11] Swain et al., 2025. Stronger femtosecond excitation causes slower electron-phonon coupling in silicon. Phys. Rev. Research 7, 023114. https://doi.org/10.1103/PhysRevResearch.7.023114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列出用于汇报的原始论文与综述。经典理论、材料参数、原始径迹实验、模式非平衡和非热效应分别由不同文献支撑。点击DOI可以打开文献入口。引用文章不是证明本组样品已有相同参数；材料和束流还需具体确定。</a:t>
            </a:r>
          </a:p>
          <a:p/>
          <a:p>
            <a:r>
              <a:t>文献依据：</a:t>
            </a:r>
          </a:p>
          <a:p>
            <a:r>
              <a:t>[R1] Allen, 1987. Theory of thermal relaxation of electrons in metals. Phys. Rev. Lett. 59, 1460–1463. https://doi.org/10.1103/PhysRevLett.59.1460</a:t>
            </a:r>
          </a:p>
          <a:p>
            <a:r>
              <a:t>[R2] Toulemonde, Dufour &amp; Paumier, 1992. Transient thermal process after a high-energy heavy-ion irradiation of amorphous metals and semiconductors. Phys. Rev. B 46, 14362–14369. https://doi.org/10.1103/PhysRevB.46.14362</a:t>
            </a:r>
          </a:p>
          <a:p>
            <a:r>
              <a:t>[R3] Lin, Zhigilei &amp; Celli, 2008. Electron-phonon coupling and electron heat capacity of metals under conditions of strong electron-phonon nonequilibrium. Phys. Rev. B 77, 075133. https://doi.org/10.1103/PhysRevB.77.075133</a:t>
            </a:r>
          </a:p>
          <a:p>
            <a:r>
              <a:t>[R4] Waldecker et al., 2016. Electron-Phonon Coupling and Energy Flow in a Simple Metal beyond the Two-Temperature Approximation. Phys. Rev. X 6, 021003. https://doi.org/10.1103/PhysRevX.6.021003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列出用于汇报的原始论文与综述。经典理论、材料参数、原始径迹实验、模式非平衡和非热效应分别由不同文献支撑。点击DOI可以打开文献入口。引用文章不是证明本组样品已有相同参数；材料和束流还需具体确定。</a:t>
            </a:r>
          </a:p>
          <a:p/>
          <a:p>
            <a:r>
              <a:t>文献依据：</a:t>
            </a:r>
          </a:p>
          <a:p>
            <a:r>
              <a:t>[R5] Medvedev et al., 2023. Frontiers, challenges, and solutions in modeling of swift heavy ion effects in materials. J. Appl. Phys. 133, 100701. https://doi.org/10.1063/5.0128774</a:t>
            </a:r>
          </a:p>
          <a:p>
            <a:r>
              <a:t>[R6] Medvedev, Voronkov &amp; Volkov, 2024. Nonthermal effects in solids after swift heavy ion impact. Nucl. Instrum. Methods B 547, 165218. https://doi.org/10.1016/j.nimb.2023.165218</a:t>
            </a:r>
          </a:p>
          <a:p>
            <a:r>
              <a:t>[R7] Kluth et al., 2008. Fine Structure in Swift Heavy Ion Tracks in Amorphous SiO2. Phys. Rev. Lett. 101, 175503. https://doi.org/10.1103/PhysRevLett.101.175503</a:t>
            </a:r>
          </a:p>
          <a:p>
            <a:r>
              <a:t>[R8] Meftah et al., 1993. Swift heavy ions in magnetic insulators: A damage-cross-section velocity effect. Phys. Rev. B 48, 920–925. https://doi.org/10.1103/PhysRevB.48.920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列出用于汇报的原始论文与综述。经典理论、材料参数、原始径迹实验、模式非平衡和非热效应分别由不同文献支撑。点击DOI可以打开文献入口。引用文章不是证明本组样品已有相同参数；材料和束流还需具体确定。</a:t>
            </a:r>
          </a:p>
          <a:p/>
          <a:p>
            <a:r>
              <a:t>文献依据：</a:t>
            </a:r>
          </a:p>
          <a:p>
            <a:r>
              <a:t>[R9] Medvedev &amp; Volkov, 2022. Nonthermal acceleration of atoms as a mechanism of fast lattice heating in ion tracks. J. Appl. Phys. 131, 225903. https://doi.org/10.1063/5.0095724</a:t>
            </a:r>
          </a:p>
          <a:p>
            <a:r>
              <a:t>[R10] Amekura et al., 2018. Vaporlike phase of amorphous SiO2 is not a prerequisite for the core/shell ion tracks or ion shaping. Phys. Rev. Materials 2, 096001. https://doi.org/10.1103/PhysRevMaterials.2.096001</a:t>
            </a:r>
          </a:p>
          <a:p>
            <a:r>
              <a:t>[R11] Swain et al., 2025. Stronger femtosecond excitation causes slower electron-phonon coupling in silicon. Phys. Rev. Research 7, 023114. https://doi.org/10.1103/PhysRevResearch.7.023114</a:t>
            </a:r>
          </a:p>
          <a:p>
            <a:r>
              <a:t>[R12] Giustino, 2017. Electron-phonon interactions from first principles. Rev. Mod. Phys. 89, 015003. https://doi.org/10.1103/RevModPhys.89.015003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03/PhysRevLett.59.1460" TargetMode="External"/><Relationship Id="rId3" Type="http://schemas.openxmlformats.org/officeDocument/2006/relationships/hyperlink" Target="https://doi.org/10.1103/PhysRevB.46.14362" TargetMode="External"/><Relationship Id="rId4" Type="http://schemas.openxmlformats.org/officeDocument/2006/relationships/hyperlink" Target="https://doi.org/10.1103/PhysRevB.77.075133" TargetMode="External"/><Relationship Id="rId5" Type="http://schemas.openxmlformats.org/officeDocument/2006/relationships/hyperlink" Target="https://doi.org/10.1103/PhysRevX.6.021003" TargetMode="Externa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63/5.0128774" TargetMode="External"/><Relationship Id="rId3" Type="http://schemas.openxmlformats.org/officeDocument/2006/relationships/hyperlink" Target="https://doi.org/10.1016/j.nimb.2023.165218" TargetMode="External"/><Relationship Id="rId4" Type="http://schemas.openxmlformats.org/officeDocument/2006/relationships/hyperlink" Target="https://doi.org/10.1103/PhysRevLett.101.175503" TargetMode="External"/><Relationship Id="rId5" Type="http://schemas.openxmlformats.org/officeDocument/2006/relationships/hyperlink" Target="https://doi.org/10.1103/PhysRevB.48.920" TargetMode="Externa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63/5.0095724" TargetMode="External"/><Relationship Id="rId3" Type="http://schemas.openxmlformats.org/officeDocument/2006/relationships/hyperlink" Target="https://doi.org/10.1103/PhysRevMaterials.2.096001" TargetMode="External"/><Relationship Id="rId4" Type="http://schemas.openxmlformats.org/officeDocument/2006/relationships/hyperlink" Target="https://doi.org/10.1103/PhysRevResearch.7.023114" TargetMode="External"/><Relationship Id="rId5" Type="http://schemas.openxmlformats.org/officeDocument/2006/relationships/hyperlink" Target="https://doi.org/10.1103/RevModPhys.89.015003" TargetMode="External"/><Relationship Id="rId6"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机制综述  /  SWIFT HEAVY IONS</a:t>
            </a:r>
          </a:p>
        </p:txBody>
      </p:sp>
      <p:sp>
        <p:nvSpPr>
          <p:cNvPr id="3" name="TextBox 2"/>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01</a:t>
            </a:r>
          </a:p>
        </p:txBody>
      </p:sp>
      <p:sp>
        <p:nvSpPr>
          <p:cNvPr id="4" name="Rectangle 3"/>
          <p:cNvSpPr/>
          <p:nvPr/>
        </p:nvSpPr>
        <p:spPr>
          <a:xfrm>
            <a:off x="548640" y="1280160"/>
            <a:ext cx="91440" cy="2971800"/>
          </a:xfrm>
          <a:prstGeom prst="rect">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868680" y="1371600"/>
            <a:ext cx="6583680" cy="731520"/>
          </a:xfrm>
          <a:prstGeom prst="rect">
            <a:avLst/>
          </a:prstGeom>
          <a:noFill/>
        </p:spPr>
        <p:txBody>
          <a:bodyPr wrap="square" lIns="0" rIns="0" tIns="0" bIns="0">
            <a:noAutofit/>
          </a:bodyPr>
          <a:lstStyle/>
          <a:p>
            <a:pPr algn="l" marL="0" indent="0">
              <a:spcAft>
                <a:spcPts val="500"/>
              </a:spcAft>
              <a:defRPr sz="3800" b="1">
                <a:solidFill>
                  <a:srgbClr val="243343"/>
                </a:solidFill>
                <a:latin typeface="Noto Sans CJK SC"/>
              </a:defRPr>
            </a:pPr>
            <a:r>
              <a:rPr>
                <a:ea typeface="Noto Sans CJK SC"/>
              </a:rPr>
              <a:t>高能重离子辐照</a:t>
            </a:r>
          </a:p>
        </p:txBody>
      </p:sp>
      <p:sp>
        <p:nvSpPr>
          <p:cNvPr id="6" name="TextBox 5"/>
          <p:cNvSpPr txBox="1"/>
          <p:nvPr/>
        </p:nvSpPr>
        <p:spPr>
          <a:xfrm>
            <a:off x="868680" y="2286000"/>
            <a:ext cx="6949440" cy="1645920"/>
          </a:xfrm>
          <a:prstGeom prst="rect">
            <a:avLst/>
          </a:prstGeom>
          <a:noFill/>
        </p:spPr>
        <p:txBody>
          <a:bodyPr wrap="square" lIns="0" rIns="0" tIns="0" bIns="0">
            <a:noAutofit/>
          </a:bodyPr>
          <a:lstStyle/>
          <a:p>
            <a:pPr algn="l" marL="0" indent="0">
              <a:spcAft>
                <a:spcPts val="500"/>
              </a:spcAft>
              <a:defRPr sz="4000" b="1">
                <a:solidFill>
                  <a:srgbClr val="2560A8"/>
                </a:solidFill>
                <a:latin typeface="Noto Sans CJK SC"/>
              </a:defRPr>
            </a:pPr>
            <a:r>
              <a:rPr>
                <a:ea typeface="Noto Sans CJK SC"/>
              </a:rPr>
              <a:t>电子—声子耦合</a:t>
            </a:r>
          </a:p>
          <a:p>
            <a:pPr algn="l" marL="0" indent="0">
              <a:spcAft>
                <a:spcPts val="500"/>
              </a:spcAft>
              <a:defRPr sz="4000" b="1">
                <a:solidFill>
                  <a:srgbClr val="2560A8"/>
                </a:solidFill>
                <a:latin typeface="Noto Sans CJK SC"/>
              </a:defRPr>
            </a:pPr>
            <a:r>
              <a:rPr>
                <a:ea typeface="Noto Sans CJK SC"/>
              </a:rPr>
              <a:t>与瞬态熔融</a:t>
            </a:r>
          </a:p>
        </p:txBody>
      </p:sp>
      <p:sp>
        <p:nvSpPr>
          <p:cNvPr id="7" name="TextBox 6"/>
          <p:cNvSpPr txBox="1"/>
          <p:nvPr/>
        </p:nvSpPr>
        <p:spPr>
          <a:xfrm>
            <a:off x="868680" y="4389120"/>
            <a:ext cx="6858000" cy="502920"/>
          </a:xfrm>
          <a:prstGeom prst="rect">
            <a:avLst/>
          </a:prstGeom>
          <a:noFill/>
        </p:spPr>
        <p:txBody>
          <a:bodyPr wrap="square" lIns="0" rIns="0" tIns="0" bIns="0">
            <a:noAutofit/>
          </a:bodyPr>
          <a:lstStyle/>
          <a:p>
            <a:pPr algn="l" marL="0" indent="0">
              <a:spcAft>
                <a:spcPts val="500"/>
              </a:spcAft>
              <a:defRPr sz="2300" b="0">
                <a:solidFill>
                  <a:srgbClr val="6D7985"/>
                </a:solidFill>
                <a:latin typeface="Noto Sans CJK SC"/>
              </a:defRPr>
            </a:pPr>
            <a:r>
              <a:rPr>
                <a:ea typeface="Noto Sans CJK SC"/>
              </a:rPr>
              <a:t>电子激发如何转化为原子运动？</a:t>
            </a:r>
          </a:p>
        </p:txBody>
      </p:sp>
      <p:sp>
        <p:nvSpPr>
          <p:cNvPr id="8" name="TextBox 7"/>
          <p:cNvSpPr txBox="1"/>
          <p:nvPr/>
        </p:nvSpPr>
        <p:spPr>
          <a:xfrm>
            <a:off x="868680" y="5166360"/>
            <a:ext cx="6858000" cy="731520"/>
          </a:xfrm>
          <a:prstGeom prst="rect">
            <a:avLst/>
          </a:prstGeom>
          <a:noFill/>
        </p:spPr>
        <p:txBody>
          <a:bodyPr wrap="square" lIns="0" rIns="0" tIns="0" bIns="0">
            <a:noAutofit/>
          </a:bodyPr>
          <a:lstStyle/>
          <a:p>
            <a:pPr algn="l" marL="0" indent="0">
              <a:spcAft>
                <a:spcPts val="500"/>
              </a:spcAft>
              <a:defRPr sz="1600" b="0">
                <a:solidFill>
                  <a:srgbClr val="6D7985"/>
                </a:solidFill>
                <a:latin typeface="Noto Sans CJK SC"/>
              </a:defRPr>
            </a:pPr>
            <a:r>
              <a:rPr>
                <a:ea typeface="Noto Sans CJK SC"/>
              </a:rPr>
              <a:t>20分钟组会汇报</a:t>
            </a:r>
          </a:p>
          <a:p>
            <a:pPr algn="l" marL="0" indent="0">
              <a:spcAft>
                <a:spcPts val="500"/>
              </a:spcAft>
              <a:defRPr sz="1600" b="0">
                <a:solidFill>
                  <a:srgbClr val="6D7985"/>
                </a:solidFill>
                <a:latin typeface="Noto Sans CJK SC"/>
              </a:defRPr>
            </a:pPr>
            <a:r>
              <a:rPr>
                <a:ea typeface="Noto Sans CJK SC"/>
              </a:rPr>
              <a:t>微观机制、热峰模型与证据边界</a:t>
            </a:r>
          </a:p>
        </p:txBody>
      </p:sp>
      <p:sp>
        <p:nvSpPr>
          <p:cNvPr id="9" name="Oval 8"/>
          <p:cNvSpPr/>
          <p:nvPr/>
        </p:nvSpPr>
        <p:spPr>
          <a:xfrm>
            <a:off x="8138160" y="1965960"/>
            <a:ext cx="2560320" cy="2560320"/>
          </a:xfrm>
          <a:prstGeom prst="ellipse">
            <a:avLst/>
          </a:prstGeom>
          <a:solidFill>
            <a:srgbClr val="EFF4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8522208" y="2350008"/>
            <a:ext cx="1792224" cy="1792224"/>
          </a:xfrm>
          <a:prstGeom prst="ellipse">
            <a:avLst/>
          </a:prstGeom>
          <a:solidFill>
            <a:srgbClr val="FCF3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8906256" y="2734056"/>
            <a:ext cx="1024128" cy="1024128"/>
          </a:xfrm>
          <a:prstGeom prst="ellipse">
            <a:avLst/>
          </a:prstGeom>
          <a:solidFill>
            <a:srgbClr val="CF7B2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9418320" y="1691640"/>
            <a:ext cx="0" cy="3017520"/>
          </a:xfrm>
          <a:prstGeom prst="line">
            <a:avLst/>
          </a:prstGeom>
          <a:ln w="5080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3" name="Oval 12"/>
          <p:cNvSpPr/>
          <p:nvPr/>
        </p:nvSpPr>
        <p:spPr>
          <a:xfrm>
            <a:off x="10828425" y="3477284"/>
            <a:ext cx="137160" cy="137160"/>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9418320" y="3246120"/>
            <a:ext cx="1478685" cy="299744"/>
          </a:xfrm>
          <a:prstGeom prst="line">
            <a:avLst/>
          </a:prstGeom>
          <a:ln w="10160">
            <a:solidFill>
              <a:srgbClr val="2560A8"/>
            </a:solidFill>
          </a:ln>
          <a:effectLst/>
        </p:spPr>
        <p:style>
          <a:lnRef idx="2">
            <a:schemeClr val="accent1"/>
          </a:lnRef>
          <a:fillRef idx="0">
            <a:schemeClr val="accent1"/>
          </a:fillRef>
          <a:effectRef idx="0">
            <a:schemeClr val="accent1"/>
          </a:effectRef>
          <a:fontRef idx="minor">
            <a:schemeClr val="tx1"/>
          </a:fontRef>
        </p:style>
      </p:cxnSp>
      <p:sp>
        <p:nvSpPr>
          <p:cNvPr id="15" name="Oval 14"/>
          <p:cNvSpPr/>
          <p:nvPr/>
        </p:nvSpPr>
        <p:spPr>
          <a:xfrm>
            <a:off x="9606179" y="4664347"/>
            <a:ext cx="137160" cy="137160"/>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a:off x="9418320" y="3246120"/>
            <a:ext cx="256439" cy="1486807"/>
          </a:xfrm>
          <a:prstGeom prst="line">
            <a:avLst/>
          </a:prstGeom>
          <a:ln w="10160">
            <a:solidFill>
              <a:srgbClr val="2560A8"/>
            </a:solidFill>
          </a:ln>
          <a:effectLst/>
        </p:spPr>
        <p:style>
          <a:lnRef idx="2">
            <a:schemeClr val="accent1"/>
          </a:lnRef>
          <a:fillRef idx="0">
            <a:schemeClr val="accent1"/>
          </a:fillRef>
          <a:effectRef idx="0">
            <a:schemeClr val="accent1"/>
          </a:effectRef>
          <a:fontRef idx="minor">
            <a:schemeClr val="tx1"/>
          </a:fontRef>
        </p:style>
      </p:cxnSp>
      <p:sp>
        <p:nvSpPr>
          <p:cNvPr id="17" name="Oval 16"/>
          <p:cNvSpPr/>
          <p:nvPr/>
        </p:nvSpPr>
        <p:spPr>
          <a:xfrm>
            <a:off x="7928152" y="3682956"/>
            <a:ext cx="137160" cy="137160"/>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flipH="1">
            <a:off x="7996732" y="3246120"/>
            <a:ext cx="1421588" cy="505416"/>
          </a:xfrm>
          <a:prstGeom prst="line">
            <a:avLst/>
          </a:prstGeom>
          <a:ln w="10160">
            <a:solidFill>
              <a:srgbClr val="2560A8"/>
            </a:solidFill>
          </a:ln>
          <a:effectLst/>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8363548" y="2035706"/>
            <a:ext cx="137160" cy="137160"/>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flipH="1" flipV="1">
            <a:off x="8432128" y="2104286"/>
            <a:ext cx="986192" cy="1141834"/>
          </a:xfrm>
          <a:prstGeom prst="line">
            <a:avLst/>
          </a:prstGeom>
          <a:ln w="10160">
            <a:solidFill>
              <a:srgbClr val="2560A8"/>
            </a:solidFill>
          </a:ln>
          <a:effectLst/>
        </p:spPr>
        <p:style>
          <a:lnRef idx="2">
            <a:schemeClr val="accent1"/>
          </a:lnRef>
          <a:fillRef idx="0">
            <a:schemeClr val="accent1"/>
          </a:fillRef>
          <a:effectRef idx="0">
            <a:schemeClr val="accent1"/>
          </a:effectRef>
          <a:fontRef idx="minor">
            <a:schemeClr val="tx1"/>
          </a:fontRef>
        </p:style>
      </p:cxnSp>
      <p:sp>
        <p:nvSpPr>
          <p:cNvPr id="21" name="Oval 20"/>
          <p:cNvSpPr/>
          <p:nvPr/>
        </p:nvSpPr>
        <p:spPr>
          <a:xfrm>
            <a:off x="9777718" y="1730753"/>
            <a:ext cx="137160" cy="137160"/>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flipV="1">
            <a:off x="9418320" y="1799333"/>
            <a:ext cx="427978" cy="1446787"/>
          </a:xfrm>
          <a:prstGeom prst="line">
            <a:avLst/>
          </a:prstGeom>
          <a:ln w="10160">
            <a:solidFill>
              <a:srgbClr val="2560A8"/>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9692640" y="4846320"/>
            <a:ext cx="1645920" cy="320040"/>
          </a:xfrm>
          <a:prstGeom prst="rect">
            <a:avLst/>
          </a:prstGeom>
          <a:noFill/>
        </p:spPr>
        <p:txBody>
          <a:bodyPr wrap="square" lIns="0" rIns="0" tIns="0" bIns="0">
            <a:noAutofit/>
          </a:bodyPr>
          <a:lstStyle/>
          <a:p>
            <a:pPr algn="l" marL="0" indent="0">
              <a:spcAft>
                <a:spcPts val="500"/>
              </a:spcAft>
              <a:defRPr sz="1500" b="0">
                <a:solidFill>
                  <a:srgbClr val="2560A8"/>
                </a:solidFill>
                <a:latin typeface="Noto Sans CJK SC"/>
              </a:defRPr>
            </a:pPr>
            <a:r>
              <a:rPr>
                <a:ea typeface="Noto Sans CJK SC"/>
              </a:rPr>
              <a:t>离子轨迹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01 研究问题</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电子激发、晶格升温和最终径迹是不同环节</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需要逐段验证能量流、相变动力学与冷却后的结构</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整理自 [R2, R5, R6]</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02</a:t>
            </a:r>
          </a:p>
        </p:txBody>
      </p:sp>
      <p:sp>
        <p:nvSpPr>
          <p:cNvPr id="9" name="TextBox 8"/>
          <p:cNvSpPr txBox="1"/>
          <p:nvPr/>
        </p:nvSpPr>
        <p:spPr>
          <a:xfrm>
            <a:off x="594360" y="2011680"/>
            <a:ext cx="914400" cy="502920"/>
          </a:xfrm>
          <a:prstGeom prst="rect">
            <a:avLst/>
          </a:prstGeom>
          <a:noFill/>
        </p:spPr>
        <p:txBody>
          <a:bodyPr wrap="square" lIns="0" rIns="0" tIns="0" bIns="0">
            <a:noAutofit/>
          </a:bodyPr>
          <a:lstStyle/>
          <a:p>
            <a:pPr algn="l" marL="0" indent="0">
              <a:spcAft>
                <a:spcPts val="500"/>
              </a:spcAft>
              <a:defRPr sz="3100" b="1">
                <a:solidFill>
                  <a:srgbClr val="2560A8"/>
                </a:solidFill>
                <a:latin typeface="Noto Sans CJK SC"/>
              </a:defRPr>
            </a:pPr>
            <a:r>
              <a:rPr>
                <a:ea typeface="Noto Sans CJK SC"/>
              </a:rPr>
              <a:t>01</a:t>
            </a:r>
          </a:p>
        </p:txBody>
      </p:sp>
      <p:sp>
        <p:nvSpPr>
          <p:cNvPr id="10" name="TextBox 9"/>
          <p:cNvSpPr txBox="1"/>
          <p:nvPr/>
        </p:nvSpPr>
        <p:spPr>
          <a:xfrm>
            <a:off x="594360" y="2743200"/>
            <a:ext cx="2606040" cy="457200"/>
          </a:xfrm>
          <a:prstGeom prst="rect">
            <a:avLst/>
          </a:prstGeom>
          <a:noFill/>
        </p:spPr>
        <p:txBody>
          <a:bodyPr wrap="square" lIns="0" rIns="0" tIns="0" bIns="0">
            <a:noAutofit/>
          </a:bodyPr>
          <a:lstStyle/>
          <a:p>
            <a:pPr algn="l" marL="0" indent="0">
              <a:spcAft>
                <a:spcPts val="500"/>
              </a:spcAft>
              <a:defRPr sz="2300" b="1">
                <a:solidFill>
                  <a:srgbClr val="2560A8"/>
                </a:solidFill>
                <a:latin typeface="Noto Sans CJK SC"/>
              </a:defRPr>
            </a:pPr>
            <a:r>
              <a:rPr>
                <a:ea typeface="Noto Sans CJK SC"/>
              </a:rPr>
              <a:t>电子激发</a:t>
            </a:r>
          </a:p>
        </p:txBody>
      </p:sp>
      <p:sp>
        <p:nvSpPr>
          <p:cNvPr id="11" name="TextBox 10"/>
          <p:cNvSpPr txBox="1"/>
          <p:nvPr/>
        </p:nvSpPr>
        <p:spPr>
          <a:xfrm>
            <a:off x="594360" y="3383280"/>
            <a:ext cx="2487168" cy="822960"/>
          </a:xfrm>
          <a:prstGeom prst="rect">
            <a:avLst/>
          </a:prstGeom>
          <a:noFill/>
        </p:spPr>
        <p:txBody>
          <a:bodyPr wrap="square" lIns="0" rIns="0" tIns="0" bIns="0">
            <a:noAutofit/>
          </a:bodyPr>
          <a:lstStyle/>
          <a:p>
            <a:pPr algn="l" marL="0" indent="0">
              <a:spcAft>
                <a:spcPts val="500"/>
              </a:spcAft>
              <a:defRPr sz="1700" b="0">
                <a:solidFill>
                  <a:srgbClr val="6D7985"/>
                </a:solidFill>
                <a:latin typeface="Noto Sans CJK SC"/>
              </a:defRPr>
            </a:pPr>
            <a:r>
              <a:rPr>
                <a:ea typeface="Noto Sans CJK SC"/>
              </a:rPr>
              <a:t>电离、激发与次级电子</a:t>
            </a:r>
          </a:p>
        </p:txBody>
      </p:sp>
      <p:cxnSp>
        <p:nvCxnSpPr>
          <p:cNvPr id="12" name="Connector 11"/>
          <p:cNvCxnSpPr/>
          <p:nvPr/>
        </p:nvCxnSpPr>
        <p:spPr>
          <a:xfrm>
            <a:off x="2743200" y="2240280"/>
            <a:ext cx="502920" cy="0"/>
          </a:xfrm>
          <a:prstGeom prst="line">
            <a:avLst/>
          </a:prstGeom>
          <a:ln w="19050">
            <a:solidFill>
              <a:srgbClr val="6D7985"/>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3410712" y="2011680"/>
            <a:ext cx="914400" cy="502920"/>
          </a:xfrm>
          <a:prstGeom prst="rect">
            <a:avLst/>
          </a:prstGeom>
          <a:noFill/>
        </p:spPr>
        <p:txBody>
          <a:bodyPr wrap="square" lIns="0" rIns="0" tIns="0" bIns="0">
            <a:noAutofit/>
          </a:bodyPr>
          <a:lstStyle/>
          <a:p>
            <a:pPr algn="l" marL="0" indent="0">
              <a:spcAft>
                <a:spcPts val="500"/>
              </a:spcAft>
              <a:defRPr sz="3100" b="1">
                <a:solidFill>
                  <a:srgbClr val="CF7B2B"/>
                </a:solidFill>
                <a:latin typeface="Noto Sans CJK SC"/>
              </a:defRPr>
            </a:pPr>
            <a:r>
              <a:rPr>
                <a:ea typeface="Noto Sans CJK SC"/>
              </a:rPr>
              <a:t>02</a:t>
            </a:r>
          </a:p>
        </p:txBody>
      </p:sp>
      <p:sp>
        <p:nvSpPr>
          <p:cNvPr id="14" name="TextBox 13"/>
          <p:cNvSpPr txBox="1"/>
          <p:nvPr/>
        </p:nvSpPr>
        <p:spPr>
          <a:xfrm>
            <a:off x="3410712" y="2743200"/>
            <a:ext cx="2606040" cy="457200"/>
          </a:xfrm>
          <a:prstGeom prst="rect">
            <a:avLst/>
          </a:prstGeom>
          <a:noFill/>
        </p:spPr>
        <p:txBody>
          <a:bodyPr wrap="square" lIns="0" rIns="0" tIns="0" bIns="0">
            <a:noAutofit/>
          </a:bodyPr>
          <a:lstStyle/>
          <a:p>
            <a:pPr algn="l" marL="0" indent="0">
              <a:spcAft>
                <a:spcPts val="500"/>
              </a:spcAft>
              <a:defRPr sz="2300" b="1">
                <a:solidFill>
                  <a:srgbClr val="CF7B2B"/>
                </a:solidFill>
                <a:latin typeface="Noto Sans CJK SC"/>
              </a:defRPr>
            </a:pPr>
            <a:r>
              <a:rPr>
                <a:ea typeface="Noto Sans CJK SC"/>
              </a:rPr>
              <a:t>晶格获能</a:t>
            </a:r>
          </a:p>
        </p:txBody>
      </p:sp>
      <p:sp>
        <p:nvSpPr>
          <p:cNvPr id="15" name="TextBox 14"/>
          <p:cNvSpPr txBox="1"/>
          <p:nvPr/>
        </p:nvSpPr>
        <p:spPr>
          <a:xfrm>
            <a:off x="3410712" y="3383280"/>
            <a:ext cx="2487168" cy="822960"/>
          </a:xfrm>
          <a:prstGeom prst="rect">
            <a:avLst/>
          </a:prstGeom>
          <a:noFill/>
        </p:spPr>
        <p:txBody>
          <a:bodyPr wrap="square" lIns="0" rIns="0" tIns="0" bIns="0">
            <a:noAutofit/>
          </a:bodyPr>
          <a:lstStyle/>
          <a:p>
            <a:pPr algn="l" marL="0" indent="0">
              <a:spcAft>
                <a:spcPts val="500"/>
              </a:spcAft>
              <a:defRPr sz="1700" b="0">
                <a:solidFill>
                  <a:srgbClr val="6D7985"/>
                </a:solidFill>
                <a:latin typeface="Noto Sans CJK SC"/>
              </a:defRPr>
            </a:pPr>
            <a:r>
              <a:rPr>
                <a:ea typeface="Noto Sans CJK SC"/>
              </a:rPr>
              <a:t>非弹性散射与原子力响应</a:t>
            </a:r>
          </a:p>
        </p:txBody>
      </p:sp>
      <p:cxnSp>
        <p:nvCxnSpPr>
          <p:cNvPr id="16" name="Connector 15"/>
          <p:cNvCxnSpPr/>
          <p:nvPr/>
        </p:nvCxnSpPr>
        <p:spPr>
          <a:xfrm>
            <a:off x="5559552" y="2240280"/>
            <a:ext cx="502920" cy="0"/>
          </a:xfrm>
          <a:prstGeom prst="line">
            <a:avLst/>
          </a:prstGeom>
          <a:ln w="19050">
            <a:solidFill>
              <a:srgbClr val="6D7985"/>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6227064" y="2011680"/>
            <a:ext cx="914400" cy="502920"/>
          </a:xfrm>
          <a:prstGeom prst="rect">
            <a:avLst/>
          </a:prstGeom>
          <a:noFill/>
        </p:spPr>
        <p:txBody>
          <a:bodyPr wrap="square" lIns="0" rIns="0" tIns="0" bIns="0">
            <a:noAutofit/>
          </a:bodyPr>
          <a:lstStyle/>
          <a:p>
            <a:pPr algn="l" marL="0" indent="0">
              <a:spcAft>
                <a:spcPts val="500"/>
              </a:spcAft>
              <a:defRPr sz="3100" b="1">
                <a:solidFill>
                  <a:srgbClr val="79659D"/>
                </a:solidFill>
                <a:latin typeface="Noto Sans CJK SC"/>
              </a:defRPr>
            </a:pPr>
            <a:r>
              <a:rPr>
                <a:ea typeface="Noto Sans CJK SC"/>
              </a:rPr>
              <a:t>03</a:t>
            </a:r>
          </a:p>
        </p:txBody>
      </p:sp>
      <p:sp>
        <p:nvSpPr>
          <p:cNvPr id="18" name="TextBox 17"/>
          <p:cNvSpPr txBox="1"/>
          <p:nvPr/>
        </p:nvSpPr>
        <p:spPr>
          <a:xfrm>
            <a:off x="6227064" y="2743200"/>
            <a:ext cx="2606040" cy="457200"/>
          </a:xfrm>
          <a:prstGeom prst="rect">
            <a:avLst/>
          </a:prstGeom>
          <a:noFill/>
        </p:spPr>
        <p:txBody>
          <a:bodyPr wrap="square" lIns="0" rIns="0" tIns="0" bIns="0">
            <a:noAutofit/>
          </a:bodyPr>
          <a:lstStyle/>
          <a:p>
            <a:pPr algn="l" marL="0" indent="0">
              <a:spcAft>
                <a:spcPts val="500"/>
              </a:spcAft>
              <a:defRPr sz="2300" b="1">
                <a:solidFill>
                  <a:srgbClr val="79659D"/>
                </a:solidFill>
                <a:latin typeface="Noto Sans CJK SC"/>
              </a:defRPr>
            </a:pPr>
            <a:r>
              <a:rPr>
                <a:ea typeface="Noto Sans CJK SC"/>
              </a:rPr>
              <a:t>瞬态结构变化</a:t>
            </a:r>
          </a:p>
        </p:txBody>
      </p:sp>
      <p:sp>
        <p:nvSpPr>
          <p:cNvPr id="19" name="TextBox 18"/>
          <p:cNvSpPr txBox="1"/>
          <p:nvPr/>
        </p:nvSpPr>
        <p:spPr>
          <a:xfrm>
            <a:off x="6227064" y="3383280"/>
            <a:ext cx="2487168" cy="822960"/>
          </a:xfrm>
          <a:prstGeom prst="rect">
            <a:avLst/>
          </a:prstGeom>
          <a:noFill/>
        </p:spPr>
        <p:txBody>
          <a:bodyPr wrap="square" lIns="0" rIns="0" tIns="0" bIns="0">
            <a:noAutofit/>
          </a:bodyPr>
          <a:lstStyle/>
          <a:p>
            <a:pPr algn="l" marL="0" indent="0">
              <a:spcAft>
                <a:spcPts val="500"/>
              </a:spcAft>
              <a:defRPr sz="1700" b="0">
                <a:solidFill>
                  <a:srgbClr val="6D7985"/>
                </a:solidFill>
                <a:latin typeface="Noto Sans CJK SC"/>
              </a:defRPr>
            </a:pPr>
            <a:r>
              <a:rPr>
                <a:ea typeface="Noto Sans CJK SC"/>
              </a:rPr>
              <a:t>升温、熔融或非热失稳</a:t>
            </a:r>
          </a:p>
        </p:txBody>
      </p:sp>
      <p:cxnSp>
        <p:nvCxnSpPr>
          <p:cNvPr id="20" name="Connector 19"/>
          <p:cNvCxnSpPr/>
          <p:nvPr/>
        </p:nvCxnSpPr>
        <p:spPr>
          <a:xfrm>
            <a:off x="8375904" y="2240280"/>
            <a:ext cx="502920" cy="0"/>
          </a:xfrm>
          <a:prstGeom prst="line">
            <a:avLst/>
          </a:prstGeom>
          <a:ln w="19050">
            <a:solidFill>
              <a:srgbClr val="6D7985"/>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9043416" y="2011680"/>
            <a:ext cx="914400" cy="502920"/>
          </a:xfrm>
          <a:prstGeom prst="rect">
            <a:avLst/>
          </a:prstGeom>
          <a:noFill/>
        </p:spPr>
        <p:txBody>
          <a:bodyPr wrap="square" lIns="0" rIns="0" tIns="0" bIns="0">
            <a:noAutofit/>
          </a:bodyPr>
          <a:lstStyle/>
          <a:p>
            <a:pPr algn="l" marL="0" indent="0">
              <a:spcAft>
                <a:spcPts val="500"/>
              </a:spcAft>
              <a:defRPr sz="3100" b="1">
                <a:solidFill>
                  <a:srgbClr val="243343"/>
                </a:solidFill>
                <a:latin typeface="Noto Sans CJK SC"/>
              </a:defRPr>
            </a:pPr>
            <a:r>
              <a:rPr>
                <a:ea typeface="Noto Sans CJK SC"/>
              </a:rPr>
              <a:t>04</a:t>
            </a:r>
          </a:p>
        </p:txBody>
      </p:sp>
      <p:sp>
        <p:nvSpPr>
          <p:cNvPr id="22" name="TextBox 21"/>
          <p:cNvSpPr txBox="1"/>
          <p:nvPr/>
        </p:nvSpPr>
        <p:spPr>
          <a:xfrm>
            <a:off x="9043416" y="2743200"/>
            <a:ext cx="2606040" cy="457200"/>
          </a:xfrm>
          <a:prstGeom prst="rect">
            <a:avLst/>
          </a:prstGeom>
          <a:noFill/>
        </p:spPr>
        <p:txBody>
          <a:bodyPr wrap="square" lIns="0" rIns="0" tIns="0" bIns="0">
            <a:noAutofit/>
          </a:bodyPr>
          <a:lstStyle/>
          <a:p>
            <a:pPr algn="l" marL="0" indent="0">
              <a:spcAft>
                <a:spcPts val="500"/>
              </a:spcAft>
              <a:defRPr sz="2300" b="1">
                <a:solidFill>
                  <a:srgbClr val="243343"/>
                </a:solidFill>
                <a:latin typeface="Noto Sans CJK SC"/>
              </a:defRPr>
            </a:pPr>
            <a:r>
              <a:rPr>
                <a:ea typeface="Noto Sans CJK SC"/>
              </a:rPr>
              <a:t>冷却后结构</a:t>
            </a:r>
          </a:p>
        </p:txBody>
      </p:sp>
      <p:sp>
        <p:nvSpPr>
          <p:cNvPr id="23" name="TextBox 22"/>
          <p:cNvSpPr txBox="1"/>
          <p:nvPr/>
        </p:nvSpPr>
        <p:spPr>
          <a:xfrm>
            <a:off x="9043416" y="3383280"/>
            <a:ext cx="2487168" cy="822960"/>
          </a:xfrm>
          <a:prstGeom prst="rect">
            <a:avLst/>
          </a:prstGeom>
          <a:noFill/>
        </p:spPr>
        <p:txBody>
          <a:bodyPr wrap="square" lIns="0" rIns="0" tIns="0" bIns="0">
            <a:noAutofit/>
          </a:bodyPr>
          <a:lstStyle/>
          <a:p>
            <a:pPr algn="l" marL="0" indent="0">
              <a:spcAft>
                <a:spcPts val="500"/>
              </a:spcAft>
              <a:defRPr sz="1700" b="0">
                <a:solidFill>
                  <a:srgbClr val="6D7985"/>
                </a:solidFill>
                <a:latin typeface="Noto Sans CJK SC"/>
              </a:defRPr>
            </a:pPr>
            <a:r>
              <a:rPr>
                <a:ea typeface="Noto Sans CJK SC"/>
              </a:rPr>
              <a:t>缺陷、密度变化或再结晶</a:t>
            </a:r>
          </a:p>
        </p:txBody>
      </p:sp>
      <p:sp>
        <p:nvSpPr>
          <p:cNvPr id="24" name="TextBox 23"/>
          <p:cNvSpPr txBox="1"/>
          <p:nvPr/>
        </p:nvSpPr>
        <p:spPr>
          <a:xfrm>
            <a:off x="594360" y="4846320"/>
            <a:ext cx="10881360" cy="731520"/>
          </a:xfrm>
          <a:prstGeom prst="rect">
            <a:avLst/>
          </a:prstGeom>
          <a:noFill/>
        </p:spPr>
        <p:txBody>
          <a:bodyPr wrap="square" lIns="0" rIns="0" tIns="0" bIns="0">
            <a:noAutofit/>
          </a:bodyPr>
          <a:lstStyle/>
          <a:p>
            <a:pPr algn="l" marL="0" indent="0">
              <a:spcAft>
                <a:spcPts val="500"/>
              </a:spcAft>
              <a:defRPr sz="2400" b="1">
                <a:solidFill>
                  <a:srgbClr val="243343"/>
                </a:solidFill>
                <a:latin typeface="Noto Sans CJK SC"/>
              </a:defRPr>
            </a:pPr>
            <a:r>
              <a:rPr>
                <a:ea typeface="Noto Sans CJK SC"/>
              </a:rPr>
              <a:t>能量转移是必要机制之一；熔融与永久损伤需要额外条件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02 初始能量沉积</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电子阻止把离子能量沉积到纳米尺度的电子体系</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本报告聚焦 Sₑ 显著大于 Sₙ 的电子阻止区间</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整理自 [R5]</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03</a:t>
            </a:r>
          </a:p>
        </p:txBody>
      </p:sp>
      <p:sp>
        <p:nvSpPr>
          <p:cNvPr id="9" name="TextBox 8"/>
          <p:cNvSpPr txBox="1"/>
          <p:nvPr/>
        </p:nvSpPr>
        <p:spPr>
          <a:xfrm>
            <a:off x="640080" y="1783080"/>
            <a:ext cx="5486400" cy="685800"/>
          </a:xfrm>
          <a:prstGeom prst="rect">
            <a:avLst/>
          </a:prstGeom>
          <a:noFill/>
        </p:spPr>
        <p:txBody>
          <a:bodyPr wrap="square" lIns="0" rIns="0" tIns="0" bIns="0">
            <a:noAutofit/>
          </a:bodyPr>
          <a:lstStyle/>
          <a:p>
            <a:pPr algn="l" marL="0" indent="0">
              <a:spcAft>
                <a:spcPts val="500"/>
              </a:spcAft>
              <a:defRPr sz="3100" b="1">
                <a:solidFill>
                  <a:srgbClr val="2560A8"/>
                </a:solidFill>
                <a:latin typeface="DejaVu Sans"/>
              </a:defRPr>
            </a:pPr>
            <a:r>
              <a:rPr>
                <a:ea typeface="DejaVu Sans"/>
              </a:rPr>
              <a:t>Sₑ = −(dE/dx)ₑ</a:t>
            </a:r>
          </a:p>
        </p:txBody>
      </p:sp>
      <p:sp>
        <p:nvSpPr>
          <p:cNvPr id="10" name="TextBox 9"/>
          <p:cNvSpPr txBox="1"/>
          <p:nvPr/>
        </p:nvSpPr>
        <p:spPr>
          <a:xfrm>
            <a:off x="640080" y="2697480"/>
            <a:ext cx="5486400" cy="685800"/>
          </a:xfrm>
          <a:prstGeom prst="rect">
            <a:avLst/>
          </a:prstGeom>
          <a:noFill/>
        </p:spPr>
        <p:txBody>
          <a:bodyPr wrap="square" lIns="0" rIns="0" tIns="0" bIns="0">
            <a:noAutofit/>
          </a:bodyPr>
          <a:lstStyle/>
          <a:p>
            <a:pPr algn="l" marL="0" indent="0">
              <a:spcAft>
                <a:spcPts val="500"/>
              </a:spcAft>
              <a:defRPr sz="2700" b="0">
                <a:solidFill>
                  <a:srgbClr val="6D7985"/>
                </a:solidFill>
                <a:latin typeface="DejaVu Sans"/>
              </a:defRPr>
            </a:pPr>
            <a:r>
              <a:rPr>
                <a:ea typeface="DejaVu Sans"/>
              </a:rPr>
              <a:t>Sₙ = −(dE/dx)ₙ</a:t>
            </a:r>
          </a:p>
        </p:txBody>
      </p:sp>
      <p:sp>
        <p:nvSpPr>
          <p:cNvPr id="11" name="TextBox 10"/>
          <p:cNvSpPr txBox="1"/>
          <p:nvPr/>
        </p:nvSpPr>
        <p:spPr>
          <a:xfrm>
            <a:off x="640080" y="3657600"/>
            <a:ext cx="5303520" cy="347472"/>
          </a:xfrm>
          <a:prstGeom prst="rect">
            <a:avLst/>
          </a:prstGeom>
          <a:noFill/>
        </p:spPr>
        <p:txBody>
          <a:bodyPr wrap="square" lIns="0" rIns="0" tIns="0" bIns="0">
            <a:noAutofit/>
          </a:bodyPr>
          <a:lstStyle/>
          <a:p>
            <a:pPr algn="l" marL="0" indent="0">
              <a:spcAft>
                <a:spcPts val="500"/>
              </a:spcAft>
              <a:defRPr sz="2100" b="1">
                <a:solidFill>
                  <a:srgbClr val="243343"/>
                </a:solidFill>
                <a:latin typeface="Noto Sans CJK SC"/>
              </a:defRPr>
            </a:pPr>
            <a:r>
              <a:rPr>
                <a:ea typeface="Noto Sans CJK SC"/>
              </a:rPr>
              <a:t>电子阻止</a:t>
            </a:r>
          </a:p>
        </p:txBody>
      </p:sp>
      <p:sp>
        <p:nvSpPr>
          <p:cNvPr id="12" name="TextBox 11"/>
          <p:cNvSpPr txBox="1"/>
          <p:nvPr/>
        </p:nvSpPr>
        <p:spPr>
          <a:xfrm>
            <a:off x="640080" y="4069080"/>
            <a:ext cx="5303520" cy="594360"/>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电子激发、电离及 δ 电子级联</a:t>
            </a:r>
          </a:p>
        </p:txBody>
      </p:sp>
      <p:sp>
        <p:nvSpPr>
          <p:cNvPr id="13" name="TextBox 12"/>
          <p:cNvSpPr txBox="1"/>
          <p:nvPr/>
        </p:nvSpPr>
        <p:spPr>
          <a:xfrm>
            <a:off x="640080" y="4572000"/>
            <a:ext cx="5303520" cy="347472"/>
          </a:xfrm>
          <a:prstGeom prst="rect">
            <a:avLst/>
          </a:prstGeom>
          <a:noFill/>
        </p:spPr>
        <p:txBody>
          <a:bodyPr wrap="square" lIns="0" rIns="0" tIns="0" bIns="0">
            <a:noAutofit/>
          </a:bodyPr>
          <a:lstStyle/>
          <a:p>
            <a:pPr algn="l" marL="0" indent="0">
              <a:spcAft>
                <a:spcPts val="500"/>
              </a:spcAft>
              <a:defRPr sz="2100" b="1">
                <a:solidFill>
                  <a:srgbClr val="243343"/>
                </a:solidFill>
                <a:latin typeface="Noto Sans CJK SC"/>
              </a:defRPr>
            </a:pPr>
            <a:r>
              <a:rPr>
                <a:ea typeface="Noto Sans CJK SC"/>
              </a:rPr>
              <a:t>核阻止</a:t>
            </a:r>
          </a:p>
        </p:txBody>
      </p:sp>
      <p:sp>
        <p:nvSpPr>
          <p:cNvPr id="14" name="TextBox 13"/>
          <p:cNvSpPr txBox="1"/>
          <p:nvPr/>
        </p:nvSpPr>
        <p:spPr>
          <a:xfrm>
            <a:off x="640080" y="4983480"/>
            <a:ext cx="5303520" cy="594360"/>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离子与原子核碰撞及位移</a:t>
            </a:r>
          </a:p>
        </p:txBody>
      </p:sp>
      <p:cxnSp>
        <p:nvCxnSpPr>
          <p:cNvPr id="15" name="Connector 14"/>
          <p:cNvCxnSpPr/>
          <p:nvPr/>
        </p:nvCxnSpPr>
        <p:spPr>
          <a:xfrm>
            <a:off x="8595360" y="1828800"/>
            <a:ext cx="0" cy="3611880"/>
          </a:xfrm>
          <a:prstGeom prst="line">
            <a:avLst/>
          </a:prstGeom>
          <a:ln w="4445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 name="Oval 15"/>
          <p:cNvSpPr/>
          <p:nvPr/>
        </p:nvSpPr>
        <p:spPr>
          <a:xfrm>
            <a:off x="8513064" y="2249424"/>
            <a:ext cx="164592" cy="164592"/>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flipH="1">
            <a:off x="7406640" y="2331720"/>
            <a:ext cx="1188720" cy="411480"/>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8" name="Oval 17"/>
          <p:cNvSpPr/>
          <p:nvPr/>
        </p:nvSpPr>
        <p:spPr>
          <a:xfrm>
            <a:off x="7351775" y="2688336"/>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flipV="1">
            <a:off x="8595360" y="2103120"/>
            <a:ext cx="914400" cy="228600"/>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0" name="Oval 19"/>
          <p:cNvSpPr/>
          <p:nvPr/>
        </p:nvSpPr>
        <p:spPr>
          <a:xfrm>
            <a:off x="9454896" y="2048255"/>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8595360" y="2331720"/>
            <a:ext cx="1463040" cy="594359"/>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2" name="Oval 21"/>
          <p:cNvSpPr/>
          <p:nvPr/>
        </p:nvSpPr>
        <p:spPr>
          <a:xfrm>
            <a:off x="10003536" y="2871215"/>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8513064" y="2935224"/>
            <a:ext cx="164592" cy="164592"/>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Connector 23"/>
          <p:cNvCxnSpPr/>
          <p:nvPr/>
        </p:nvCxnSpPr>
        <p:spPr>
          <a:xfrm flipH="1">
            <a:off x="7406640" y="3017520"/>
            <a:ext cx="1188720" cy="411480"/>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5" name="Oval 24"/>
          <p:cNvSpPr/>
          <p:nvPr/>
        </p:nvSpPr>
        <p:spPr>
          <a:xfrm>
            <a:off x="7351775" y="3374136"/>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flipV="1">
            <a:off x="8595360" y="2788920"/>
            <a:ext cx="914400" cy="228600"/>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Oval 26"/>
          <p:cNvSpPr/>
          <p:nvPr/>
        </p:nvSpPr>
        <p:spPr>
          <a:xfrm>
            <a:off x="9454896" y="2734056"/>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8" name="Connector 27"/>
          <p:cNvCxnSpPr/>
          <p:nvPr/>
        </p:nvCxnSpPr>
        <p:spPr>
          <a:xfrm>
            <a:off x="8595360" y="3017520"/>
            <a:ext cx="1463040" cy="594359"/>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9" name="Oval 28"/>
          <p:cNvSpPr/>
          <p:nvPr/>
        </p:nvSpPr>
        <p:spPr>
          <a:xfrm>
            <a:off x="10003536" y="3557015"/>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val 29"/>
          <p:cNvSpPr/>
          <p:nvPr/>
        </p:nvSpPr>
        <p:spPr>
          <a:xfrm>
            <a:off x="8513064" y="3666744"/>
            <a:ext cx="164592" cy="164592"/>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1" name="Connector 30"/>
          <p:cNvCxnSpPr/>
          <p:nvPr/>
        </p:nvCxnSpPr>
        <p:spPr>
          <a:xfrm flipH="1">
            <a:off x="7406640" y="3749039"/>
            <a:ext cx="1188720" cy="411481"/>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2" name="Oval 31"/>
          <p:cNvSpPr/>
          <p:nvPr/>
        </p:nvSpPr>
        <p:spPr>
          <a:xfrm>
            <a:off x="7351775" y="4105656"/>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3" name="Connector 32"/>
          <p:cNvCxnSpPr/>
          <p:nvPr/>
        </p:nvCxnSpPr>
        <p:spPr>
          <a:xfrm flipV="1">
            <a:off x="8595360" y="3520439"/>
            <a:ext cx="914400" cy="228600"/>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4" name="Oval 33"/>
          <p:cNvSpPr/>
          <p:nvPr/>
        </p:nvSpPr>
        <p:spPr>
          <a:xfrm>
            <a:off x="9454896" y="3465575"/>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5" name="Connector 34"/>
          <p:cNvCxnSpPr/>
          <p:nvPr/>
        </p:nvCxnSpPr>
        <p:spPr>
          <a:xfrm>
            <a:off x="8595360" y="3749039"/>
            <a:ext cx="1463040" cy="594361"/>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6" name="Oval 35"/>
          <p:cNvSpPr/>
          <p:nvPr/>
        </p:nvSpPr>
        <p:spPr>
          <a:xfrm>
            <a:off x="10003536" y="4288536"/>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Oval 36"/>
          <p:cNvSpPr/>
          <p:nvPr/>
        </p:nvSpPr>
        <p:spPr>
          <a:xfrm>
            <a:off x="8513064" y="4352544"/>
            <a:ext cx="164592" cy="164592"/>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 name="Connector 37"/>
          <p:cNvCxnSpPr/>
          <p:nvPr/>
        </p:nvCxnSpPr>
        <p:spPr>
          <a:xfrm flipH="1">
            <a:off x="7406640" y="4434840"/>
            <a:ext cx="1188720" cy="411480"/>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9" name="Oval 38"/>
          <p:cNvSpPr/>
          <p:nvPr/>
        </p:nvSpPr>
        <p:spPr>
          <a:xfrm>
            <a:off x="7351775" y="4791456"/>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0" name="Connector 39"/>
          <p:cNvCxnSpPr/>
          <p:nvPr/>
        </p:nvCxnSpPr>
        <p:spPr>
          <a:xfrm flipV="1">
            <a:off x="8595360" y="4206240"/>
            <a:ext cx="914400" cy="228600"/>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1" name="Oval 40"/>
          <p:cNvSpPr/>
          <p:nvPr/>
        </p:nvSpPr>
        <p:spPr>
          <a:xfrm>
            <a:off x="9454896" y="4151376"/>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Connector 41"/>
          <p:cNvCxnSpPr/>
          <p:nvPr/>
        </p:nvCxnSpPr>
        <p:spPr>
          <a:xfrm>
            <a:off x="8595360" y="4434840"/>
            <a:ext cx="1463040" cy="594360"/>
          </a:xfrm>
          <a:prstGeom prst="line">
            <a:avLst/>
          </a:prstGeom>
          <a:ln w="1397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3" name="Oval 42"/>
          <p:cNvSpPr/>
          <p:nvPr/>
        </p:nvSpPr>
        <p:spPr>
          <a:xfrm>
            <a:off x="10003536" y="4974336"/>
            <a:ext cx="109728" cy="109728"/>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Oval 43"/>
          <p:cNvSpPr/>
          <p:nvPr/>
        </p:nvSpPr>
        <p:spPr>
          <a:xfrm>
            <a:off x="6524244" y="199796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Oval 44"/>
          <p:cNvSpPr/>
          <p:nvPr/>
        </p:nvSpPr>
        <p:spPr>
          <a:xfrm>
            <a:off x="6524244" y="277520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Oval 45"/>
          <p:cNvSpPr/>
          <p:nvPr/>
        </p:nvSpPr>
        <p:spPr>
          <a:xfrm>
            <a:off x="6524244" y="355244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Oval 46"/>
          <p:cNvSpPr/>
          <p:nvPr/>
        </p:nvSpPr>
        <p:spPr>
          <a:xfrm>
            <a:off x="6524244" y="4329683"/>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6524244" y="510692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Oval 48"/>
          <p:cNvSpPr/>
          <p:nvPr/>
        </p:nvSpPr>
        <p:spPr>
          <a:xfrm>
            <a:off x="7255764" y="199796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Oval 49"/>
          <p:cNvSpPr/>
          <p:nvPr/>
        </p:nvSpPr>
        <p:spPr>
          <a:xfrm>
            <a:off x="7255764" y="277520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Oval 50"/>
          <p:cNvSpPr/>
          <p:nvPr/>
        </p:nvSpPr>
        <p:spPr>
          <a:xfrm>
            <a:off x="7255764" y="355244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Oval 51"/>
          <p:cNvSpPr/>
          <p:nvPr/>
        </p:nvSpPr>
        <p:spPr>
          <a:xfrm>
            <a:off x="7255764" y="4329683"/>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Oval 52"/>
          <p:cNvSpPr/>
          <p:nvPr/>
        </p:nvSpPr>
        <p:spPr>
          <a:xfrm>
            <a:off x="7255764" y="510692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7987284" y="199796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Oval 54"/>
          <p:cNvSpPr/>
          <p:nvPr/>
        </p:nvSpPr>
        <p:spPr>
          <a:xfrm>
            <a:off x="7987284" y="277520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Oval 55"/>
          <p:cNvSpPr/>
          <p:nvPr/>
        </p:nvSpPr>
        <p:spPr>
          <a:xfrm>
            <a:off x="7987284" y="355244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Oval 56"/>
          <p:cNvSpPr/>
          <p:nvPr/>
        </p:nvSpPr>
        <p:spPr>
          <a:xfrm>
            <a:off x="7987284" y="4329683"/>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Oval 57"/>
          <p:cNvSpPr/>
          <p:nvPr/>
        </p:nvSpPr>
        <p:spPr>
          <a:xfrm>
            <a:off x="7987284" y="510692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Oval 58"/>
          <p:cNvSpPr/>
          <p:nvPr/>
        </p:nvSpPr>
        <p:spPr>
          <a:xfrm>
            <a:off x="9084564" y="199796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Oval 59"/>
          <p:cNvSpPr/>
          <p:nvPr/>
        </p:nvSpPr>
        <p:spPr>
          <a:xfrm>
            <a:off x="9084564" y="277520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Oval 60"/>
          <p:cNvSpPr/>
          <p:nvPr/>
        </p:nvSpPr>
        <p:spPr>
          <a:xfrm>
            <a:off x="9084564" y="355244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Oval 61"/>
          <p:cNvSpPr/>
          <p:nvPr/>
        </p:nvSpPr>
        <p:spPr>
          <a:xfrm>
            <a:off x="9084564" y="4329683"/>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9084564" y="510692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Oval 63"/>
          <p:cNvSpPr/>
          <p:nvPr/>
        </p:nvSpPr>
        <p:spPr>
          <a:xfrm>
            <a:off x="9816084" y="199796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Oval 64"/>
          <p:cNvSpPr/>
          <p:nvPr/>
        </p:nvSpPr>
        <p:spPr>
          <a:xfrm>
            <a:off x="9816084" y="277520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Oval 65"/>
          <p:cNvSpPr/>
          <p:nvPr/>
        </p:nvSpPr>
        <p:spPr>
          <a:xfrm>
            <a:off x="9816084" y="355244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Oval 66"/>
          <p:cNvSpPr/>
          <p:nvPr/>
        </p:nvSpPr>
        <p:spPr>
          <a:xfrm>
            <a:off x="9816084" y="4329683"/>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9816084" y="510692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Oval 68"/>
          <p:cNvSpPr/>
          <p:nvPr/>
        </p:nvSpPr>
        <p:spPr>
          <a:xfrm>
            <a:off x="10547604" y="199796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Oval 69"/>
          <p:cNvSpPr/>
          <p:nvPr/>
        </p:nvSpPr>
        <p:spPr>
          <a:xfrm>
            <a:off x="10547604" y="277520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Oval 70"/>
          <p:cNvSpPr/>
          <p:nvPr/>
        </p:nvSpPr>
        <p:spPr>
          <a:xfrm>
            <a:off x="10547604" y="355244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Oval 71"/>
          <p:cNvSpPr/>
          <p:nvPr/>
        </p:nvSpPr>
        <p:spPr>
          <a:xfrm>
            <a:off x="10547604" y="4329683"/>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Oval 72"/>
          <p:cNvSpPr/>
          <p:nvPr/>
        </p:nvSpPr>
        <p:spPr>
          <a:xfrm>
            <a:off x="10547604" y="5106924"/>
            <a:ext cx="118872" cy="118872"/>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400800" y="5394960"/>
            <a:ext cx="5120640" cy="438912"/>
          </a:xfrm>
          <a:prstGeom prst="rect">
            <a:avLst/>
          </a:prstGeom>
          <a:noFill/>
        </p:spPr>
        <p:txBody>
          <a:bodyPr wrap="square" lIns="0" rIns="0" tIns="0" bIns="0">
            <a:noAutofit/>
          </a:bodyPr>
          <a:lstStyle/>
          <a:p>
            <a:pPr algn="l" marL="0" indent="0">
              <a:spcAft>
                <a:spcPts val="500"/>
              </a:spcAft>
              <a:defRPr sz="1700" b="0">
                <a:solidFill>
                  <a:srgbClr val="6D7985"/>
                </a:solidFill>
                <a:latin typeface="Noto Sans CJK SC"/>
              </a:defRPr>
            </a:pPr>
            <a:r>
              <a:rPr>
                <a:ea typeface="Noto Sans CJK SC"/>
              </a:rPr>
              <a:t>δ 电子带走能量</a:t>
            </a:r>
          </a:p>
          <a:p>
            <a:pPr algn="l" marL="0" indent="0">
              <a:spcAft>
                <a:spcPts val="500"/>
              </a:spcAft>
              <a:defRPr sz="1700" b="0">
                <a:solidFill>
                  <a:srgbClr val="6D7985"/>
                </a:solidFill>
                <a:latin typeface="Noto Sans CJK SC"/>
              </a:defRPr>
            </a:pPr>
            <a:r>
              <a:rPr>
                <a:ea typeface="Noto Sans CJK SC"/>
              </a:rPr>
              <a:t>并扩大径向沉积范围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03 时间序列</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电子级联与晶格响应跨越多个时间尺度</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各阶段会重叠，时间尺度随材料和激发条件变化</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数量级示意，整理自 [R5]</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04</a:t>
            </a:r>
          </a:p>
        </p:txBody>
      </p:sp>
      <p:cxnSp>
        <p:nvCxnSpPr>
          <p:cNvPr id="9" name="Connector 8"/>
          <p:cNvCxnSpPr/>
          <p:nvPr/>
        </p:nvCxnSpPr>
        <p:spPr>
          <a:xfrm>
            <a:off x="1051560" y="3474720"/>
            <a:ext cx="9966960" cy="0"/>
          </a:xfrm>
          <a:prstGeom prst="line">
            <a:avLst/>
          </a:prstGeom>
          <a:ln w="15240">
            <a:solidFill>
              <a:srgbClr val="6D7985"/>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a:off x="1051560" y="3383280"/>
            <a:ext cx="0" cy="182880"/>
          </a:xfrm>
          <a:prstGeom prst="line">
            <a:avLst/>
          </a:prstGeom>
          <a:ln w="12700">
            <a:solidFill>
              <a:srgbClr val="6D7985"/>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548639" y="3703320"/>
            <a:ext cx="1234440" cy="320040"/>
          </a:xfrm>
          <a:prstGeom prst="rect">
            <a:avLst/>
          </a:prstGeom>
          <a:noFill/>
        </p:spPr>
        <p:txBody>
          <a:bodyPr wrap="square" lIns="0" rIns="0" tIns="0" bIns="0">
            <a:noAutofit/>
          </a:bodyPr>
          <a:lstStyle/>
          <a:p>
            <a:pPr algn="l" marL="0" indent="0">
              <a:spcAft>
                <a:spcPts val="500"/>
              </a:spcAft>
              <a:defRPr sz="1400" b="0">
                <a:solidFill>
                  <a:srgbClr val="6D7985"/>
                </a:solidFill>
                <a:latin typeface="DejaVu Sans"/>
              </a:defRPr>
            </a:pPr>
            <a:r>
              <a:rPr>
                <a:ea typeface="DejaVu Sans"/>
              </a:rPr>
              <a:t>10⁻¹⁸ s</a:t>
            </a:r>
          </a:p>
        </p:txBody>
      </p:sp>
      <p:cxnSp>
        <p:nvCxnSpPr>
          <p:cNvPr id="12" name="Connector 11"/>
          <p:cNvCxnSpPr/>
          <p:nvPr/>
        </p:nvCxnSpPr>
        <p:spPr>
          <a:xfrm>
            <a:off x="3017520" y="3383280"/>
            <a:ext cx="0" cy="182880"/>
          </a:xfrm>
          <a:prstGeom prst="line">
            <a:avLst/>
          </a:prstGeom>
          <a:ln w="12700">
            <a:solidFill>
              <a:srgbClr val="6D7985"/>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514600" y="3703320"/>
            <a:ext cx="1234440" cy="320040"/>
          </a:xfrm>
          <a:prstGeom prst="rect">
            <a:avLst/>
          </a:prstGeom>
          <a:noFill/>
        </p:spPr>
        <p:txBody>
          <a:bodyPr wrap="square" lIns="0" rIns="0" tIns="0" bIns="0">
            <a:noAutofit/>
          </a:bodyPr>
          <a:lstStyle/>
          <a:p>
            <a:pPr algn="l" marL="0" indent="0">
              <a:spcAft>
                <a:spcPts val="500"/>
              </a:spcAft>
              <a:defRPr sz="1400" b="0">
                <a:solidFill>
                  <a:srgbClr val="6D7985"/>
                </a:solidFill>
                <a:latin typeface="DejaVu Sans"/>
              </a:defRPr>
            </a:pPr>
            <a:r>
              <a:rPr>
                <a:ea typeface="DejaVu Sans"/>
              </a:rPr>
              <a:t>10⁻¹⁶ s</a:t>
            </a:r>
          </a:p>
        </p:txBody>
      </p:sp>
      <p:cxnSp>
        <p:nvCxnSpPr>
          <p:cNvPr id="14" name="Connector 13"/>
          <p:cNvCxnSpPr/>
          <p:nvPr/>
        </p:nvCxnSpPr>
        <p:spPr>
          <a:xfrm>
            <a:off x="5074920" y="3383280"/>
            <a:ext cx="0" cy="182880"/>
          </a:xfrm>
          <a:prstGeom prst="line">
            <a:avLst/>
          </a:prstGeom>
          <a:ln w="12700">
            <a:solidFill>
              <a:srgbClr val="6D7985"/>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4572000" y="3703320"/>
            <a:ext cx="1234440" cy="320040"/>
          </a:xfrm>
          <a:prstGeom prst="rect">
            <a:avLst/>
          </a:prstGeom>
          <a:noFill/>
        </p:spPr>
        <p:txBody>
          <a:bodyPr wrap="square" lIns="0" rIns="0" tIns="0" bIns="0">
            <a:noAutofit/>
          </a:bodyPr>
          <a:lstStyle/>
          <a:p>
            <a:pPr algn="l" marL="0" indent="0">
              <a:spcAft>
                <a:spcPts val="500"/>
              </a:spcAft>
              <a:defRPr sz="1400" b="0">
                <a:solidFill>
                  <a:srgbClr val="6D7985"/>
                </a:solidFill>
                <a:latin typeface="DejaVu Sans"/>
              </a:defRPr>
            </a:pPr>
            <a:r>
              <a:rPr>
                <a:ea typeface="DejaVu Sans"/>
              </a:rPr>
              <a:t>10⁻¹⁴ s</a:t>
            </a:r>
          </a:p>
        </p:txBody>
      </p:sp>
      <p:cxnSp>
        <p:nvCxnSpPr>
          <p:cNvPr id="16" name="Connector 15"/>
          <p:cNvCxnSpPr/>
          <p:nvPr/>
        </p:nvCxnSpPr>
        <p:spPr>
          <a:xfrm>
            <a:off x="7132320" y="3383280"/>
            <a:ext cx="0" cy="182880"/>
          </a:xfrm>
          <a:prstGeom prst="line">
            <a:avLst/>
          </a:prstGeom>
          <a:ln w="12700">
            <a:solidFill>
              <a:srgbClr val="6D7985"/>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6629400" y="3703320"/>
            <a:ext cx="1234440" cy="320040"/>
          </a:xfrm>
          <a:prstGeom prst="rect">
            <a:avLst/>
          </a:prstGeom>
          <a:noFill/>
        </p:spPr>
        <p:txBody>
          <a:bodyPr wrap="square" lIns="0" rIns="0" tIns="0" bIns="0">
            <a:noAutofit/>
          </a:bodyPr>
          <a:lstStyle/>
          <a:p>
            <a:pPr algn="l" marL="0" indent="0">
              <a:spcAft>
                <a:spcPts val="500"/>
              </a:spcAft>
              <a:defRPr sz="1400" b="0">
                <a:solidFill>
                  <a:srgbClr val="6D7985"/>
                </a:solidFill>
                <a:latin typeface="DejaVu Sans"/>
              </a:defRPr>
            </a:pPr>
            <a:r>
              <a:rPr>
                <a:ea typeface="DejaVu Sans"/>
              </a:rPr>
              <a:t>10⁻¹² s</a:t>
            </a:r>
          </a:p>
        </p:txBody>
      </p:sp>
      <p:cxnSp>
        <p:nvCxnSpPr>
          <p:cNvPr id="18" name="Connector 17"/>
          <p:cNvCxnSpPr/>
          <p:nvPr/>
        </p:nvCxnSpPr>
        <p:spPr>
          <a:xfrm>
            <a:off x="9326880" y="3383280"/>
            <a:ext cx="0" cy="182880"/>
          </a:xfrm>
          <a:prstGeom prst="line">
            <a:avLst/>
          </a:prstGeom>
          <a:ln w="12700">
            <a:solidFill>
              <a:srgbClr val="6D7985"/>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8823959" y="3703320"/>
            <a:ext cx="1234440" cy="320040"/>
          </a:xfrm>
          <a:prstGeom prst="rect">
            <a:avLst/>
          </a:prstGeom>
          <a:noFill/>
        </p:spPr>
        <p:txBody>
          <a:bodyPr wrap="square" lIns="0" rIns="0" tIns="0" bIns="0">
            <a:noAutofit/>
          </a:bodyPr>
          <a:lstStyle/>
          <a:p>
            <a:pPr algn="l" marL="0" indent="0">
              <a:spcAft>
                <a:spcPts val="500"/>
              </a:spcAft>
              <a:defRPr sz="1400" b="0">
                <a:solidFill>
                  <a:srgbClr val="6D7985"/>
                </a:solidFill>
                <a:latin typeface="DejaVu Sans"/>
              </a:defRPr>
            </a:pPr>
            <a:r>
              <a:rPr>
                <a:ea typeface="DejaVu Sans"/>
              </a:rPr>
              <a:t>10⁻¹⁰ s</a:t>
            </a:r>
          </a:p>
        </p:txBody>
      </p:sp>
      <p:cxnSp>
        <p:nvCxnSpPr>
          <p:cNvPr id="20" name="Connector 19"/>
          <p:cNvCxnSpPr/>
          <p:nvPr/>
        </p:nvCxnSpPr>
        <p:spPr>
          <a:xfrm>
            <a:off x="10972800" y="3383280"/>
            <a:ext cx="0" cy="182880"/>
          </a:xfrm>
          <a:prstGeom prst="line">
            <a:avLst/>
          </a:prstGeom>
          <a:ln w="12700">
            <a:solidFill>
              <a:srgbClr val="6D7985"/>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10469880" y="3703320"/>
            <a:ext cx="1234440" cy="320040"/>
          </a:xfrm>
          <a:prstGeom prst="rect">
            <a:avLst/>
          </a:prstGeom>
          <a:noFill/>
        </p:spPr>
        <p:txBody>
          <a:bodyPr wrap="square" lIns="0" rIns="0" tIns="0" bIns="0">
            <a:noAutofit/>
          </a:bodyPr>
          <a:lstStyle/>
          <a:p>
            <a:pPr algn="l" marL="0" indent="0">
              <a:spcAft>
                <a:spcPts val="500"/>
              </a:spcAft>
              <a:defRPr sz="1400" b="0">
                <a:solidFill>
                  <a:srgbClr val="6D7985"/>
                </a:solidFill>
                <a:latin typeface="DejaVu Sans"/>
              </a:defRPr>
            </a:pPr>
            <a:r>
              <a:rPr>
                <a:ea typeface="DejaVu Sans"/>
              </a:rPr>
              <a:t>10⁻⁹ s</a:t>
            </a:r>
          </a:p>
        </p:txBody>
      </p:sp>
      <p:cxnSp>
        <p:nvCxnSpPr>
          <p:cNvPr id="22" name="Connector 21"/>
          <p:cNvCxnSpPr/>
          <p:nvPr/>
        </p:nvCxnSpPr>
        <p:spPr>
          <a:xfrm>
            <a:off x="1051560" y="2057400"/>
            <a:ext cx="1965960" cy="0"/>
          </a:xfrm>
          <a:prstGeom prst="line">
            <a:avLst/>
          </a:prstGeom>
          <a:ln w="63500">
            <a:solidFill>
              <a:srgbClr val="2560A8"/>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1051560" y="1600200"/>
            <a:ext cx="2286000" cy="365760"/>
          </a:xfrm>
          <a:prstGeom prst="rect">
            <a:avLst/>
          </a:prstGeom>
          <a:noFill/>
        </p:spPr>
        <p:txBody>
          <a:bodyPr wrap="square" lIns="0" rIns="0" tIns="0" bIns="0">
            <a:noAutofit/>
          </a:bodyPr>
          <a:lstStyle/>
          <a:p>
            <a:pPr algn="l" marL="0" indent="0">
              <a:spcAft>
                <a:spcPts val="500"/>
              </a:spcAft>
              <a:defRPr sz="1800" b="1">
                <a:solidFill>
                  <a:srgbClr val="2560A8"/>
                </a:solidFill>
                <a:latin typeface="Noto Sans CJK SC"/>
              </a:defRPr>
            </a:pPr>
            <a:r>
              <a:rPr>
                <a:ea typeface="Noto Sans CJK SC"/>
              </a:rPr>
              <a:t>初级电离</a:t>
            </a:r>
          </a:p>
        </p:txBody>
      </p:sp>
      <p:cxnSp>
        <p:nvCxnSpPr>
          <p:cNvPr id="24" name="Connector 23"/>
          <p:cNvCxnSpPr/>
          <p:nvPr/>
        </p:nvCxnSpPr>
        <p:spPr>
          <a:xfrm>
            <a:off x="3017520" y="2697480"/>
            <a:ext cx="3108960" cy="0"/>
          </a:xfrm>
          <a:prstGeom prst="line">
            <a:avLst/>
          </a:prstGeom>
          <a:ln w="63500">
            <a:solidFill>
              <a:srgbClr val="2560A8"/>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3017520" y="2240280"/>
            <a:ext cx="3108960" cy="365760"/>
          </a:xfrm>
          <a:prstGeom prst="rect">
            <a:avLst/>
          </a:prstGeom>
          <a:noFill/>
        </p:spPr>
        <p:txBody>
          <a:bodyPr wrap="square" lIns="0" rIns="0" tIns="0" bIns="0">
            <a:noAutofit/>
          </a:bodyPr>
          <a:lstStyle/>
          <a:p>
            <a:pPr algn="l" marL="0" indent="0">
              <a:spcAft>
                <a:spcPts val="500"/>
              </a:spcAft>
              <a:defRPr sz="1800" b="1">
                <a:solidFill>
                  <a:srgbClr val="2560A8"/>
                </a:solidFill>
                <a:latin typeface="Noto Sans CJK SC"/>
              </a:defRPr>
            </a:pPr>
            <a:r>
              <a:rPr>
                <a:ea typeface="Noto Sans CJK SC"/>
              </a:rPr>
              <a:t>电子级联与输运</a:t>
            </a:r>
          </a:p>
        </p:txBody>
      </p:sp>
      <p:cxnSp>
        <p:nvCxnSpPr>
          <p:cNvPr id="26" name="Connector 25"/>
          <p:cNvCxnSpPr/>
          <p:nvPr/>
        </p:nvCxnSpPr>
        <p:spPr>
          <a:xfrm>
            <a:off x="6126480" y="4434840"/>
            <a:ext cx="2103120" cy="0"/>
          </a:xfrm>
          <a:prstGeom prst="line">
            <a:avLst/>
          </a:prstGeom>
          <a:ln w="63500">
            <a:solidFill>
              <a:srgbClr val="CF7B2B"/>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6126480" y="3977639"/>
            <a:ext cx="2286000" cy="365760"/>
          </a:xfrm>
          <a:prstGeom prst="rect">
            <a:avLst/>
          </a:prstGeom>
          <a:noFill/>
        </p:spPr>
        <p:txBody>
          <a:bodyPr wrap="square" lIns="0" rIns="0" tIns="0" bIns="0">
            <a:noAutofit/>
          </a:bodyPr>
          <a:lstStyle/>
          <a:p>
            <a:pPr algn="l" marL="0" indent="0">
              <a:spcAft>
                <a:spcPts val="500"/>
              </a:spcAft>
              <a:defRPr sz="1800" b="1">
                <a:solidFill>
                  <a:srgbClr val="CF7B2B"/>
                </a:solidFill>
                <a:latin typeface="Noto Sans CJK SC"/>
              </a:defRPr>
            </a:pPr>
            <a:r>
              <a:rPr>
                <a:ea typeface="Noto Sans CJK SC"/>
              </a:rPr>
              <a:t>电子—晶格交换</a:t>
            </a:r>
          </a:p>
        </p:txBody>
      </p:sp>
      <p:cxnSp>
        <p:nvCxnSpPr>
          <p:cNvPr id="28" name="Connector 27"/>
          <p:cNvCxnSpPr/>
          <p:nvPr/>
        </p:nvCxnSpPr>
        <p:spPr>
          <a:xfrm>
            <a:off x="7132320" y="5120640"/>
            <a:ext cx="3840480" cy="0"/>
          </a:xfrm>
          <a:prstGeom prst="line">
            <a:avLst/>
          </a:prstGeom>
          <a:ln w="63500">
            <a:solidFill>
              <a:srgbClr val="79659D"/>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7132320" y="4663440"/>
            <a:ext cx="3840480" cy="365760"/>
          </a:xfrm>
          <a:prstGeom prst="rect">
            <a:avLst/>
          </a:prstGeom>
          <a:noFill/>
        </p:spPr>
        <p:txBody>
          <a:bodyPr wrap="square" lIns="0" rIns="0" tIns="0" bIns="0">
            <a:noAutofit/>
          </a:bodyPr>
          <a:lstStyle/>
          <a:p>
            <a:pPr algn="l" marL="0" indent="0">
              <a:spcAft>
                <a:spcPts val="500"/>
              </a:spcAft>
              <a:defRPr sz="1800" b="1">
                <a:solidFill>
                  <a:srgbClr val="79659D"/>
                </a:solidFill>
                <a:latin typeface="Noto Sans CJK SC"/>
              </a:defRPr>
            </a:pPr>
            <a:r>
              <a:rPr>
                <a:ea typeface="Noto Sans CJK SC"/>
              </a:rPr>
              <a:t>结构转变、冷却与松弛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04 微观耦合</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原子位移改变电子势，产生电子—声子散射</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电子态的跃迁伴随晶格振动能量的改变</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微观形式整理自 [R12]；热弛豫见 [R1]</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05</a:t>
            </a:r>
          </a:p>
        </p:txBody>
      </p:sp>
      <p:sp>
        <p:nvSpPr>
          <p:cNvPr id="9" name="TextBox 8"/>
          <p:cNvSpPr txBox="1"/>
          <p:nvPr/>
        </p:nvSpPr>
        <p:spPr>
          <a:xfrm>
            <a:off x="685800" y="1755648"/>
            <a:ext cx="10789920" cy="685800"/>
          </a:xfrm>
          <a:prstGeom prst="rect">
            <a:avLst/>
          </a:prstGeom>
          <a:noFill/>
        </p:spPr>
        <p:txBody>
          <a:bodyPr wrap="square" lIns="0" rIns="0" tIns="0" bIns="0">
            <a:noAutofit/>
          </a:bodyPr>
          <a:lstStyle/>
          <a:p>
            <a:pPr algn="l" marL="0" indent="0">
              <a:spcAft>
                <a:spcPts val="500"/>
              </a:spcAft>
              <a:defRPr sz="2700" b="0">
                <a:solidFill>
                  <a:srgbClr val="243343"/>
                </a:solidFill>
                <a:latin typeface="DejaVu Sans"/>
              </a:defRPr>
            </a:pPr>
            <a:r>
              <a:rPr>
                <a:ea typeface="DejaVu Sans"/>
              </a:rPr>
              <a:t>V({Rᵢ}) ≈ V₀ + Σᵢ uᵢ · ∇ᵢV</a:t>
            </a:r>
          </a:p>
        </p:txBody>
      </p:sp>
      <p:sp>
        <p:nvSpPr>
          <p:cNvPr id="10" name="TextBox 9"/>
          <p:cNvSpPr txBox="1"/>
          <p:nvPr/>
        </p:nvSpPr>
        <p:spPr>
          <a:xfrm>
            <a:off x="685800" y="2514600"/>
            <a:ext cx="10789920" cy="365760"/>
          </a:xfrm>
          <a:prstGeom prst="rect">
            <a:avLst/>
          </a:prstGeom>
          <a:noFill/>
        </p:spPr>
        <p:txBody>
          <a:bodyPr wrap="square" lIns="0" rIns="0" tIns="0" bIns="0">
            <a:noAutofit/>
          </a:bodyPr>
          <a:lstStyle/>
          <a:p>
            <a:pPr algn="l" marL="0" indent="0">
              <a:spcAft>
                <a:spcPts val="500"/>
              </a:spcAft>
              <a:defRPr sz="1900" b="0">
                <a:solidFill>
                  <a:srgbClr val="6D7985"/>
                </a:solidFill>
                <a:latin typeface="Noto Sans CJK SC"/>
              </a:defRPr>
            </a:pPr>
            <a:r>
              <a:rPr>
                <a:ea typeface="Noto Sans CJK SC"/>
              </a:rPr>
              <a:t>uᵢ：原子相对平衡位置的位移</a:t>
            </a:r>
          </a:p>
        </p:txBody>
      </p:sp>
      <p:cxnSp>
        <p:nvCxnSpPr>
          <p:cNvPr id="11" name="Connector 10"/>
          <p:cNvCxnSpPr/>
          <p:nvPr/>
        </p:nvCxnSpPr>
        <p:spPr>
          <a:xfrm>
            <a:off x="1051560" y="3886200"/>
            <a:ext cx="3703320" cy="0"/>
          </a:xfrm>
          <a:prstGeom prst="line">
            <a:avLst/>
          </a:prstGeom>
          <a:ln w="1270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12" name="Oval 11"/>
          <p:cNvSpPr/>
          <p:nvPr/>
        </p:nvSpPr>
        <p:spPr>
          <a:xfrm>
            <a:off x="1298448" y="3721608"/>
            <a:ext cx="329184" cy="329184"/>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1408176" y="3584447"/>
            <a:ext cx="329184" cy="329184"/>
          </a:xfrm>
          <a:prstGeom prst="ellipse">
            <a:avLst/>
          </a:prstGeom>
          <a:solidFill>
            <a:srgbClr val="CF7B2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flipV="1">
            <a:off x="1463040" y="3749039"/>
            <a:ext cx="109728" cy="137161"/>
          </a:xfrm>
          <a:prstGeom prst="line">
            <a:avLst/>
          </a:prstGeom>
          <a:ln w="19050">
            <a:solidFill>
              <a:srgbClr val="CF7B2B"/>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Oval 14"/>
          <p:cNvSpPr/>
          <p:nvPr/>
        </p:nvSpPr>
        <p:spPr>
          <a:xfrm>
            <a:off x="2212848" y="3721608"/>
            <a:ext cx="329184" cy="329184"/>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2322576" y="3584447"/>
            <a:ext cx="329184" cy="329184"/>
          </a:xfrm>
          <a:prstGeom prst="ellipse">
            <a:avLst/>
          </a:prstGeom>
          <a:solidFill>
            <a:srgbClr val="CF7B2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flipV="1">
            <a:off x="2377440" y="3749039"/>
            <a:ext cx="109728" cy="137161"/>
          </a:xfrm>
          <a:prstGeom prst="line">
            <a:avLst/>
          </a:prstGeom>
          <a:ln w="19050">
            <a:solidFill>
              <a:srgbClr val="CF7B2B"/>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8" name="Oval 17"/>
          <p:cNvSpPr/>
          <p:nvPr/>
        </p:nvSpPr>
        <p:spPr>
          <a:xfrm>
            <a:off x="3127248" y="3721608"/>
            <a:ext cx="329184" cy="329184"/>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3236976" y="3584447"/>
            <a:ext cx="329184" cy="329184"/>
          </a:xfrm>
          <a:prstGeom prst="ellipse">
            <a:avLst/>
          </a:prstGeom>
          <a:solidFill>
            <a:srgbClr val="CF7B2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flipV="1">
            <a:off x="3291840" y="3749039"/>
            <a:ext cx="109728" cy="137161"/>
          </a:xfrm>
          <a:prstGeom prst="line">
            <a:avLst/>
          </a:prstGeom>
          <a:ln w="19050">
            <a:solidFill>
              <a:srgbClr val="CF7B2B"/>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1" name="Oval 20"/>
          <p:cNvSpPr/>
          <p:nvPr/>
        </p:nvSpPr>
        <p:spPr>
          <a:xfrm>
            <a:off x="4041648" y="3721608"/>
            <a:ext cx="329184" cy="329184"/>
          </a:xfrm>
          <a:prstGeom prst="ellipse">
            <a:avLst/>
          </a:prstGeom>
          <a:solidFill>
            <a:srgbClr val="D5DE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4151376" y="3584447"/>
            <a:ext cx="329184" cy="329184"/>
          </a:xfrm>
          <a:prstGeom prst="ellipse">
            <a:avLst/>
          </a:prstGeom>
          <a:solidFill>
            <a:srgbClr val="CF7B2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3" name="Connector 22"/>
          <p:cNvCxnSpPr/>
          <p:nvPr/>
        </p:nvCxnSpPr>
        <p:spPr>
          <a:xfrm flipV="1">
            <a:off x="4206240" y="3749039"/>
            <a:ext cx="109728" cy="137161"/>
          </a:xfrm>
          <a:prstGeom prst="line">
            <a:avLst/>
          </a:prstGeom>
          <a:ln w="19050">
            <a:solidFill>
              <a:srgbClr val="CF7B2B"/>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1005840" y="4572000"/>
            <a:ext cx="4389120" cy="548640"/>
          </a:xfrm>
          <a:prstGeom prst="rect">
            <a:avLst/>
          </a:prstGeom>
          <a:noFill/>
        </p:spPr>
        <p:txBody>
          <a:bodyPr wrap="square" lIns="0" rIns="0" tIns="0" bIns="0">
            <a:noAutofit/>
          </a:bodyPr>
          <a:lstStyle/>
          <a:p>
            <a:pPr algn="l" marL="0" indent="0">
              <a:spcAft>
                <a:spcPts val="500"/>
              </a:spcAft>
              <a:defRPr sz="2100" b="1">
                <a:solidFill>
                  <a:srgbClr val="CF7B2B"/>
                </a:solidFill>
                <a:latin typeface="Noto Sans CJK SC"/>
              </a:defRPr>
            </a:pPr>
            <a:r>
              <a:rPr>
                <a:ea typeface="Noto Sans CJK SC"/>
              </a:rPr>
              <a:t>集体位移调制电子势</a:t>
            </a:r>
          </a:p>
        </p:txBody>
      </p:sp>
      <p:cxnSp>
        <p:nvCxnSpPr>
          <p:cNvPr id="25" name="Connector 24"/>
          <p:cNvCxnSpPr/>
          <p:nvPr/>
        </p:nvCxnSpPr>
        <p:spPr>
          <a:xfrm>
            <a:off x="6217920" y="3291840"/>
            <a:ext cx="4297680" cy="0"/>
          </a:xfrm>
          <a:prstGeom prst="line">
            <a:avLst/>
          </a:prstGeom>
          <a:ln w="17780">
            <a:solidFill>
              <a:srgbClr val="2560A8"/>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217920" y="4434840"/>
            <a:ext cx="4297680" cy="0"/>
          </a:xfrm>
          <a:prstGeom prst="line">
            <a:avLst/>
          </a:prstGeom>
          <a:ln w="17780">
            <a:solidFill>
              <a:srgbClr val="2560A8"/>
            </a:solidFill>
          </a:ln>
          <a:effectLst/>
        </p:spPr>
        <p:style>
          <a:lnRef idx="2">
            <a:schemeClr val="accent1"/>
          </a:lnRef>
          <a:fillRef idx="0">
            <a:schemeClr val="accent1"/>
          </a:fillRef>
          <a:effectRef idx="0">
            <a:schemeClr val="accent1"/>
          </a:effectRef>
          <a:fontRef idx="minor">
            <a:schemeClr val="tx1"/>
          </a:fontRef>
        </p:style>
      </p:cxnSp>
      <p:sp>
        <p:nvSpPr>
          <p:cNvPr id="27" name="Oval 26"/>
          <p:cNvSpPr/>
          <p:nvPr/>
        </p:nvSpPr>
        <p:spPr>
          <a:xfrm>
            <a:off x="7223760" y="3200400"/>
            <a:ext cx="182880" cy="182880"/>
          </a:xfrm>
          <a:prstGeom prst="ellipse">
            <a:avLst/>
          </a:prstGeom>
          <a:solidFill>
            <a:srgbClr val="2560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8" name="Connector 27"/>
          <p:cNvCxnSpPr/>
          <p:nvPr/>
        </p:nvCxnSpPr>
        <p:spPr>
          <a:xfrm>
            <a:off x="7360920" y="3474720"/>
            <a:ext cx="1600200" cy="777240"/>
          </a:xfrm>
          <a:prstGeom prst="line">
            <a:avLst/>
          </a:prstGeom>
          <a:ln w="31750">
            <a:solidFill>
              <a:srgbClr val="2560A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400800" y="2852928"/>
            <a:ext cx="4023360" cy="320040"/>
          </a:xfrm>
          <a:prstGeom prst="rect">
            <a:avLst/>
          </a:prstGeom>
          <a:noFill/>
        </p:spPr>
        <p:txBody>
          <a:bodyPr wrap="square" lIns="0" rIns="0" tIns="0" bIns="0">
            <a:noAutofit/>
          </a:bodyPr>
          <a:lstStyle/>
          <a:p>
            <a:pPr algn="l" marL="0" indent="0">
              <a:spcAft>
                <a:spcPts val="500"/>
              </a:spcAft>
              <a:defRPr sz="1700" b="0">
                <a:solidFill>
                  <a:srgbClr val="2560A8"/>
                </a:solidFill>
                <a:latin typeface="Noto Sans CJK SC"/>
              </a:defRPr>
            </a:pPr>
            <a:r>
              <a:rPr>
                <a:ea typeface="Noto Sans CJK SC"/>
              </a:rPr>
              <a:t>高能电子态</a:t>
            </a:r>
          </a:p>
        </p:txBody>
      </p:sp>
      <p:sp>
        <p:nvSpPr>
          <p:cNvPr id="30" name="TextBox 29"/>
          <p:cNvSpPr txBox="1"/>
          <p:nvPr/>
        </p:nvSpPr>
        <p:spPr>
          <a:xfrm>
            <a:off x="6400800" y="4690872"/>
            <a:ext cx="4023360" cy="320040"/>
          </a:xfrm>
          <a:prstGeom prst="rect">
            <a:avLst/>
          </a:prstGeom>
          <a:noFill/>
        </p:spPr>
        <p:txBody>
          <a:bodyPr wrap="square" lIns="0" rIns="0" tIns="0" bIns="0">
            <a:noAutofit/>
          </a:bodyPr>
          <a:lstStyle/>
          <a:p>
            <a:pPr algn="l" marL="0" indent="0">
              <a:spcAft>
                <a:spcPts val="500"/>
              </a:spcAft>
              <a:defRPr sz="1700" b="0">
                <a:solidFill>
                  <a:srgbClr val="2560A8"/>
                </a:solidFill>
                <a:latin typeface="Noto Sans CJK SC"/>
              </a:defRPr>
            </a:pPr>
            <a:r>
              <a:rPr>
                <a:ea typeface="Noto Sans CJK SC"/>
              </a:rPr>
              <a:t>较低能电子态</a:t>
            </a:r>
          </a:p>
        </p:txBody>
      </p:sp>
      <p:sp>
        <p:nvSpPr>
          <p:cNvPr id="31" name="TextBox 30"/>
          <p:cNvSpPr txBox="1"/>
          <p:nvPr/>
        </p:nvSpPr>
        <p:spPr>
          <a:xfrm>
            <a:off x="8686800" y="3685032"/>
            <a:ext cx="2148840" cy="365760"/>
          </a:xfrm>
          <a:prstGeom prst="rect">
            <a:avLst/>
          </a:prstGeom>
          <a:noFill/>
        </p:spPr>
        <p:txBody>
          <a:bodyPr wrap="square" lIns="0" rIns="0" tIns="0" bIns="0">
            <a:noAutofit/>
          </a:bodyPr>
          <a:lstStyle/>
          <a:p>
            <a:pPr algn="l" marL="0" indent="0">
              <a:spcAft>
                <a:spcPts val="500"/>
              </a:spcAft>
              <a:defRPr sz="2100" b="1">
                <a:solidFill>
                  <a:srgbClr val="CF7B2B"/>
                </a:solidFill>
                <a:latin typeface="DejaVu Sans"/>
              </a:defRPr>
            </a:pPr>
            <a:r>
              <a:rPr>
                <a:ea typeface="DejaVu Sans"/>
              </a:rPr>
              <a:t>释放 ℏω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05 发射与吸收</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热电子通过净声子发射把能量交给晶格</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晶格获能取决于所有允许跃迁的净能量流</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整理自 [R1]；模式非平衡见 [R4]</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06</a:t>
            </a:r>
          </a:p>
        </p:txBody>
      </p:sp>
      <p:sp>
        <p:nvSpPr>
          <p:cNvPr id="9" name="TextBox 8"/>
          <p:cNvSpPr txBox="1"/>
          <p:nvPr/>
        </p:nvSpPr>
        <p:spPr>
          <a:xfrm>
            <a:off x="685800" y="1792224"/>
            <a:ext cx="5166360" cy="548640"/>
          </a:xfrm>
          <a:prstGeom prst="rect">
            <a:avLst/>
          </a:prstGeom>
          <a:noFill/>
        </p:spPr>
        <p:txBody>
          <a:bodyPr wrap="square" lIns="0" rIns="0" tIns="0" bIns="0">
            <a:noAutofit/>
          </a:bodyPr>
          <a:lstStyle/>
          <a:p>
            <a:pPr algn="l" marL="0" indent="0">
              <a:spcAft>
                <a:spcPts val="500"/>
              </a:spcAft>
              <a:defRPr sz="2500" b="1">
                <a:solidFill>
                  <a:srgbClr val="CF7B2B"/>
                </a:solidFill>
                <a:latin typeface="Noto Sans CJK SC"/>
              </a:defRPr>
            </a:pPr>
            <a:r>
              <a:rPr>
                <a:ea typeface="Noto Sans CJK SC"/>
              </a:rPr>
              <a:t>发射声子</a:t>
            </a:r>
          </a:p>
        </p:txBody>
      </p:sp>
      <p:sp>
        <p:nvSpPr>
          <p:cNvPr id="10" name="TextBox 9"/>
          <p:cNvSpPr txBox="1"/>
          <p:nvPr/>
        </p:nvSpPr>
        <p:spPr>
          <a:xfrm>
            <a:off x="685800" y="2532888"/>
            <a:ext cx="5166360" cy="1051560"/>
          </a:xfrm>
          <a:prstGeom prst="rect">
            <a:avLst/>
          </a:prstGeom>
          <a:noFill/>
        </p:spPr>
        <p:txBody>
          <a:bodyPr wrap="square" lIns="0" rIns="0" tIns="0" bIns="0">
            <a:noAutofit/>
          </a:bodyPr>
          <a:lstStyle/>
          <a:p>
            <a:pPr algn="l" marL="0" indent="0">
              <a:spcAft>
                <a:spcPts val="500"/>
              </a:spcAft>
              <a:defRPr sz="2300" b="0">
                <a:solidFill>
                  <a:srgbClr val="243343"/>
                </a:solidFill>
                <a:latin typeface="Noto Sans CJK SC"/>
              </a:defRPr>
            </a:pPr>
            <a:r>
              <a:rPr>
                <a:ea typeface="Noto Sans CJK SC"/>
              </a:rPr>
              <a:t>电子能量减少 ℏω</a:t>
            </a:r>
          </a:p>
          <a:p>
            <a:pPr algn="l" marL="0" indent="0">
              <a:spcAft>
                <a:spcPts val="500"/>
              </a:spcAft>
              <a:defRPr sz="2300" b="0">
                <a:solidFill>
                  <a:srgbClr val="243343"/>
                </a:solidFill>
                <a:latin typeface="Noto Sans CJK SC"/>
              </a:defRPr>
            </a:pPr>
            <a:r>
              <a:rPr>
                <a:ea typeface="Noto Sans CJK SC"/>
              </a:rPr>
              <a:t>声子占据增加 1</a:t>
            </a:r>
          </a:p>
        </p:txBody>
      </p:sp>
      <p:sp>
        <p:nvSpPr>
          <p:cNvPr id="11" name="TextBox 10"/>
          <p:cNvSpPr txBox="1"/>
          <p:nvPr/>
        </p:nvSpPr>
        <p:spPr>
          <a:xfrm>
            <a:off x="685800" y="3840480"/>
            <a:ext cx="5166360" cy="640080"/>
          </a:xfrm>
          <a:prstGeom prst="rect">
            <a:avLst/>
          </a:prstGeom>
          <a:noFill/>
        </p:spPr>
        <p:txBody>
          <a:bodyPr wrap="square" lIns="0" rIns="0" tIns="0" bIns="0">
            <a:noAutofit/>
          </a:bodyPr>
          <a:lstStyle/>
          <a:p>
            <a:pPr algn="l" marL="0" indent="0">
              <a:spcAft>
                <a:spcPts val="500"/>
              </a:spcAft>
              <a:defRPr sz="2600" b="0">
                <a:solidFill>
                  <a:srgbClr val="CF7B2B"/>
                </a:solidFill>
                <a:latin typeface="DejaVu Sans"/>
              </a:defRPr>
            </a:pPr>
            <a:r>
              <a:rPr>
                <a:ea typeface="DejaVu Sans"/>
              </a:rPr>
              <a:t>Γₑₘ ∝ |M|² (n + 1)</a:t>
            </a:r>
          </a:p>
        </p:txBody>
      </p:sp>
      <p:sp>
        <p:nvSpPr>
          <p:cNvPr id="12" name="TextBox 11"/>
          <p:cNvSpPr txBox="1"/>
          <p:nvPr/>
        </p:nvSpPr>
        <p:spPr>
          <a:xfrm>
            <a:off x="6400800" y="1792224"/>
            <a:ext cx="5166360" cy="548640"/>
          </a:xfrm>
          <a:prstGeom prst="rect">
            <a:avLst/>
          </a:prstGeom>
          <a:noFill/>
        </p:spPr>
        <p:txBody>
          <a:bodyPr wrap="square" lIns="0" rIns="0" tIns="0" bIns="0">
            <a:noAutofit/>
          </a:bodyPr>
          <a:lstStyle/>
          <a:p>
            <a:pPr algn="l" marL="0" indent="0">
              <a:spcAft>
                <a:spcPts val="500"/>
              </a:spcAft>
              <a:defRPr sz="2500" b="1">
                <a:solidFill>
                  <a:srgbClr val="2560A8"/>
                </a:solidFill>
                <a:latin typeface="Noto Sans CJK SC"/>
              </a:defRPr>
            </a:pPr>
            <a:r>
              <a:rPr>
                <a:ea typeface="Noto Sans CJK SC"/>
              </a:rPr>
              <a:t>吸收声子</a:t>
            </a:r>
          </a:p>
        </p:txBody>
      </p:sp>
      <p:sp>
        <p:nvSpPr>
          <p:cNvPr id="13" name="TextBox 12"/>
          <p:cNvSpPr txBox="1"/>
          <p:nvPr/>
        </p:nvSpPr>
        <p:spPr>
          <a:xfrm>
            <a:off x="6400800" y="2532888"/>
            <a:ext cx="5166360" cy="1051560"/>
          </a:xfrm>
          <a:prstGeom prst="rect">
            <a:avLst/>
          </a:prstGeom>
          <a:noFill/>
        </p:spPr>
        <p:txBody>
          <a:bodyPr wrap="square" lIns="0" rIns="0" tIns="0" bIns="0">
            <a:noAutofit/>
          </a:bodyPr>
          <a:lstStyle/>
          <a:p>
            <a:pPr algn="l" marL="0" indent="0">
              <a:spcAft>
                <a:spcPts val="500"/>
              </a:spcAft>
              <a:defRPr sz="2300" b="0">
                <a:solidFill>
                  <a:srgbClr val="243343"/>
                </a:solidFill>
                <a:latin typeface="Noto Sans CJK SC"/>
              </a:defRPr>
            </a:pPr>
            <a:r>
              <a:rPr>
                <a:ea typeface="Noto Sans CJK SC"/>
              </a:rPr>
              <a:t>电子能量增加 ℏω</a:t>
            </a:r>
          </a:p>
          <a:p>
            <a:pPr algn="l" marL="0" indent="0">
              <a:spcAft>
                <a:spcPts val="500"/>
              </a:spcAft>
              <a:defRPr sz="2300" b="0">
                <a:solidFill>
                  <a:srgbClr val="243343"/>
                </a:solidFill>
                <a:latin typeface="Noto Sans CJK SC"/>
              </a:defRPr>
            </a:pPr>
            <a:r>
              <a:rPr>
                <a:ea typeface="Noto Sans CJK SC"/>
              </a:rPr>
              <a:t>声子占据减少 1</a:t>
            </a:r>
          </a:p>
        </p:txBody>
      </p:sp>
      <p:sp>
        <p:nvSpPr>
          <p:cNvPr id="14" name="TextBox 13"/>
          <p:cNvSpPr txBox="1"/>
          <p:nvPr/>
        </p:nvSpPr>
        <p:spPr>
          <a:xfrm>
            <a:off x="6400800" y="3840480"/>
            <a:ext cx="5166360" cy="640080"/>
          </a:xfrm>
          <a:prstGeom prst="rect">
            <a:avLst/>
          </a:prstGeom>
          <a:noFill/>
        </p:spPr>
        <p:txBody>
          <a:bodyPr wrap="square" lIns="0" rIns="0" tIns="0" bIns="0">
            <a:noAutofit/>
          </a:bodyPr>
          <a:lstStyle/>
          <a:p>
            <a:pPr algn="l" marL="0" indent="0">
              <a:spcAft>
                <a:spcPts val="500"/>
              </a:spcAft>
              <a:defRPr sz="2600" b="0">
                <a:solidFill>
                  <a:srgbClr val="2560A8"/>
                </a:solidFill>
                <a:latin typeface="DejaVu Sans"/>
              </a:defRPr>
            </a:pPr>
            <a:r>
              <a:rPr>
                <a:ea typeface="DejaVu Sans"/>
              </a:rPr>
              <a:t>Γₐᵦₛ ∝ |M|² n</a:t>
            </a:r>
          </a:p>
        </p:txBody>
      </p:sp>
      <p:cxnSp>
        <p:nvCxnSpPr>
          <p:cNvPr id="15" name="Connector 14"/>
          <p:cNvCxnSpPr/>
          <p:nvPr/>
        </p:nvCxnSpPr>
        <p:spPr>
          <a:xfrm>
            <a:off x="5989320" y="1828800"/>
            <a:ext cx="0" cy="3383280"/>
          </a:xfrm>
          <a:prstGeom prst="line">
            <a:avLst/>
          </a:prstGeom>
          <a:ln w="1270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4754880"/>
            <a:ext cx="10789920" cy="457200"/>
          </a:xfrm>
          <a:prstGeom prst="rect">
            <a:avLst/>
          </a:prstGeom>
          <a:noFill/>
        </p:spPr>
        <p:txBody>
          <a:bodyPr wrap="none" lIns="0" rIns="0" tIns="0" bIns="0">
            <a:noAutofit/>
          </a:bodyPr>
          <a:lstStyle/>
          <a:p>
            <a:r>
              <a:rPr sz="2200" b="0">
                <a:solidFill>
                  <a:srgbClr val="243343"/>
                </a:solidFill>
                <a:latin typeface="DejaVu Sans"/>
              </a:rPr>
              <a:t>谐振模式示例： ⟨Q²⟩ = ℏ(n+½)/(M</a:t>
            </a:r>
            <a:r>
              <a:rPr sz="1584" b="0" baseline="-25000">
                <a:solidFill>
                  <a:srgbClr val="243343"/>
                </a:solidFill>
                <a:latin typeface="DejaVu Sans"/>
              </a:rPr>
              <a:t>eff</a:t>
            </a:r>
            <a:r>
              <a:rPr sz="2200" b="0">
                <a:solidFill>
                  <a:srgbClr val="243343"/>
                </a:solidFill>
                <a:latin typeface="DejaVu Sans"/>
              </a:rPr>
              <a:t>ω)</a:t>
            </a:r>
          </a:p>
        </p:txBody>
      </p:sp>
      <p:sp>
        <p:nvSpPr>
          <p:cNvPr id="17" name="TextBox 16"/>
          <p:cNvSpPr txBox="1"/>
          <p:nvPr/>
        </p:nvSpPr>
        <p:spPr>
          <a:xfrm>
            <a:off x="685800" y="5422392"/>
            <a:ext cx="10789920" cy="365760"/>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还需满足能量守恒、晶体动量选择及电子态占据限制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06 模型适用条件</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电子与声子各自接近热分布后，双温描述才成立</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最早期的非热电子与非热声子需要分布函数描述</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整理自 [R1, R4, R5]</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07</a:t>
            </a:r>
          </a:p>
        </p:txBody>
      </p:sp>
      <p:graphicFrame>
        <p:nvGraphicFramePr>
          <p:cNvPr id="9" name="Table 8"/>
          <p:cNvGraphicFramePr>
            <a:graphicFrameLocks noGrp="1"/>
          </p:cNvGraphicFramePr>
          <p:nvPr/>
        </p:nvGraphicFramePr>
        <p:xfrm>
          <a:off x="548640" y="1737360"/>
          <a:ext cx="11064240" cy="3520440"/>
        </p:xfrm>
        <a:graphic>
          <a:graphicData uri="http://schemas.openxmlformats.org/drawingml/2006/table">
            <a:tbl>
              <a:tblPr firstRow="1" bandRow="1">
                <a:tableStyleId>{5C22544A-7EE6-4342-B048-85BDC9FD1C3A}</a:tableStyleId>
              </a:tblPr>
              <a:tblGrid>
                <a:gridCol w="2743200"/>
                <a:gridCol w="4023360"/>
                <a:gridCol w="4297680"/>
              </a:tblGrid>
              <a:tr h="704088">
                <a:tc>
                  <a:txBody>
                    <a:bodyPr/>
                    <a:lstStyle/>
                    <a:p>
                      <a:pPr>
                        <a:defRPr sz="1700" b="1">
                          <a:solidFill>
                            <a:srgbClr val="FFFFFF"/>
                          </a:solidFill>
                          <a:latin typeface="Noto Sans CJK SC"/>
                        </a:defRPr>
                      </a:pPr>
                      <a:r>
                        <a:t>阶段</a:t>
                      </a:r>
                    </a:p>
                  </a:txBody>
                  <a:tcPr marL="118872" marR="109728" marT="73152" marB="73152" anchor="ctr">
                    <a:solidFill>
                      <a:srgbClr val="142E46"/>
                    </a:solidFill>
                  </a:tcPr>
                </a:tc>
                <a:tc>
                  <a:txBody>
                    <a:bodyPr/>
                    <a:lstStyle/>
                    <a:p>
                      <a:pPr>
                        <a:defRPr sz="1700" b="1">
                          <a:solidFill>
                            <a:srgbClr val="FFFFFF"/>
                          </a:solidFill>
                          <a:latin typeface="Noto Sans CJK SC"/>
                        </a:defRPr>
                      </a:pPr>
                      <a:r>
                        <a:t>更合适的描述</a:t>
                      </a:r>
                    </a:p>
                  </a:txBody>
                  <a:tcPr marL="118872" marR="109728" marT="73152" marB="73152" anchor="ctr">
                    <a:solidFill>
                      <a:srgbClr val="142E46"/>
                    </a:solidFill>
                  </a:tcPr>
                </a:tc>
                <a:tc>
                  <a:txBody>
                    <a:bodyPr/>
                    <a:lstStyle/>
                    <a:p>
                      <a:pPr>
                        <a:defRPr sz="1700" b="1">
                          <a:solidFill>
                            <a:srgbClr val="FFFFFF"/>
                          </a:solidFill>
                          <a:latin typeface="Noto Sans CJK SC"/>
                        </a:defRPr>
                      </a:pPr>
                      <a:r>
                        <a:t>需要确认的条件</a:t>
                      </a:r>
                    </a:p>
                  </a:txBody>
                  <a:tcPr marL="118872" marR="109728" marT="73152" marB="73152" anchor="ctr">
                    <a:solidFill>
                      <a:srgbClr val="142E46"/>
                    </a:solidFill>
                  </a:tcPr>
                </a:tc>
              </a:tr>
              <a:tr h="704088">
                <a:tc>
                  <a:txBody>
                    <a:bodyPr/>
                    <a:lstStyle/>
                    <a:p>
                      <a:pPr>
                        <a:defRPr sz="1800" b="0">
                          <a:solidFill>
                            <a:srgbClr val="243343"/>
                          </a:solidFill>
                          <a:latin typeface="Noto Sans CJK SC"/>
                        </a:defRPr>
                      </a:pPr>
                      <a:r>
                        <a:t>电子级联早期</a:t>
                      </a:r>
                    </a:p>
                  </a:txBody>
                  <a:tcPr marL="118872" marR="109728" marT="73152" marB="73152" anchor="ctr">
                    <a:solidFill>
                      <a:srgbClr val="EFF4F8"/>
                    </a:solidFill>
                  </a:tcPr>
                </a:tc>
                <a:tc>
                  <a:txBody>
                    <a:bodyPr/>
                    <a:lstStyle/>
                    <a:p>
                      <a:pPr>
                        <a:defRPr sz="1800" b="0">
                          <a:solidFill>
                            <a:srgbClr val="243343"/>
                          </a:solidFill>
                          <a:latin typeface="Noto Sans CJK SC"/>
                        </a:defRPr>
                      </a:pPr>
                      <a:r>
                        <a:t>f(E, r, t)</a:t>
                      </a:r>
                    </a:p>
                  </a:txBody>
                  <a:tcPr marL="118872" marR="109728" marT="73152" marB="73152" anchor="ctr">
                    <a:solidFill>
                      <a:srgbClr val="EFF4F8"/>
                    </a:solidFill>
                  </a:tcPr>
                </a:tc>
                <a:tc>
                  <a:txBody>
                    <a:bodyPr/>
                    <a:lstStyle/>
                    <a:p>
                      <a:pPr>
                        <a:defRPr sz="1800" b="0">
                          <a:solidFill>
                            <a:srgbClr val="243343"/>
                          </a:solidFill>
                          <a:latin typeface="Noto Sans CJK SC"/>
                        </a:defRPr>
                      </a:pPr>
                      <a:r>
                        <a:t>电离、次级电子与输运</a:t>
                      </a:r>
                    </a:p>
                  </a:txBody>
                  <a:tcPr marL="118872" marR="109728" marT="73152" marB="73152" anchor="ctr">
                    <a:solidFill>
                      <a:srgbClr val="EFF4F8"/>
                    </a:solidFill>
                  </a:tcPr>
                </a:tc>
              </a:tr>
              <a:tr h="704088">
                <a:tc>
                  <a:txBody>
                    <a:bodyPr/>
                    <a:lstStyle/>
                    <a:p>
                      <a:pPr>
                        <a:defRPr sz="1800" b="0">
                          <a:solidFill>
                            <a:srgbClr val="243343"/>
                          </a:solidFill>
                          <a:latin typeface="Noto Sans CJK SC"/>
                        </a:defRPr>
                      </a:pPr>
                      <a:r>
                        <a:t>电子近热平衡</a:t>
                      </a:r>
                    </a:p>
                  </a:txBody>
                  <a:tcPr marL="118872" marR="109728" marT="73152" marB="73152" anchor="ctr">
                    <a:solidFill>
                      <a:srgbClr val="FFFFFF"/>
                    </a:solidFill>
                  </a:tcPr>
                </a:tc>
                <a:tc>
                  <a:txBody>
                    <a:bodyPr/>
                    <a:lstStyle/>
                    <a:p>
                      <a:pPr>
                        <a:defRPr sz="1800" b="0">
                          <a:solidFill>
                            <a:srgbClr val="243343"/>
                          </a:solidFill>
                          <a:latin typeface="Noto Sans CJK SC"/>
                        </a:defRPr>
                      </a:pPr>
                      <a:r>
                        <a:t>Tₑ，Fermi–Dirac 分布</a:t>
                      </a:r>
                    </a:p>
                  </a:txBody>
                  <a:tcPr marL="118872" marR="109728" marT="73152" marB="73152" anchor="ctr">
                    <a:solidFill>
                      <a:srgbClr val="FFFFFF"/>
                    </a:solidFill>
                  </a:tcPr>
                </a:tc>
                <a:tc>
                  <a:txBody>
                    <a:bodyPr/>
                    <a:lstStyle/>
                    <a:p>
                      <a:pPr>
                        <a:defRPr sz="1800" b="0">
                          <a:solidFill>
                            <a:srgbClr val="243343"/>
                          </a:solidFill>
                          <a:latin typeface="Noto Sans CJK SC"/>
                        </a:defRPr>
                      </a:pPr>
                      <a:r>
                        <a:t>内部热化快于后续演化</a:t>
                      </a:r>
                    </a:p>
                  </a:txBody>
                  <a:tcPr marL="118872" marR="109728" marT="73152" marB="73152" anchor="ctr">
                    <a:solidFill>
                      <a:srgbClr val="FFFFFF"/>
                    </a:solidFill>
                  </a:tcPr>
                </a:tc>
              </a:tr>
              <a:tr h="704088">
                <a:tc>
                  <a:txBody>
                    <a:bodyPr/>
                    <a:lstStyle/>
                    <a:p>
                      <a:pPr>
                        <a:defRPr sz="1800" b="0">
                          <a:solidFill>
                            <a:srgbClr val="243343"/>
                          </a:solidFill>
                          <a:latin typeface="Noto Sans CJK SC"/>
                        </a:defRPr>
                      </a:pPr>
                      <a:r>
                        <a:t>声子模式近热平衡</a:t>
                      </a:r>
                    </a:p>
                  </a:txBody>
                  <a:tcPr marL="118872" marR="109728" marT="73152" marB="73152" anchor="ctr">
                    <a:solidFill>
                      <a:srgbClr val="EFF4F8"/>
                    </a:solidFill>
                  </a:tcPr>
                </a:tc>
                <a:tc>
                  <a:txBody>
                    <a:bodyPr/>
                    <a:lstStyle/>
                    <a:p>
                      <a:pPr>
                        <a:defRPr sz="1800" b="0">
                          <a:solidFill>
                            <a:srgbClr val="243343"/>
                          </a:solidFill>
                          <a:latin typeface="Noto Sans CJK SC"/>
                        </a:defRPr>
                      </a:pPr>
                      <a:r>
                        <a:t>Tₗ，Bose–Einstein 分布</a:t>
                      </a:r>
                    </a:p>
                  </a:txBody>
                  <a:tcPr marL="118872" marR="109728" marT="73152" marB="73152" anchor="ctr">
                    <a:solidFill>
                      <a:srgbClr val="EFF4F8"/>
                    </a:solidFill>
                  </a:tcPr>
                </a:tc>
                <a:tc>
                  <a:txBody>
                    <a:bodyPr/>
                    <a:lstStyle/>
                    <a:p>
                      <a:pPr>
                        <a:defRPr sz="1800" b="0">
                          <a:solidFill>
                            <a:srgbClr val="243343"/>
                          </a:solidFill>
                          <a:latin typeface="Noto Sans CJK SC"/>
                        </a:defRPr>
                      </a:pPr>
                      <a:r>
                        <a:t>声子之间充分再分配</a:t>
                      </a:r>
                    </a:p>
                  </a:txBody>
                  <a:tcPr marL="118872" marR="109728" marT="73152" marB="73152" anchor="ctr">
                    <a:solidFill>
                      <a:srgbClr val="EFF4F8"/>
                    </a:solidFill>
                  </a:tcPr>
                </a:tc>
              </a:tr>
              <a:tr h="704088">
                <a:tc>
                  <a:txBody>
                    <a:bodyPr/>
                    <a:lstStyle/>
                    <a:p>
                      <a:pPr>
                        <a:defRPr sz="1800" b="0">
                          <a:solidFill>
                            <a:srgbClr val="243343"/>
                          </a:solidFill>
                          <a:latin typeface="Noto Sans CJK SC"/>
                        </a:defRPr>
                      </a:pPr>
                      <a:r>
                        <a:t>强激发或相变阶段</a:t>
                      </a:r>
                    </a:p>
                  </a:txBody>
                  <a:tcPr marL="118872" marR="109728" marT="73152" marB="73152" anchor="ctr">
                    <a:solidFill>
                      <a:srgbClr val="FFFFFF"/>
                    </a:solidFill>
                  </a:tcPr>
                </a:tc>
                <a:tc>
                  <a:txBody>
                    <a:bodyPr/>
                    <a:lstStyle/>
                    <a:p>
                      <a:pPr>
                        <a:defRPr sz="1800" b="0">
                          <a:solidFill>
                            <a:srgbClr val="243343"/>
                          </a:solidFill>
                          <a:latin typeface="Noto Sans CJK SC"/>
                        </a:defRPr>
                      </a:pPr>
                      <a:r>
                        <a:t>非平衡动力学 / MD</a:t>
                      </a:r>
                    </a:p>
                  </a:txBody>
                  <a:tcPr marL="118872" marR="109728" marT="73152" marB="73152" anchor="ctr">
                    <a:solidFill>
                      <a:srgbClr val="FFFFFF"/>
                    </a:solidFill>
                  </a:tcPr>
                </a:tc>
                <a:tc>
                  <a:txBody>
                    <a:bodyPr/>
                    <a:lstStyle/>
                    <a:p>
                      <a:pPr>
                        <a:defRPr sz="1800" b="0">
                          <a:solidFill>
                            <a:srgbClr val="243343"/>
                          </a:solidFill>
                          <a:latin typeface="Noto Sans CJK SC"/>
                        </a:defRPr>
                      </a:pPr>
                      <a:r>
                        <a:t>检查能带、势函数与相态</a:t>
                      </a:r>
                    </a:p>
                  </a:txBody>
                  <a:tcPr marL="118872" marR="109728" marT="73152" marB="73152" anchor="ctr">
                    <a:solidFill>
                      <a:srgbClr val="FFFFFF"/>
                    </a:solidFill>
                  </a:tcPr>
                </a:tc>
              </a:tr>
            </a:tbl>
          </a:graphicData>
        </a:graphic>
      </p:graphicFrame>
      <p:sp>
        <p:nvSpPr>
          <p:cNvPr id="10" name="TextBox 9"/>
          <p:cNvSpPr txBox="1"/>
          <p:nvPr/>
        </p:nvSpPr>
        <p:spPr>
          <a:xfrm>
            <a:off x="685800" y="5486400"/>
            <a:ext cx="10789920" cy="384048"/>
          </a:xfrm>
          <a:prstGeom prst="rect">
            <a:avLst/>
          </a:prstGeom>
          <a:noFill/>
        </p:spPr>
        <p:txBody>
          <a:bodyPr wrap="square" lIns="0" rIns="0" tIns="0" bIns="0">
            <a:noAutofit/>
          </a:bodyPr>
          <a:lstStyle/>
          <a:p>
            <a:pPr algn="l" marL="0" indent="0">
              <a:spcAft>
                <a:spcPts val="500"/>
              </a:spcAft>
              <a:defRPr sz="2000" b="1">
                <a:solidFill>
                  <a:srgbClr val="2560A8"/>
                </a:solidFill>
                <a:latin typeface="Noto Sans CJK SC"/>
              </a:defRPr>
            </a:pPr>
            <a:r>
              <a:rPr>
                <a:ea typeface="Noto Sans CJK SC"/>
              </a:rPr>
              <a:t>电子—电子散射主要重分配电子体系内的能量</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07 非弹性热峰模型</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双温模型用守恒方程连接电子能量与晶格能量</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耦合项在两个方程中符号相反，保证内部能量交换守恒</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整理自 [R1, R2]；参数温度依赖见 [R3]</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08</a:t>
            </a:r>
          </a:p>
        </p:txBody>
      </p:sp>
      <p:sp>
        <p:nvSpPr>
          <p:cNvPr id="9" name="TextBox 8"/>
          <p:cNvSpPr txBox="1"/>
          <p:nvPr/>
        </p:nvSpPr>
        <p:spPr>
          <a:xfrm>
            <a:off x="640080" y="1920240"/>
            <a:ext cx="10972800" cy="640080"/>
          </a:xfrm>
          <a:prstGeom prst="rect">
            <a:avLst/>
          </a:prstGeom>
          <a:noFill/>
        </p:spPr>
        <p:txBody>
          <a:bodyPr wrap="square" lIns="0" rIns="0" tIns="0" bIns="0">
            <a:noAutofit/>
          </a:bodyPr>
          <a:lstStyle/>
          <a:p>
            <a:pPr algn="l" marL="0" indent="0">
              <a:spcAft>
                <a:spcPts val="500"/>
              </a:spcAft>
              <a:defRPr sz="2500" b="0">
                <a:solidFill>
                  <a:srgbClr val="2560A8"/>
                </a:solidFill>
                <a:latin typeface="DejaVu Sans"/>
              </a:defRPr>
            </a:pPr>
            <a:r>
              <a:rPr>
                <a:ea typeface="DejaVu Sans"/>
              </a:rPr>
              <a:t>Cₑ ∂Tₑ/∂t = ∇·(Kₑ∇Tₑ) − G(Tₑ − Tₗ) + A</a:t>
            </a:r>
          </a:p>
        </p:txBody>
      </p:sp>
      <p:sp>
        <p:nvSpPr>
          <p:cNvPr id="10" name="TextBox 9"/>
          <p:cNvSpPr txBox="1"/>
          <p:nvPr/>
        </p:nvSpPr>
        <p:spPr>
          <a:xfrm>
            <a:off x="640080" y="2862072"/>
            <a:ext cx="10972800" cy="640080"/>
          </a:xfrm>
          <a:prstGeom prst="rect">
            <a:avLst/>
          </a:prstGeom>
          <a:noFill/>
        </p:spPr>
        <p:txBody>
          <a:bodyPr wrap="square" lIns="0" rIns="0" tIns="0" bIns="0">
            <a:noAutofit/>
          </a:bodyPr>
          <a:lstStyle/>
          <a:p>
            <a:pPr algn="l" marL="0" indent="0">
              <a:spcAft>
                <a:spcPts val="500"/>
              </a:spcAft>
              <a:defRPr sz="2500" b="0">
                <a:solidFill>
                  <a:srgbClr val="CF7B2B"/>
                </a:solidFill>
                <a:latin typeface="DejaVu Sans"/>
              </a:defRPr>
            </a:pPr>
            <a:r>
              <a:rPr>
                <a:ea typeface="DejaVu Sans"/>
              </a:rPr>
              <a:t>Cₗ ∂Tₗ/∂t = ∇·(Kₗ∇Tₗ) + G(Tₑ − Tₗ)</a:t>
            </a:r>
          </a:p>
        </p:txBody>
      </p:sp>
      <p:sp>
        <p:nvSpPr>
          <p:cNvPr id="11" name="TextBox 10"/>
          <p:cNvSpPr txBox="1"/>
          <p:nvPr/>
        </p:nvSpPr>
        <p:spPr>
          <a:xfrm>
            <a:off x="685800" y="4251960"/>
            <a:ext cx="3108960" cy="411480"/>
          </a:xfrm>
          <a:prstGeom prst="rect">
            <a:avLst/>
          </a:prstGeom>
          <a:noFill/>
        </p:spPr>
        <p:txBody>
          <a:bodyPr wrap="square" lIns="0" rIns="0" tIns="0" bIns="0">
            <a:noAutofit/>
          </a:bodyPr>
          <a:lstStyle/>
          <a:p>
            <a:pPr algn="l" marL="0" indent="0">
              <a:spcAft>
                <a:spcPts val="500"/>
              </a:spcAft>
              <a:defRPr sz="2100" b="1">
                <a:solidFill>
                  <a:srgbClr val="2560A8"/>
                </a:solidFill>
                <a:latin typeface="Noto Sans CJK SC"/>
              </a:defRPr>
            </a:pPr>
            <a:r>
              <a:rPr>
                <a:ea typeface="Noto Sans CJK SC"/>
              </a:rPr>
              <a:t>沉积源 A</a:t>
            </a:r>
          </a:p>
        </p:txBody>
      </p:sp>
      <p:sp>
        <p:nvSpPr>
          <p:cNvPr id="12" name="TextBox 11"/>
          <p:cNvSpPr txBox="1"/>
          <p:nvPr/>
        </p:nvSpPr>
        <p:spPr>
          <a:xfrm>
            <a:off x="685800" y="4809744"/>
            <a:ext cx="3108960" cy="658368"/>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由径向电子级联决定</a:t>
            </a:r>
          </a:p>
        </p:txBody>
      </p:sp>
      <p:sp>
        <p:nvSpPr>
          <p:cNvPr id="13" name="TextBox 12"/>
          <p:cNvSpPr txBox="1"/>
          <p:nvPr/>
        </p:nvSpPr>
        <p:spPr>
          <a:xfrm>
            <a:off x="4206240" y="4251960"/>
            <a:ext cx="3108960" cy="411480"/>
          </a:xfrm>
          <a:prstGeom prst="rect">
            <a:avLst/>
          </a:prstGeom>
          <a:noFill/>
        </p:spPr>
        <p:txBody>
          <a:bodyPr wrap="square" lIns="0" rIns="0" tIns="0" bIns="0">
            <a:noAutofit/>
          </a:bodyPr>
          <a:lstStyle/>
          <a:p>
            <a:pPr algn="l" marL="0" indent="0">
              <a:spcAft>
                <a:spcPts val="500"/>
              </a:spcAft>
              <a:defRPr sz="2100" b="1">
                <a:solidFill>
                  <a:srgbClr val="6D7985"/>
                </a:solidFill>
                <a:latin typeface="Noto Sans CJK SC"/>
              </a:defRPr>
            </a:pPr>
            <a:r>
              <a:rPr>
                <a:ea typeface="Noto Sans CJK SC"/>
              </a:rPr>
              <a:t>输运 K</a:t>
            </a:r>
          </a:p>
        </p:txBody>
      </p:sp>
      <p:sp>
        <p:nvSpPr>
          <p:cNvPr id="14" name="TextBox 13"/>
          <p:cNvSpPr txBox="1"/>
          <p:nvPr/>
        </p:nvSpPr>
        <p:spPr>
          <a:xfrm>
            <a:off x="4206240" y="4809744"/>
            <a:ext cx="3108960" cy="658368"/>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使能量向周围扩散</a:t>
            </a:r>
          </a:p>
        </p:txBody>
      </p:sp>
      <p:sp>
        <p:nvSpPr>
          <p:cNvPr id="15" name="TextBox 14"/>
          <p:cNvSpPr txBox="1"/>
          <p:nvPr/>
        </p:nvSpPr>
        <p:spPr>
          <a:xfrm>
            <a:off x="7726679" y="4251960"/>
            <a:ext cx="3108960" cy="411480"/>
          </a:xfrm>
          <a:prstGeom prst="rect">
            <a:avLst/>
          </a:prstGeom>
          <a:noFill/>
        </p:spPr>
        <p:txBody>
          <a:bodyPr wrap="square" lIns="0" rIns="0" tIns="0" bIns="0">
            <a:noAutofit/>
          </a:bodyPr>
          <a:lstStyle/>
          <a:p>
            <a:pPr algn="l" marL="0" indent="0">
              <a:spcAft>
                <a:spcPts val="500"/>
              </a:spcAft>
              <a:defRPr sz="2100" b="1">
                <a:solidFill>
                  <a:srgbClr val="CF7B2B"/>
                </a:solidFill>
                <a:latin typeface="Noto Sans CJK SC"/>
              </a:defRPr>
            </a:pPr>
            <a:r>
              <a:rPr>
                <a:ea typeface="Noto Sans CJK SC"/>
              </a:rPr>
              <a:t>耦合 G</a:t>
            </a:r>
          </a:p>
        </p:txBody>
      </p:sp>
      <p:sp>
        <p:nvSpPr>
          <p:cNvPr id="16" name="TextBox 15"/>
          <p:cNvSpPr txBox="1"/>
          <p:nvPr/>
        </p:nvSpPr>
        <p:spPr>
          <a:xfrm>
            <a:off x="7726679" y="4809744"/>
            <a:ext cx="3108960" cy="658368"/>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决定两体系交换功率</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08 时间尺度竞争</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局域加热取决于耦合与电子能量逃逸的竞争</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较大的 G 或较慢的电子输运，有利于能量在轨迹附近交给晶格</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经典双温近似推导；背景见 [R2, R5]</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09</a:t>
            </a:r>
          </a:p>
        </p:txBody>
      </p:sp>
      <p:sp>
        <p:nvSpPr>
          <p:cNvPr id="9" name="TextBox 8"/>
          <p:cNvSpPr txBox="1"/>
          <p:nvPr/>
        </p:nvSpPr>
        <p:spPr>
          <a:xfrm>
            <a:off x="685800" y="1856231"/>
            <a:ext cx="5303520" cy="731520"/>
          </a:xfrm>
          <a:prstGeom prst="rect">
            <a:avLst/>
          </a:prstGeom>
          <a:noFill/>
        </p:spPr>
        <p:txBody>
          <a:bodyPr wrap="square" lIns="0" rIns="0" tIns="0" bIns="0">
            <a:noAutofit/>
          </a:bodyPr>
          <a:lstStyle/>
          <a:p>
            <a:pPr algn="l" marL="0" indent="0">
              <a:spcAft>
                <a:spcPts val="500"/>
              </a:spcAft>
              <a:defRPr sz="3300" b="1">
                <a:solidFill>
                  <a:srgbClr val="CF7B2B"/>
                </a:solidFill>
                <a:latin typeface="DejaVu Sans"/>
              </a:defRPr>
            </a:pPr>
            <a:r>
              <a:rPr>
                <a:ea typeface="DejaVu Sans"/>
              </a:rPr>
              <a:t>τₑ₋ₚₕ ≈ Cₑ / G</a:t>
            </a:r>
          </a:p>
        </p:txBody>
      </p:sp>
      <p:sp>
        <p:nvSpPr>
          <p:cNvPr id="10" name="TextBox 9"/>
          <p:cNvSpPr txBox="1"/>
          <p:nvPr/>
        </p:nvSpPr>
        <p:spPr>
          <a:xfrm>
            <a:off x="685800" y="2743200"/>
            <a:ext cx="5303520" cy="502920"/>
          </a:xfrm>
          <a:prstGeom prst="rect">
            <a:avLst/>
          </a:prstGeom>
          <a:noFill/>
        </p:spPr>
        <p:txBody>
          <a:bodyPr wrap="square" lIns="0" rIns="0" tIns="0" bIns="0">
            <a:noAutofit/>
          </a:bodyPr>
          <a:lstStyle/>
          <a:p>
            <a:pPr algn="l" marL="0" indent="0">
              <a:spcAft>
                <a:spcPts val="500"/>
              </a:spcAft>
              <a:defRPr sz="1900" b="0">
                <a:solidFill>
                  <a:srgbClr val="6D7985"/>
                </a:solidFill>
                <a:latin typeface="Noto Sans CJK SC"/>
              </a:defRPr>
            </a:pPr>
            <a:r>
              <a:rPr>
                <a:ea typeface="Noto Sans CJK SC"/>
              </a:rPr>
              <a:t>晶格近似为冷库时的电子冷却尺度</a:t>
            </a:r>
          </a:p>
        </p:txBody>
      </p:sp>
      <p:sp>
        <p:nvSpPr>
          <p:cNvPr id="11" name="TextBox 10"/>
          <p:cNvSpPr txBox="1"/>
          <p:nvPr/>
        </p:nvSpPr>
        <p:spPr>
          <a:xfrm>
            <a:off x="6446520" y="1856231"/>
            <a:ext cx="5166360" cy="731520"/>
          </a:xfrm>
          <a:prstGeom prst="rect">
            <a:avLst/>
          </a:prstGeom>
          <a:noFill/>
        </p:spPr>
        <p:txBody>
          <a:bodyPr wrap="square" lIns="0" rIns="0" tIns="0" bIns="0">
            <a:noAutofit/>
          </a:bodyPr>
          <a:lstStyle/>
          <a:p>
            <a:pPr algn="l" marL="0" indent="0">
              <a:spcAft>
                <a:spcPts val="500"/>
              </a:spcAft>
              <a:defRPr sz="3100" b="1">
                <a:solidFill>
                  <a:srgbClr val="2560A8"/>
                </a:solidFill>
                <a:latin typeface="DejaVu Sans"/>
              </a:defRPr>
            </a:pPr>
            <a:r>
              <a:rPr>
                <a:ea typeface="DejaVu Sans"/>
              </a:rPr>
              <a:t>τdiff ≈ R² / Dₑ</a:t>
            </a:r>
          </a:p>
        </p:txBody>
      </p:sp>
      <p:sp>
        <p:nvSpPr>
          <p:cNvPr id="12" name="TextBox 11"/>
          <p:cNvSpPr txBox="1"/>
          <p:nvPr/>
        </p:nvSpPr>
        <p:spPr>
          <a:xfrm>
            <a:off x="6446520" y="2743200"/>
            <a:ext cx="5120640" cy="502920"/>
          </a:xfrm>
          <a:prstGeom prst="rect">
            <a:avLst/>
          </a:prstGeom>
          <a:noFill/>
        </p:spPr>
        <p:txBody>
          <a:bodyPr wrap="square" lIns="0" rIns="0" tIns="0" bIns="0">
            <a:noAutofit/>
          </a:bodyPr>
          <a:lstStyle/>
          <a:p>
            <a:pPr algn="l" marL="0" indent="0">
              <a:spcAft>
                <a:spcPts val="500"/>
              </a:spcAft>
              <a:defRPr sz="1900" b="0">
                <a:solidFill>
                  <a:srgbClr val="6D7985"/>
                </a:solidFill>
                <a:latin typeface="DejaVu Sans"/>
              </a:defRPr>
            </a:pPr>
            <a:r>
              <a:rPr>
                <a:ea typeface="DejaVu Sans"/>
              </a:rPr>
              <a:t>Dₑ = Kₑ / Cₑ，几何因子从略</a:t>
            </a:r>
          </a:p>
        </p:txBody>
      </p:sp>
      <p:cxnSp>
        <p:nvCxnSpPr>
          <p:cNvPr id="13" name="Connector 12"/>
          <p:cNvCxnSpPr/>
          <p:nvPr/>
        </p:nvCxnSpPr>
        <p:spPr>
          <a:xfrm>
            <a:off x="5989320" y="1828800"/>
            <a:ext cx="0" cy="1645920"/>
          </a:xfrm>
          <a:prstGeom prst="line">
            <a:avLst/>
          </a:prstGeom>
          <a:ln w="1270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85800" y="3977639"/>
            <a:ext cx="10789920" cy="640080"/>
          </a:xfrm>
          <a:prstGeom prst="rect">
            <a:avLst/>
          </a:prstGeom>
          <a:noFill/>
        </p:spPr>
        <p:txBody>
          <a:bodyPr wrap="square" lIns="0" rIns="0" tIns="0" bIns="0">
            <a:noAutofit/>
          </a:bodyPr>
          <a:lstStyle/>
          <a:p>
            <a:pPr algn="l" marL="0" indent="0">
              <a:spcAft>
                <a:spcPts val="500"/>
              </a:spcAft>
              <a:defRPr sz="2900" b="1">
                <a:solidFill>
                  <a:srgbClr val="243343"/>
                </a:solidFill>
                <a:latin typeface="DejaVu Sans"/>
              </a:defRPr>
            </a:pPr>
            <a:r>
              <a:rPr>
                <a:ea typeface="DejaVu Sans"/>
              </a:rPr>
              <a:t>χ = τdiff / τₑ₋ₚₕ ≈ G R² / Kₑ</a:t>
            </a:r>
          </a:p>
        </p:txBody>
      </p:sp>
      <p:sp>
        <p:nvSpPr>
          <p:cNvPr id="15" name="TextBox 14"/>
          <p:cNvSpPr txBox="1"/>
          <p:nvPr/>
        </p:nvSpPr>
        <p:spPr>
          <a:xfrm>
            <a:off x="685800" y="4937760"/>
            <a:ext cx="10789920" cy="457200"/>
          </a:xfrm>
          <a:prstGeom prst="rect">
            <a:avLst/>
          </a:prstGeom>
          <a:noFill/>
        </p:spPr>
        <p:txBody>
          <a:bodyPr wrap="square" lIns="0" rIns="0" tIns="0" bIns="0">
            <a:noAutofit/>
          </a:bodyPr>
          <a:lstStyle/>
          <a:p>
            <a:pPr algn="l" marL="0" indent="0">
              <a:spcAft>
                <a:spcPts val="500"/>
              </a:spcAft>
              <a:defRPr sz="2300" b="0">
                <a:solidFill>
                  <a:srgbClr val="243343"/>
                </a:solidFill>
                <a:latin typeface="Noto Sans CJK SC"/>
              </a:defRPr>
            </a:pPr>
            <a:r>
              <a:rPr>
                <a:ea typeface="Noto Sans CJK SC"/>
              </a:rPr>
              <a:t>χ 大：局域转移较快     χ 小：电子先扩散</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09 定量示例</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教学计算：同样的电子激发，晶格升温可以不同</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这是显热教学模型，未包含相变，不能用它直接判定熔融</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假设参数计算，无实验拟合；方程、参数与能量检查见备份页</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10</a:t>
            </a:r>
          </a:p>
        </p:txBody>
      </p:sp>
      <p:graphicFrame>
        <p:nvGraphicFramePr>
          <p:cNvPr id="9" name="Chart 8"/>
          <p:cNvGraphicFramePr>
            <a:graphicFrameLocks noGrp="1"/>
          </p:cNvGraphicFramePr>
          <p:nvPr/>
        </p:nvGraphicFramePr>
        <p:xfrm>
          <a:off x="594360" y="1783080"/>
          <a:ext cx="7406640" cy="4041648"/>
        </p:xfrm>
        <a:graphic>
          <a:graphicData uri="http://schemas.openxmlformats.org/drawingml/2006/chart">
            <c:chart xmlns:c="http://schemas.openxmlformats.org/drawingml/2006/chart" r:id="rId2"/>
          </a:graphicData>
        </a:graphic>
      </p:graphicFrame>
      <p:sp>
        <p:nvSpPr>
          <p:cNvPr id="10" name="TextBox 9"/>
          <p:cNvSpPr txBox="1"/>
          <p:nvPr/>
        </p:nvSpPr>
        <p:spPr>
          <a:xfrm>
            <a:off x="8458200" y="2103120"/>
            <a:ext cx="2743200" cy="640080"/>
          </a:xfrm>
          <a:prstGeom prst="rect">
            <a:avLst/>
          </a:prstGeom>
          <a:noFill/>
        </p:spPr>
        <p:txBody>
          <a:bodyPr wrap="square" lIns="0" rIns="0" tIns="0" bIns="0">
            <a:noAutofit/>
          </a:bodyPr>
          <a:lstStyle/>
          <a:p>
            <a:pPr algn="l" marL="0" indent="0">
              <a:spcAft>
                <a:spcPts val="500"/>
              </a:spcAft>
              <a:defRPr sz="3400" b="1">
                <a:solidFill>
                  <a:srgbClr val="CF7B2B"/>
                </a:solidFill>
                <a:latin typeface="Noto Sans CJK SC"/>
              </a:defRPr>
            </a:pPr>
            <a:r>
              <a:rPr>
                <a:ea typeface="Noto Sans CJK SC"/>
              </a:rPr>
              <a:t>1 005 K</a:t>
            </a:r>
          </a:p>
        </p:txBody>
      </p:sp>
      <p:sp>
        <p:nvSpPr>
          <p:cNvPr id="11" name="TextBox 10"/>
          <p:cNvSpPr txBox="1"/>
          <p:nvPr/>
        </p:nvSpPr>
        <p:spPr>
          <a:xfrm>
            <a:off x="8458200" y="2779776"/>
            <a:ext cx="2743200" cy="411480"/>
          </a:xfrm>
          <a:prstGeom prst="rect">
            <a:avLst/>
          </a:prstGeom>
          <a:noFill/>
        </p:spPr>
        <p:txBody>
          <a:bodyPr wrap="square" lIns="0" rIns="0" tIns="0" bIns="0">
            <a:noAutofit/>
          </a:bodyPr>
          <a:lstStyle/>
          <a:p>
            <a:pPr algn="l" marL="0" indent="0">
              <a:spcAft>
                <a:spcPts val="500"/>
              </a:spcAft>
              <a:defRPr sz="1900" b="0">
                <a:solidFill>
                  <a:srgbClr val="6D7985"/>
                </a:solidFill>
                <a:latin typeface="Noto Sans CJK SC"/>
              </a:defRPr>
            </a:pPr>
            <a:r>
              <a:rPr>
                <a:ea typeface="Noto Sans CJK SC"/>
              </a:rPr>
              <a:t>强耦合的峰值</a:t>
            </a:r>
          </a:p>
        </p:txBody>
      </p:sp>
      <p:sp>
        <p:nvSpPr>
          <p:cNvPr id="12" name="TextBox 11"/>
          <p:cNvSpPr txBox="1"/>
          <p:nvPr/>
        </p:nvSpPr>
        <p:spPr>
          <a:xfrm>
            <a:off x="8458200" y="3657600"/>
            <a:ext cx="2743200" cy="640080"/>
          </a:xfrm>
          <a:prstGeom prst="rect">
            <a:avLst/>
          </a:prstGeom>
          <a:noFill/>
        </p:spPr>
        <p:txBody>
          <a:bodyPr wrap="square" lIns="0" rIns="0" tIns="0" bIns="0">
            <a:noAutofit/>
          </a:bodyPr>
          <a:lstStyle/>
          <a:p>
            <a:pPr algn="l" marL="0" indent="0">
              <a:spcAft>
                <a:spcPts val="500"/>
              </a:spcAft>
              <a:defRPr sz="3400" b="1">
                <a:solidFill>
                  <a:srgbClr val="2560A8"/>
                </a:solidFill>
                <a:latin typeface="Noto Sans CJK SC"/>
              </a:defRPr>
            </a:pPr>
            <a:r>
              <a:rPr>
                <a:ea typeface="Noto Sans CJK SC"/>
              </a:rPr>
              <a:t>588 K</a:t>
            </a:r>
          </a:p>
        </p:txBody>
      </p:sp>
      <p:sp>
        <p:nvSpPr>
          <p:cNvPr id="13" name="TextBox 12"/>
          <p:cNvSpPr txBox="1"/>
          <p:nvPr/>
        </p:nvSpPr>
        <p:spPr>
          <a:xfrm>
            <a:off x="8458200" y="4334256"/>
            <a:ext cx="2743200" cy="411480"/>
          </a:xfrm>
          <a:prstGeom prst="rect">
            <a:avLst/>
          </a:prstGeom>
          <a:noFill/>
        </p:spPr>
        <p:txBody>
          <a:bodyPr wrap="square" lIns="0" rIns="0" tIns="0" bIns="0">
            <a:noAutofit/>
          </a:bodyPr>
          <a:lstStyle/>
          <a:p>
            <a:pPr algn="l" marL="0" indent="0">
              <a:spcAft>
                <a:spcPts val="500"/>
              </a:spcAft>
              <a:defRPr sz="1900" b="0">
                <a:solidFill>
                  <a:srgbClr val="6D7985"/>
                </a:solidFill>
                <a:latin typeface="Noto Sans CJK SC"/>
              </a:defRPr>
            </a:pPr>
            <a:r>
              <a:rPr>
                <a:ea typeface="Noto Sans CJK SC"/>
              </a:rPr>
              <a:t>弱耦合的峰值</a:t>
            </a:r>
          </a:p>
        </p:txBody>
      </p:sp>
      <p:sp>
        <p:nvSpPr>
          <p:cNvPr id="14" name="TextBox 13"/>
          <p:cNvSpPr txBox="1"/>
          <p:nvPr/>
        </p:nvSpPr>
        <p:spPr>
          <a:xfrm>
            <a:off x="8458200" y="5029200"/>
            <a:ext cx="2743200" cy="594360"/>
          </a:xfrm>
          <a:prstGeom prst="rect">
            <a:avLst/>
          </a:prstGeom>
          <a:noFill/>
        </p:spPr>
        <p:txBody>
          <a:bodyPr wrap="square" lIns="0" rIns="0" tIns="0" bIns="0">
            <a:noAutofit/>
          </a:bodyPr>
          <a:lstStyle/>
          <a:p>
            <a:pPr algn="l" marL="0" indent="0">
              <a:spcAft>
                <a:spcPts val="500"/>
              </a:spcAft>
              <a:defRPr sz="1700" b="0">
                <a:solidFill>
                  <a:srgbClr val="6D7985"/>
                </a:solidFill>
                <a:latin typeface="Noto Sans CJK SC"/>
              </a:defRPr>
            </a:pPr>
            <a:r>
              <a:rPr>
                <a:ea typeface="Noto Sans CJK SC"/>
              </a:rPr>
              <a:t>电子逃逸时间相同</a:t>
            </a:r>
          </a:p>
          <a:p>
            <a:pPr algn="l" marL="0" indent="0">
              <a:spcAft>
                <a:spcPts val="500"/>
              </a:spcAft>
              <a:defRPr sz="1700" b="0">
                <a:solidFill>
                  <a:srgbClr val="6D7985"/>
                </a:solidFill>
                <a:latin typeface="Noto Sans CJK SC"/>
              </a:defRPr>
            </a:pPr>
            <a:r>
              <a:rPr>
                <a:ea typeface="Noto Sans CJK SC"/>
              </a:rPr>
              <a:t>τesc = 0.5 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10 熔融条件</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瞬态熔融需要局域焓、持续时间与结构证据</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温度高于平衡熔点是提示，熔融判定还需相变动力学</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焓守恒推导；热峰与相变背景见 [R2, R5]</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11</a:t>
            </a:r>
          </a:p>
        </p:txBody>
      </p:sp>
      <p:sp>
        <p:nvSpPr>
          <p:cNvPr id="9" name="TextBox 8"/>
          <p:cNvSpPr txBox="1"/>
          <p:nvPr/>
        </p:nvSpPr>
        <p:spPr>
          <a:xfrm>
            <a:off x="685800" y="1883664"/>
            <a:ext cx="5715000" cy="731520"/>
          </a:xfrm>
          <a:prstGeom prst="rect">
            <a:avLst/>
          </a:prstGeom>
          <a:noFill/>
        </p:spPr>
        <p:txBody>
          <a:bodyPr wrap="square" lIns="0" rIns="0" tIns="0" bIns="0">
            <a:noAutofit/>
          </a:bodyPr>
          <a:lstStyle/>
          <a:p>
            <a:pPr algn="l" marL="0" indent="0">
              <a:spcAft>
                <a:spcPts val="500"/>
              </a:spcAft>
              <a:defRPr sz="2400" b="1">
                <a:solidFill>
                  <a:srgbClr val="CF7B2B"/>
                </a:solidFill>
                <a:latin typeface="DejaVu Sans"/>
              </a:defRPr>
            </a:pPr>
            <a:r>
              <a:rPr>
                <a:ea typeface="DejaVu Sans"/>
              </a:rPr>
              <a:t>hₘ = ∫ Cvol(T) dT + ρLf</a:t>
            </a:r>
          </a:p>
        </p:txBody>
      </p:sp>
      <p:graphicFrame>
        <p:nvGraphicFramePr>
          <p:cNvPr id="10" name="Chart 9"/>
          <p:cNvGraphicFramePr>
            <a:graphicFrameLocks noGrp="1"/>
          </p:cNvGraphicFramePr>
          <p:nvPr/>
        </p:nvGraphicFramePr>
        <p:xfrm>
          <a:off x="6400800" y="1828800"/>
          <a:ext cx="5120640" cy="3840480"/>
        </p:xfrm>
        <a:graphic>
          <a:graphicData uri="http://schemas.openxmlformats.org/drawingml/2006/chart">
            <c:chart xmlns:c="http://schemas.openxmlformats.org/drawingml/2006/chart" r:id="rId2"/>
          </a:graphicData>
        </a:graphic>
      </p:graphicFrame>
      <p:sp>
        <p:nvSpPr>
          <p:cNvPr id="11" name="TextBox 10"/>
          <p:cNvSpPr txBox="1"/>
          <p:nvPr/>
        </p:nvSpPr>
        <p:spPr>
          <a:xfrm>
            <a:off x="7040880" y="5257800"/>
            <a:ext cx="3931920" cy="365760"/>
          </a:xfrm>
          <a:prstGeom prst="rect">
            <a:avLst/>
          </a:prstGeom>
          <a:noFill/>
        </p:spPr>
        <p:txBody>
          <a:bodyPr wrap="square" lIns="0" rIns="0" tIns="0" bIns="0">
            <a:noAutofit/>
          </a:bodyPr>
          <a:lstStyle/>
          <a:p>
            <a:pPr algn="l" marL="0" indent="0">
              <a:spcAft>
                <a:spcPts val="500"/>
              </a:spcAft>
              <a:defRPr sz="1700" b="1">
                <a:solidFill>
                  <a:srgbClr val="CF7B2B"/>
                </a:solidFill>
                <a:latin typeface="Noto Sans CJK SC"/>
              </a:defRPr>
            </a:pPr>
            <a:r>
              <a:rPr>
                <a:ea typeface="Noto Sans CJK SC"/>
              </a:rPr>
              <a:t>潜热对应焓的跃增</a:t>
            </a:r>
          </a:p>
        </p:txBody>
      </p:sp>
      <p:sp>
        <p:nvSpPr>
          <p:cNvPr id="12" name="TextBox 11"/>
          <p:cNvSpPr txBox="1"/>
          <p:nvPr/>
        </p:nvSpPr>
        <p:spPr>
          <a:xfrm>
            <a:off x="685800" y="2724912"/>
            <a:ext cx="5486400" cy="365760"/>
          </a:xfrm>
          <a:prstGeom prst="rect">
            <a:avLst/>
          </a:prstGeom>
          <a:noFill/>
        </p:spPr>
        <p:txBody>
          <a:bodyPr wrap="square" lIns="0" rIns="0" tIns="0" bIns="0">
            <a:noAutofit/>
          </a:bodyPr>
          <a:lstStyle/>
          <a:p>
            <a:pPr algn="l" marL="0" indent="0">
              <a:spcAft>
                <a:spcPts val="500"/>
              </a:spcAft>
              <a:defRPr sz="1900" b="0">
                <a:solidFill>
                  <a:srgbClr val="6D7985"/>
                </a:solidFill>
                <a:latin typeface="Noto Sans CJK SC"/>
              </a:defRPr>
            </a:pPr>
            <a:r>
              <a:rPr>
                <a:ea typeface="Noto Sans CJK SC"/>
              </a:rPr>
              <a:t>积分范围：T₀ 至 Tₘ</a:t>
            </a:r>
          </a:p>
        </p:txBody>
      </p:sp>
      <p:sp>
        <p:nvSpPr>
          <p:cNvPr id="13" name="TextBox 12"/>
          <p:cNvSpPr txBox="1"/>
          <p:nvPr/>
        </p:nvSpPr>
        <p:spPr>
          <a:xfrm>
            <a:off x="685800" y="3410712"/>
            <a:ext cx="5486400" cy="347472"/>
          </a:xfrm>
          <a:prstGeom prst="rect">
            <a:avLst/>
          </a:prstGeom>
          <a:noFill/>
        </p:spPr>
        <p:txBody>
          <a:bodyPr wrap="square" lIns="0" rIns="0" tIns="0" bIns="0">
            <a:noAutofit/>
          </a:bodyPr>
          <a:lstStyle/>
          <a:p>
            <a:pPr algn="l" marL="0" indent="0">
              <a:spcAft>
                <a:spcPts val="500"/>
              </a:spcAft>
              <a:defRPr sz="2100" b="1">
                <a:solidFill>
                  <a:srgbClr val="243343"/>
                </a:solidFill>
                <a:latin typeface="Noto Sans CJK SC"/>
              </a:defRPr>
            </a:pPr>
            <a:r>
              <a:rPr>
                <a:ea typeface="Noto Sans CJK SC"/>
              </a:rPr>
              <a:t>显热</a:t>
            </a:r>
          </a:p>
        </p:txBody>
      </p:sp>
      <p:sp>
        <p:nvSpPr>
          <p:cNvPr id="14" name="TextBox 13"/>
          <p:cNvSpPr txBox="1"/>
          <p:nvPr/>
        </p:nvSpPr>
        <p:spPr>
          <a:xfrm>
            <a:off x="685800" y="3822191"/>
            <a:ext cx="5486400" cy="594360"/>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升温至熔点的总平衡体积热容积分</a:t>
            </a:r>
          </a:p>
        </p:txBody>
      </p:sp>
      <p:sp>
        <p:nvSpPr>
          <p:cNvPr id="15" name="TextBox 14"/>
          <p:cNvSpPr txBox="1"/>
          <p:nvPr/>
        </p:nvSpPr>
        <p:spPr>
          <a:xfrm>
            <a:off x="685800" y="4160520"/>
            <a:ext cx="5486400" cy="347472"/>
          </a:xfrm>
          <a:prstGeom prst="rect">
            <a:avLst/>
          </a:prstGeom>
          <a:noFill/>
        </p:spPr>
        <p:txBody>
          <a:bodyPr wrap="square" lIns="0" rIns="0" tIns="0" bIns="0">
            <a:noAutofit/>
          </a:bodyPr>
          <a:lstStyle/>
          <a:p>
            <a:pPr algn="l" marL="0" indent="0">
              <a:spcAft>
                <a:spcPts val="500"/>
              </a:spcAft>
              <a:defRPr sz="2100" b="1">
                <a:solidFill>
                  <a:srgbClr val="243343"/>
                </a:solidFill>
                <a:latin typeface="Noto Sans CJK SC"/>
              </a:defRPr>
            </a:pPr>
            <a:r>
              <a:rPr>
                <a:ea typeface="Noto Sans CJK SC"/>
              </a:rPr>
              <a:t>熔化潜热</a:t>
            </a:r>
          </a:p>
        </p:txBody>
      </p:sp>
      <p:sp>
        <p:nvSpPr>
          <p:cNvPr id="16" name="TextBox 15"/>
          <p:cNvSpPr txBox="1"/>
          <p:nvPr/>
        </p:nvSpPr>
        <p:spPr>
          <a:xfrm>
            <a:off x="685800" y="4572000"/>
            <a:ext cx="5486400" cy="594360"/>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完成固液相变需要额外能量</a:t>
            </a:r>
          </a:p>
        </p:txBody>
      </p:sp>
      <p:sp>
        <p:nvSpPr>
          <p:cNvPr id="17" name="TextBox 16"/>
          <p:cNvSpPr txBox="1"/>
          <p:nvPr/>
        </p:nvSpPr>
        <p:spPr>
          <a:xfrm>
            <a:off x="685800" y="4910328"/>
            <a:ext cx="5486400" cy="347472"/>
          </a:xfrm>
          <a:prstGeom prst="rect">
            <a:avLst/>
          </a:prstGeom>
          <a:noFill/>
        </p:spPr>
        <p:txBody>
          <a:bodyPr wrap="square" lIns="0" rIns="0" tIns="0" bIns="0">
            <a:noAutofit/>
          </a:bodyPr>
          <a:lstStyle/>
          <a:p>
            <a:pPr algn="l" marL="0" indent="0">
              <a:spcAft>
                <a:spcPts val="500"/>
              </a:spcAft>
              <a:defRPr sz="2100" b="1">
                <a:solidFill>
                  <a:srgbClr val="243343"/>
                </a:solidFill>
                <a:latin typeface="Noto Sans CJK SC"/>
              </a:defRPr>
            </a:pPr>
            <a:r>
              <a:rPr>
                <a:ea typeface="Noto Sans CJK SC"/>
              </a:rPr>
              <a:t>纳米尺度与超快过程</a:t>
            </a:r>
          </a:p>
        </p:txBody>
      </p:sp>
      <p:sp>
        <p:nvSpPr>
          <p:cNvPr id="18" name="TextBox 17"/>
          <p:cNvSpPr txBox="1"/>
          <p:nvPr/>
        </p:nvSpPr>
        <p:spPr>
          <a:xfrm>
            <a:off x="685800" y="5321808"/>
            <a:ext cx="5486400" cy="594360"/>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压力、过热与成核影响转变时间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11 能量预算</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量纲估算把线能量损失连接到熔融尺度</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5.5 nm 是给定假设下的完全熔融半径上界，不是实测径迹</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原创教学估算：假设 Sₑ、η、hₘ；完整参数见备份页</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12</a:t>
            </a:r>
          </a:p>
        </p:txBody>
      </p:sp>
      <p:sp>
        <p:nvSpPr>
          <p:cNvPr id="9" name="TextBox 8"/>
          <p:cNvSpPr txBox="1"/>
          <p:nvPr/>
        </p:nvSpPr>
        <p:spPr>
          <a:xfrm>
            <a:off x="685800" y="1810512"/>
            <a:ext cx="5120640" cy="685800"/>
          </a:xfrm>
          <a:prstGeom prst="rect">
            <a:avLst/>
          </a:prstGeom>
          <a:noFill/>
        </p:spPr>
        <p:txBody>
          <a:bodyPr wrap="square" lIns="0" rIns="0" tIns="0" bIns="0">
            <a:noAutofit/>
          </a:bodyPr>
          <a:lstStyle/>
          <a:p>
            <a:pPr algn="l" marL="0" indent="0">
              <a:spcAft>
                <a:spcPts val="500"/>
              </a:spcAft>
              <a:defRPr sz="3100" b="1">
                <a:solidFill>
                  <a:srgbClr val="243343"/>
                </a:solidFill>
                <a:latin typeface="DejaVu Sans"/>
              </a:defRPr>
            </a:pPr>
            <a:r>
              <a:rPr>
                <a:ea typeface="DejaVu Sans"/>
              </a:rPr>
              <a:t>η Sₑ ≥ πR² hₘ</a:t>
            </a:r>
          </a:p>
        </p:txBody>
      </p:sp>
      <p:sp>
        <p:nvSpPr>
          <p:cNvPr id="10" name="TextBox 9"/>
          <p:cNvSpPr txBox="1"/>
          <p:nvPr/>
        </p:nvSpPr>
        <p:spPr>
          <a:xfrm>
            <a:off x="685800" y="2651760"/>
            <a:ext cx="5394960" cy="640080"/>
          </a:xfrm>
          <a:prstGeom prst="rect">
            <a:avLst/>
          </a:prstGeom>
          <a:noFill/>
        </p:spPr>
        <p:txBody>
          <a:bodyPr wrap="square" lIns="0" rIns="0" tIns="0" bIns="0">
            <a:noAutofit/>
          </a:bodyPr>
          <a:lstStyle/>
          <a:p>
            <a:pPr algn="l" marL="0" indent="0">
              <a:spcAft>
                <a:spcPts val="500"/>
              </a:spcAft>
              <a:defRPr sz="2500" b="0">
                <a:solidFill>
                  <a:srgbClr val="CF7B2B"/>
                </a:solidFill>
                <a:latin typeface="DejaVu Sans"/>
              </a:defRPr>
            </a:pPr>
            <a:r>
              <a:rPr>
                <a:ea typeface="DejaVu Sans"/>
              </a:rPr>
              <a:t>Rmax = √[ηSₑ / (πhₘ)]</a:t>
            </a:r>
          </a:p>
        </p:txBody>
      </p:sp>
      <p:sp>
        <p:nvSpPr>
          <p:cNvPr id="11" name="TextBox 10"/>
          <p:cNvSpPr txBox="1"/>
          <p:nvPr/>
        </p:nvSpPr>
        <p:spPr>
          <a:xfrm>
            <a:off x="685800" y="3566160"/>
            <a:ext cx="5120640" cy="1508760"/>
          </a:xfrm>
          <a:prstGeom prst="rect">
            <a:avLst/>
          </a:prstGeom>
          <a:noFill/>
        </p:spPr>
        <p:txBody>
          <a:bodyPr wrap="square" lIns="0" rIns="0" tIns="0" bIns="0">
            <a:noAutofit/>
          </a:bodyPr>
          <a:lstStyle/>
          <a:p>
            <a:pPr algn="l" marL="0" indent="0">
              <a:spcAft>
                <a:spcPts val="500"/>
              </a:spcAft>
              <a:defRPr sz="2300" b="0">
                <a:solidFill>
                  <a:srgbClr val="6D7985"/>
                </a:solidFill>
                <a:latin typeface="DejaVu Sans"/>
              </a:defRPr>
            </a:pPr>
            <a:r>
              <a:rPr>
                <a:ea typeface="DejaVu Sans"/>
              </a:rPr>
              <a:t>Sₑ = 10 keV/nm</a:t>
            </a:r>
          </a:p>
          <a:p>
            <a:pPr algn="l" marL="0" indent="0">
              <a:spcAft>
                <a:spcPts val="500"/>
              </a:spcAft>
              <a:defRPr sz="2300" b="0">
                <a:solidFill>
                  <a:srgbClr val="6D7985"/>
                </a:solidFill>
                <a:latin typeface="DejaVu Sans"/>
              </a:defRPr>
            </a:pPr>
            <a:r>
              <a:rPr>
                <a:ea typeface="DejaVu Sans"/>
              </a:rPr>
              <a:t>η = 0.30</a:t>
            </a:r>
          </a:p>
          <a:p>
            <a:pPr algn="l" marL="0" indent="0">
              <a:spcAft>
                <a:spcPts val="500"/>
              </a:spcAft>
              <a:defRPr sz="2300" b="0">
                <a:solidFill>
                  <a:srgbClr val="6D7985"/>
                </a:solidFill>
                <a:latin typeface="DejaVu Sans"/>
              </a:defRPr>
            </a:pPr>
            <a:r>
              <a:rPr>
                <a:ea typeface="DejaVu Sans"/>
              </a:rPr>
              <a:t>hₘ = 5×10⁹ J/m³</a:t>
            </a:r>
          </a:p>
        </p:txBody>
      </p:sp>
      <p:sp>
        <p:nvSpPr>
          <p:cNvPr id="12" name="TextBox 11"/>
          <p:cNvSpPr txBox="1"/>
          <p:nvPr/>
        </p:nvSpPr>
        <p:spPr>
          <a:xfrm>
            <a:off x="685800" y="5230368"/>
            <a:ext cx="5394960" cy="548640"/>
          </a:xfrm>
          <a:prstGeom prst="rect">
            <a:avLst/>
          </a:prstGeom>
          <a:noFill/>
        </p:spPr>
        <p:txBody>
          <a:bodyPr wrap="square" lIns="0" rIns="0" tIns="0" bIns="0">
            <a:noAutofit/>
          </a:bodyPr>
          <a:lstStyle/>
          <a:p>
            <a:pPr algn="l" marL="0" indent="0">
              <a:spcAft>
                <a:spcPts val="500"/>
              </a:spcAft>
              <a:defRPr sz="2900" b="1">
                <a:solidFill>
                  <a:srgbClr val="CF7B2B"/>
                </a:solidFill>
                <a:latin typeface="DejaVu Sans"/>
              </a:defRPr>
            </a:pPr>
            <a:r>
              <a:rPr>
                <a:ea typeface="DejaVu Sans"/>
              </a:rPr>
              <a:t>Rmax ≈ 5.5 nm</a:t>
            </a:r>
          </a:p>
        </p:txBody>
      </p:sp>
      <p:graphicFrame>
        <p:nvGraphicFramePr>
          <p:cNvPr id="13" name="Chart 12"/>
          <p:cNvGraphicFramePr>
            <a:graphicFrameLocks noGrp="1"/>
          </p:cNvGraphicFramePr>
          <p:nvPr/>
        </p:nvGraphicFramePr>
        <p:xfrm>
          <a:off x="6199632" y="1828800"/>
          <a:ext cx="5394960" cy="4023360"/>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12 热与非热机制</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电子激发还可以通过势能面变化驱动原子运动</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两类机制可以并行；原子动能升高并不能唯一辨认能量来源</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整理自 [R6, R9]</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13</a:t>
            </a:r>
          </a:p>
        </p:txBody>
      </p:sp>
      <p:graphicFrame>
        <p:nvGraphicFramePr>
          <p:cNvPr id="9" name="Table 8"/>
          <p:cNvGraphicFramePr>
            <a:graphicFrameLocks noGrp="1"/>
          </p:cNvGraphicFramePr>
          <p:nvPr/>
        </p:nvGraphicFramePr>
        <p:xfrm>
          <a:off x="548640" y="1801368"/>
          <a:ext cx="11064240" cy="3291840"/>
        </p:xfrm>
        <a:graphic>
          <a:graphicData uri="http://schemas.openxmlformats.org/drawingml/2006/table">
            <a:tbl>
              <a:tblPr firstRow="1" bandRow="1">
                <a:tableStyleId>{5C22544A-7EE6-4342-B048-85BDC9FD1C3A}</a:tableStyleId>
              </a:tblPr>
              <a:tblGrid>
                <a:gridCol w="5532120"/>
                <a:gridCol w="5532120"/>
              </a:tblGrid>
              <a:tr h="658368">
                <a:tc>
                  <a:txBody>
                    <a:bodyPr/>
                    <a:lstStyle/>
                    <a:p>
                      <a:pPr>
                        <a:defRPr sz="1800" b="1">
                          <a:solidFill>
                            <a:srgbClr val="FFFFFF"/>
                          </a:solidFill>
                          <a:latin typeface="Noto Sans CJK SC"/>
                        </a:defRPr>
                      </a:pPr>
                      <a:r>
                        <a:t>热机制</a:t>
                      </a:r>
                    </a:p>
                  </a:txBody>
                  <a:tcPr marL="118872" marR="109728" marT="73152" marB="73152" anchor="ctr">
                    <a:solidFill>
                      <a:srgbClr val="142E46"/>
                    </a:solidFill>
                  </a:tcPr>
                </a:tc>
                <a:tc>
                  <a:txBody>
                    <a:bodyPr/>
                    <a:lstStyle/>
                    <a:p>
                      <a:pPr>
                        <a:defRPr sz="1800" b="1">
                          <a:solidFill>
                            <a:srgbClr val="FFFFFF"/>
                          </a:solidFill>
                          <a:latin typeface="Noto Sans CJK SC"/>
                        </a:defRPr>
                      </a:pPr>
                      <a:r>
                        <a:t>非热机制</a:t>
                      </a:r>
                    </a:p>
                  </a:txBody>
                  <a:tcPr marL="118872" marR="109728" marT="73152" marB="73152" anchor="ctr">
                    <a:solidFill>
                      <a:srgbClr val="142E46"/>
                    </a:solidFill>
                  </a:tcPr>
                </a:tc>
              </a:tr>
              <a:tr h="658368">
                <a:tc>
                  <a:txBody>
                    <a:bodyPr/>
                    <a:lstStyle/>
                    <a:p>
                      <a:pPr>
                        <a:defRPr sz="1900" b="0">
                          <a:solidFill>
                            <a:srgbClr val="243343"/>
                          </a:solidFill>
                          <a:latin typeface="Noto Sans CJK SC"/>
                        </a:defRPr>
                      </a:pPr>
                      <a:r>
                        <a:t>电子通过非弹性散射交换能量</a:t>
                      </a:r>
                    </a:p>
                  </a:txBody>
                  <a:tcPr marL="118872" marR="109728" marT="73152" marB="73152" anchor="ctr">
                    <a:solidFill>
                      <a:srgbClr val="EFF4F8"/>
                    </a:solidFill>
                  </a:tcPr>
                </a:tc>
                <a:tc>
                  <a:txBody>
                    <a:bodyPr/>
                    <a:lstStyle/>
                    <a:p>
                      <a:pPr>
                        <a:defRPr sz="1900" b="0">
                          <a:solidFill>
                            <a:srgbClr val="243343"/>
                          </a:solidFill>
                          <a:latin typeface="Noto Sans CJK SC"/>
                        </a:defRPr>
                      </a:pPr>
                      <a:r>
                        <a:t>电子占据改变键合与原子间势</a:t>
                      </a:r>
                    </a:p>
                  </a:txBody>
                  <a:tcPr marL="118872" marR="109728" marT="73152" marB="73152" anchor="ctr">
                    <a:solidFill>
                      <a:srgbClr val="EFF4F8"/>
                    </a:solidFill>
                  </a:tcPr>
                </a:tc>
              </a:tr>
              <a:tr h="658368">
                <a:tc>
                  <a:txBody>
                    <a:bodyPr/>
                    <a:lstStyle/>
                    <a:p>
                      <a:pPr>
                        <a:defRPr sz="1900" b="0">
                          <a:solidFill>
                            <a:srgbClr val="243343"/>
                          </a:solidFill>
                          <a:latin typeface="Noto Sans CJK SC"/>
                        </a:defRPr>
                      </a:pPr>
                      <a:r>
                        <a:t>净声子发射使振动体系获能</a:t>
                      </a:r>
                    </a:p>
                  </a:txBody>
                  <a:tcPr marL="118872" marR="109728" marT="73152" marB="73152" anchor="ctr">
                    <a:solidFill>
                      <a:srgbClr val="FFFFFF"/>
                    </a:solidFill>
                  </a:tcPr>
                </a:tc>
                <a:tc>
                  <a:txBody>
                    <a:bodyPr/>
                    <a:lstStyle/>
                    <a:p>
                      <a:pPr>
                        <a:defRPr sz="1900" b="0">
                          <a:solidFill>
                            <a:srgbClr val="243343"/>
                          </a:solidFill>
                          <a:latin typeface="Noto Sans CJK SC"/>
                        </a:defRPr>
                      </a:pPr>
                      <a:r>
                        <a:t>新的原子力可触发结构失稳</a:t>
                      </a:r>
                    </a:p>
                  </a:txBody>
                  <a:tcPr marL="118872" marR="109728" marT="73152" marB="73152" anchor="ctr">
                    <a:solidFill>
                      <a:srgbClr val="FFFFFF"/>
                    </a:solidFill>
                  </a:tcPr>
                </a:tc>
              </a:tr>
              <a:tr h="658368">
                <a:tc>
                  <a:txBody>
                    <a:bodyPr/>
                    <a:lstStyle/>
                    <a:p>
                      <a:pPr>
                        <a:defRPr sz="1900" b="0">
                          <a:solidFill>
                            <a:srgbClr val="243343"/>
                          </a:solidFill>
                          <a:latin typeface="Noto Sans CJK SC"/>
                        </a:defRPr>
                      </a:pPr>
                      <a:r>
                        <a:t>近热平衡时可写 G(Tₑ−Tₗ)</a:t>
                      </a:r>
                    </a:p>
                  </a:txBody>
                  <a:tcPr marL="118872" marR="109728" marT="73152" marB="73152" anchor="ctr">
                    <a:solidFill>
                      <a:srgbClr val="EFF4F8"/>
                    </a:solidFill>
                  </a:tcPr>
                </a:tc>
                <a:tc>
                  <a:txBody>
                    <a:bodyPr/>
                    <a:lstStyle/>
                    <a:p>
                      <a:pPr>
                        <a:defRPr sz="1900" b="0">
                          <a:solidFill>
                            <a:srgbClr val="243343"/>
                          </a:solidFill>
                          <a:latin typeface="Noto Sans CJK SC"/>
                        </a:defRPr>
                      </a:pPr>
                      <a:r>
                        <a:t>需要激发态势能面或非绝热动力学</a:t>
                      </a:r>
                    </a:p>
                  </a:txBody>
                  <a:tcPr marL="118872" marR="109728" marT="73152" marB="73152" anchor="ctr">
                    <a:solidFill>
                      <a:srgbClr val="EFF4F8"/>
                    </a:solidFill>
                  </a:tcPr>
                </a:tc>
              </a:tr>
              <a:tr h="658368">
                <a:tc>
                  <a:txBody>
                    <a:bodyPr/>
                    <a:lstStyle/>
                    <a:p>
                      <a:pPr>
                        <a:defRPr sz="1900" b="0">
                          <a:solidFill>
                            <a:srgbClr val="243343"/>
                          </a:solidFill>
                          <a:latin typeface="Noto Sans CJK SC"/>
                        </a:defRPr>
                      </a:pPr>
                      <a:r>
                        <a:t>升温后可能发生热熔融</a:t>
                      </a:r>
                    </a:p>
                  </a:txBody>
                  <a:tcPr marL="118872" marR="109728" marT="73152" marB="73152" anchor="ctr">
                    <a:solidFill>
                      <a:srgbClr val="FFFFFF"/>
                    </a:solidFill>
                  </a:tcPr>
                </a:tc>
                <a:tc>
                  <a:txBody>
                    <a:bodyPr/>
                    <a:lstStyle/>
                    <a:p>
                      <a:pPr>
                        <a:defRPr sz="1900" b="0">
                          <a:solidFill>
                            <a:srgbClr val="243343"/>
                          </a:solidFill>
                          <a:latin typeface="Noto Sans CJK SC"/>
                        </a:defRPr>
                      </a:pPr>
                      <a:r>
                        <a:t>可能在完全热化前改变结构</a:t>
                      </a:r>
                    </a:p>
                  </a:txBody>
                  <a:tcPr marL="118872" marR="109728" marT="73152" marB="73152" anchor="ctr">
                    <a:solidFill>
                      <a:srgbClr val="FFFFFF"/>
                    </a:solidFill>
                  </a:tcPr>
                </a:tc>
              </a:tr>
            </a:tbl>
          </a:graphicData>
        </a:graphic>
      </p:graphicFrame>
      <p:sp>
        <p:nvSpPr>
          <p:cNvPr id="10" name="TextBox 9"/>
          <p:cNvSpPr txBox="1"/>
          <p:nvPr/>
        </p:nvSpPr>
        <p:spPr>
          <a:xfrm>
            <a:off x="685800" y="5431536"/>
            <a:ext cx="10789920" cy="457200"/>
          </a:xfrm>
          <a:prstGeom prst="rect">
            <a:avLst/>
          </a:prstGeom>
          <a:noFill/>
        </p:spPr>
        <p:txBody>
          <a:bodyPr wrap="square" lIns="0" rIns="0" tIns="0" bIns="0">
            <a:noAutofit/>
          </a:bodyPr>
          <a:lstStyle/>
          <a:p>
            <a:pPr algn="l" marL="0" indent="0">
              <a:spcAft>
                <a:spcPts val="500"/>
              </a:spcAft>
              <a:defRPr sz="2400" b="1">
                <a:solidFill>
                  <a:srgbClr val="79659D"/>
                </a:solidFill>
                <a:latin typeface="Noto Sans CJK SC"/>
              </a:defRPr>
            </a:pPr>
            <a:r>
              <a:rPr>
                <a:ea typeface="Noto Sans CJK SC"/>
              </a:rPr>
              <a:t>非热势能释放也能转化为原子动能</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13 材料差异</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材料的电子结构与能量输运决定耦合路径</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同一 Sₑ 不对应同一晶格温度，也不对应同一径迹阈值</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综合 [R3, R5, R6]；具体参数须按材料与激发条件确定</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14</a:t>
            </a:r>
          </a:p>
        </p:txBody>
      </p:sp>
      <p:graphicFrame>
        <p:nvGraphicFramePr>
          <p:cNvPr id="9" name="Table 8"/>
          <p:cNvGraphicFramePr>
            <a:graphicFrameLocks noGrp="1"/>
          </p:cNvGraphicFramePr>
          <p:nvPr/>
        </p:nvGraphicFramePr>
        <p:xfrm>
          <a:off x="548640" y="1737360"/>
          <a:ext cx="11064240" cy="3246120"/>
        </p:xfrm>
        <a:graphic>
          <a:graphicData uri="http://schemas.openxmlformats.org/drawingml/2006/table">
            <a:tbl>
              <a:tblPr firstRow="1" bandRow="1">
                <a:tableStyleId>{5C22544A-7EE6-4342-B048-85BDC9FD1C3A}</a:tableStyleId>
              </a:tblPr>
              <a:tblGrid>
                <a:gridCol w="2560320"/>
                <a:gridCol w="4206240"/>
                <a:gridCol w="4297680"/>
              </a:tblGrid>
              <a:tr h="811530">
                <a:tc>
                  <a:txBody>
                    <a:bodyPr/>
                    <a:lstStyle/>
                    <a:p>
                      <a:pPr>
                        <a:defRPr sz="1700" b="1">
                          <a:solidFill>
                            <a:srgbClr val="FFFFFF"/>
                          </a:solidFill>
                          <a:latin typeface="Noto Sans CJK SC"/>
                        </a:defRPr>
                      </a:pPr>
                      <a:r>
                        <a:t>体系</a:t>
                      </a:r>
                    </a:p>
                  </a:txBody>
                  <a:tcPr marL="118872" marR="109728" marT="73152" marB="73152" anchor="ctr">
                    <a:solidFill>
                      <a:srgbClr val="142E46"/>
                    </a:solidFill>
                  </a:tcPr>
                </a:tc>
                <a:tc>
                  <a:txBody>
                    <a:bodyPr/>
                    <a:lstStyle/>
                    <a:p>
                      <a:pPr>
                        <a:defRPr sz="1700" b="1">
                          <a:solidFill>
                            <a:srgbClr val="FFFFFF"/>
                          </a:solidFill>
                          <a:latin typeface="Noto Sans CJK SC"/>
                        </a:defRPr>
                      </a:pPr>
                      <a:r>
                        <a:t>电子能量如何演化</a:t>
                      </a:r>
                    </a:p>
                  </a:txBody>
                  <a:tcPr marL="118872" marR="109728" marT="73152" marB="73152" anchor="ctr">
                    <a:solidFill>
                      <a:srgbClr val="142E46"/>
                    </a:solidFill>
                  </a:tcPr>
                </a:tc>
                <a:tc>
                  <a:txBody>
                    <a:bodyPr/>
                    <a:lstStyle/>
                    <a:p>
                      <a:pPr>
                        <a:defRPr sz="1700" b="1">
                          <a:solidFill>
                            <a:srgbClr val="FFFFFF"/>
                          </a:solidFill>
                          <a:latin typeface="Noto Sans CJK SC"/>
                        </a:defRPr>
                      </a:pPr>
                      <a:r>
                        <a:t>建模时需要关注</a:t>
                      </a:r>
                    </a:p>
                  </a:txBody>
                  <a:tcPr marL="118872" marR="109728" marT="73152" marB="73152" anchor="ctr">
                    <a:solidFill>
                      <a:srgbClr val="142E46"/>
                    </a:solidFill>
                  </a:tcPr>
                </a:tc>
              </a:tr>
              <a:tr h="811530">
                <a:tc>
                  <a:txBody>
                    <a:bodyPr/>
                    <a:lstStyle/>
                    <a:p>
                      <a:pPr>
                        <a:defRPr sz="1800" b="0">
                          <a:solidFill>
                            <a:srgbClr val="243343"/>
                          </a:solidFill>
                          <a:latin typeface="Noto Sans CJK SC"/>
                        </a:defRPr>
                      </a:pPr>
                      <a:r>
                        <a:t>金属</a:t>
                      </a:r>
                    </a:p>
                  </a:txBody>
                  <a:tcPr marL="118872" marR="109728" marT="73152" marB="73152" anchor="ctr">
                    <a:solidFill>
                      <a:srgbClr val="EFF4F8"/>
                    </a:solidFill>
                  </a:tcPr>
                </a:tc>
                <a:tc>
                  <a:txBody>
                    <a:bodyPr/>
                    <a:lstStyle/>
                    <a:p>
                      <a:pPr>
                        <a:defRPr sz="1800" b="0">
                          <a:solidFill>
                            <a:srgbClr val="243343"/>
                          </a:solidFill>
                          <a:latin typeface="Noto Sans CJK SC"/>
                        </a:defRPr>
                      </a:pPr>
                      <a:r>
                        <a:t>自由载流子热化与快速输运</a:t>
                      </a:r>
                    </a:p>
                  </a:txBody>
                  <a:tcPr marL="118872" marR="109728" marT="73152" marB="73152" anchor="ctr">
                    <a:solidFill>
                      <a:srgbClr val="EFF4F8"/>
                    </a:solidFill>
                  </a:tcPr>
                </a:tc>
                <a:tc>
                  <a:txBody>
                    <a:bodyPr/>
                    <a:lstStyle/>
                    <a:p>
                      <a:pPr>
                        <a:defRPr sz="1800" b="0">
                          <a:solidFill>
                            <a:srgbClr val="243343"/>
                          </a:solidFill>
                          <a:latin typeface="Noto Sans CJK SC"/>
                        </a:defRPr>
                      </a:pPr>
                      <a:r>
                        <a:t>态密度、G(Tₑ)、Cₑ(Tₑ)、Kₑ</a:t>
                      </a:r>
                    </a:p>
                  </a:txBody>
                  <a:tcPr marL="118872" marR="109728" marT="73152" marB="73152" anchor="ctr">
                    <a:solidFill>
                      <a:srgbClr val="EFF4F8"/>
                    </a:solidFill>
                  </a:tcPr>
                </a:tc>
              </a:tr>
              <a:tr h="811530">
                <a:tc>
                  <a:txBody>
                    <a:bodyPr/>
                    <a:lstStyle/>
                    <a:p>
                      <a:pPr>
                        <a:defRPr sz="1800" b="0">
                          <a:solidFill>
                            <a:srgbClr val="243343"/>
                          </a:solidFill>
                          <a:latin typeface="Noto Sans CJK SC"/>
                        </a:defRPr>
                      </a:pPr>
                      <a:r>
                        <a:t>半导体</a:t>
                      </a:r>
                    </a:p>
                  </a:txBody>
                  <a:tcPr marL="118872" marR="109728" marT="73152" marB="73152" anchor="ctr">
                    <a:solidFill>
                      <a:srgbClr val="FFFFFF"/>
                    </a:solidFill>
                  </a:tcPr>
                </a:tc>
                <a:tc>
                  <a:txBody>
                    <a:bodyPr/>
                    <a:lstStyle/>
                    <a:p>
                      <a:pPr>
                        <a:defRPr sz="1800" b="0">
                          <a:solidFill>
                            <a:srgbClr val="243343"/>
                          </a:solidFill>
                          <a:latin typeface="Noto Sans CJK SC"/>
                        </a:defRPr>
                      </a:pPr>
                      <a:r>
                        <a:t>电子与空穴数量、能量共同变化</a:t>
                      </a:r>
                    </a:p>
                  </a:txBody>
                  <a:tcPr marL="118872" marR="109728" marT="73152" marB="73152" anchor="ctr">
                    <a:solidFill>
                      <a:srgbClr val="FFFFFF"/>
                    </a:solidFill>
                  </a:tcPr>
                </a:tc>
                <a:tc>
                  <a:txBody>
                    <a:bodyPr/>
                    <a:lstStyle/>
                    <a:p>
                      <a:pPr>
                        <a:defRPr sz="1800" b="0">
                          <a:solidFill>
                            <a:srgbClr val="243343"/>
                          </a:solidFill>
                          <a:latin typeface="Noto Sans CJK SC"/>
                        </a:defRPr>
                      </a:pPr>
                      <a:r>
                        <a:t>带隙、复合、载流子密度、键软化</a:t>
                      </a:r>
                    </a:p>
                  </a:txBody>
                  <a:tcPr marL="118872" marR="109728" marT="73152" marB="73152" anchor="ctr">
                    <a:solidFill>
                      <a:srgbClr val="FFFFFF"/>
                    </a:solidFill>
                  </a:tcPr>
                </a:tc>
              </a:tr>
              <a:tr h="811530">
                <a:tc>
                  <a:txBody>
                    <a:bodyPr/>
                    <a:lstStyle/>
                    <a:p>
                      <a:pPr>
                        <a:defRPr sz="1800" b="0">
                          <a:solidFill>
                            <a:srgbClr val="243343"/>
                          </a:solidFill>
                          <a:latin typeface="Noto Sans CJK SC"/>
                        </a:defRPr>
                      </a:pPr>
                      <a:r>
                        <a:t>绝缘体 / 氧化物</a:t>
                      </a:r>
                    </a:p>
                  </a:txBody>
                  <a:tcPr marL="118872" marR="109728" marT="73152" marB="73152" anchor="ctr">
                    <a:solidFill>
                      <a:srgbClr val="EFF4F8"/>
                    </a:solidFill>
                  </a:tcPr>
                </a:tc>
                <a:tc>
                  <a:txBody>
                    <a:bodyPr/>
                    <a:lstStyle/>
                    <a:p>
                      <a:pPr>
                        <a:defRPr sz="1800" b="0">
                          <a:solidFill>
                            <a:srgbClr val="243343"/>
                          </a:solidFill>
                          <a:latin typeface="Noto Sans CJK SC"/>
                        </a:defRPr>
                      </a:pPr>
                      <a:r>
                        <a:t>电离、空穴、自陷与局域激发</a:t>
                      </a:r>
                    </a:p>
                  </a:txBody>
                  <a:tcPr marL="118872" marR="109728" marT="73152" marB="73152" anchor="ctr">
                    <a:solidFill>
                      <a:srgbClr val="EFF4F8"/>
                    </a:solidFill>
                  </a:tcPr>
                </a:tc>
                <a:tc>
                  <a:txBody>
                    <a:bodyPr/>
                    <a:lstStyle/>
                    <a:p>
                      <a:pPr>
                        <a:defRPr sz="1800" b="0">
                          <a:solidFill>
                            <a:srgbClr val="243343"/>
                          </a:solidFill>
                          <a:latin typeface="Noto Sans CJK SC"/>
                        </a:defRPr>
                      </a:pPr>
                      <a:r>
                        <a:t>非热通道、有效输运、缺陷与再结晶</a:t>
                      </a:r>
                    </a:p>
                  </a:txBody>
                  <a:tcPr marL="118872" marR="109728" marT="73152" marB="73152" anchor="ctr">
                    <a:solidFill>
                      <a:srgbClr val="EFF4F8"/>
                    </a:solidFill>
                  </a:tcPr>
                </a:tc>
              </a:tr>
            </a:tbl>
          </a:graphicData>
        </a:graphic>
      </p:graphicFrame>
      <p:sp>
        <p:nvSpPr>
          <p:cNvPr id="10" name="TextBox 9"/>
          <p:cNvSpPr txBox="1"/>
          <p:nvPr/>
        </p:nvSpPr>
        <p:spPr>
          <a:xfrm>
            <a:off x="685800" y="5349240"/>
            <a:ext cx="10789920" cy="502920"/>
          </a:xfrm>
          <a:prstGeom prst="rect">
            <a:avLst/>
          </a:prstGeom>
          <a:noFill/>
        </p:spPr>
        <p:txBody>
          <a:bodyPr wrap="square" lIns="0" rIns="0" tIns="0" bIns="0">
            <a:noAutofit/>
          </a:bodyPr>
          <a:lstStyle/>
          <a:p>
            <a:pPr algn="l" marL="0" indent="0">
              <a:spcAft>
                <a:spcPts val="500"/>
              </a:spcAft>
              <a:defRPr sz="2100" b="0">
                <a:solidFill>
                  <a:srgbClr val="6D7985"/>
                </a:solidFill>
                <a:latin typeface="Noto Sans CJK SC"/>
              </a:defRPr>
            </a:pPr>
            <a:r>
              <a:rPr>
                <a:ea typeface="Noto Sans CJK SC"/>
              </a:rPr>
              <a:t>金属可用双温近似；半导体和绝缘体往往需要更多状态变量</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14 原始实验案例</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a-SiO₂ 的 SAXS 拟合约束纳米尺度核壳径迹</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SAXS 约束终态结构；瞬态熔融还需模型与其他证据</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据 [R7] 表 I 重绘，1 Å = 0.1 nm；平均 Sₑ 为原文计算值，误差为原文拟合误差</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15</a:t>
            </a:r>
          </a:p>
        </p:txBody>
      </p:sp>
      <p:graphicFrame>
        <p:nvGraphicFramePr>
          <p:cNvPr id="9" name="Chart 8"/>
          <p:cNvGraphicFramePr>
            <a:graphicFrameLocks noGrp="1"/>
          </p:cNvGraphicFramePr>
          <p:nvPr/>
        </p:nvGraphicFramePr>
        <p:xfrm>
          <a:off x="548640" y="1783080"/>
          <a:ext cx="7680960" cy="3977639"/>
        </p:xfrm>
        <a:graphic>
          <a:graphicData uri="http://schemas.openxmlformats.org/drawingml/2006/chart">
            <c:chart xmlns:c="http://schemas.openxmlformats.org/drawingml/2006/chart" r:id="rId2"/>
          </a:graphicData>
        </a:graphic>
      </p:graphicFrame>
      <p:sp>
        <p:nvSpPr>
          <p:cNvPr id="10" name="Oval 9"/>
          <p:cNvSpPr/>
          <p:nvPr/>
        </p:nvSpPr>
        <p:spPr>
          <a:xfrm>
            <a:off x="9116567" y="1920240"/>
            <a:ext cx="1609344" cy="1609344"/>
          </a:xfrm>
          <a:prstGeom prst="ellipse">
            <a:avLst/>
          </a:prstGeom>
          <a:solidFill>
            <a:srgbClr val="FCF3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9518904" y="2322576"/>
            <a:ext cx="804672" cy="804672"/>
          </a:xfrm>
          <a:prstGeom prst="ellipse">
            <a:avLst/>
          </a:prstGeom>
          <a:solidFill>
            <a:srgbClr val="EFF4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549640" y="3703320"/>
            <a:ext cx="2971800" cy="914400"/>
          </a:xfrm>
          <a:prstGeom prst="rect">
            <a:avLst/>
          </a:prstGeom>
          <a:noFill/>
        </p:spPr>
        <p:txBody>
          <a:bodyPr wrap="square" lIns="0" rIns="0" tIns="0" bIns="0">
            <a:noAutofit/>
          </a:bodyPr>
          <a:lstStyle/>
          <a:p>
            <a:pPr algn="l" marL="0" indent="0">
              <a:spcAft>
                <a:spcPts val="500"/>
              </a:spcAft>
              <a:defRPr sz="2300" b="1">
                <a:solidFill>
                  <a:srgbClr val="243343"/>
                </a:solidFill>
                <a:latin typeface="Noto Sans CJK SC"/>
              </a:defRPr>
            </a:pPr>
            <a:r>
              <a:rPr>
                <a:ea typeface="Noto Sans CJK SC"/>
              </a:rPr>
              <a:t>低密度核</a:t>
            </a:r>
          </a:p>
          <a:p>
            <a:pPr algn="l" marL="0" indent="0">
              <a:spcAft>
                <a:spcPts val="500"/>
              </a:spcAft>
              <a:defRPr sz="2300" b="1">
                <a:solidFill>
                  <a:srgbClr val="243343"/>
                </a:solidFill>
                <a:latin typeface="Noto Sans CJK SC"/>
              </a:defRPr>
            </a:pPr>
            <a:r>
              <a:rPr>
                <a:ea typeface="Noto Sans CJK SC"/>
              </a:rPr>
              <a:t>高密度壳</a:t>
            </a:r>
          </a:p>
        </p:txBody>
      </p:sp>
      <p:sp>
        <p:nvSpPr>
          <p:cNvPr id="13" name="TextBox 12"/>
          <p:cNvSpPr txBox="1"/>
          <p:nvPr/>
        </p:nvSpPr>
        <p:spPr>
          <a:xfrm>
            <a:off x="8549640" y="4901184"/>
            <a:ext cx="2971800" cy="731520"/>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核壳模型拟合</a:t>
            </a:r>
          </a:p>
          <a:p>
            <a:pPr algn="l" marL="0" indent="0">
              <a:spcAft>
                <a:spcPts val="500"/>
              </a:spcAft>
              <a:defRPr sz="1800" b="0">
                <a:solidFill>
                  <a:srgbClr val="6D7985"/>
                </a:solidFill>
                <a:latin typeface="Noto Sans CJK SC"/>
              </a:defRPr>
            </a:pPr>
            <a:r>
              <a:rPr>
                <a:ea typeface="Noto Sans CJK SC"/>
              </a:rPr>
              <a:t>R = R꜀ + Tₛ</a:t>
            </a:r>
          </a:p>
        </p:txBody>
      </p:sp>
      <p:sp>
        <p:nvSpPr>
          <p:cNvPr id="14" name="TextBox 13"/>
          <p:cNvSpPr txBox="1"/>
          <p:nvPr/>
        </p:nvSpPr>
        <p:spPr>
          <a:xfrm>
            <a:off x="8549640" y="3429000"/>
            <a:ext cx="2971800" cy="237744"/>
          </a:xfrm>
          <a:prstGeom prst="rect">
            <a:avLst/>
          </a:prstGeom>
          <a:noFill/>
        </p:spPr>
        <p:txBody>
          <a:bodyPr wrap="square" lIns="0" rIns="0" tIns="0" bIns="0">
            <a:noAutofit/>
          </a:bodyPr>
          <a:lstStyle/>
          <a:p>
            <a:pPr algn="l" marL="0" indent="0">
              <a:spcAft>
                <a:spcPts val="500"/>
              </a:spcAft>
              <a:defRPr sz="1100" b="0">
                <a:solidFill>
                  <a:srgbClr val="6D7985"/>
                </a:solidFill>
                <a:latin typeface="Noto Sans CJK SC"/>
              </a:defRPr>
            </a:pPr>
            <a:r>
              <a:rPr>
                <a:ea typeface="Noto Sans CJK SC"/>
              </a:rPr>
              <a:t>结构示意，无比例尺</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15 径向能量分布</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速度效应说明线能量损失不能唯一决定损伤</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同一 Sₑ 下，离子速度改变 δ 电子谱与局域能量密度</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原始现象见 [R8]；径向解释综合 [R5]</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16</a:t>
            </a:r>
          </a:p>
        </p:txBody>
      </p:sp>
      <p:graphicFrame>
        <p:nvGraphicFramePr>
          <p:cNvPr id="9" name="Chart 8"/>
          <p:cNvGraphicFramePr>
            <a:graphicFrameLocks noGrp="1"/>
          </p:cNvGraphicFramePr>
          <p:nvPr/>
        </p:nvGraphicFramePr>
        <p:xfrm>
          <a:off x="594360" y="1783080"/>
          <a:ext cx="7406640" cy="4023360"/>
        </p:xfrm>
        <a:graphic>
          <a:graphicData uri="http://schemas.openxmlformats.org/drawingml/2006/chart">
            <c:chart xmlns:c="http://schemas.openxmlformats.org/drawingml/2006/chart" r:id="rId2"/>
          </a:graphicData>
        </a:graphic>
      </p:graphicFrame>
      <p:sp>
        <p:nvSpPr>
          <p:cNvPr id="10" name="TextBox 9"/>
          <p:cNvSpPr txBox="1"/>
          <p:nvPr/>
        </p:nvSpPr>
        <p:spPr>
          <a:xfrm>
            <a:off x="8412480" y="2011680"/>
            <a:ext cx="3108960" cy="347472"/>
          </a:xfrm>
          <a:prstGeom prst="rect">
            <a:avLst/>
          </a:prstGeom>
          <a:noFill/>
        </p:spPr>
        <p:txBody>
          <a:bodyPr wrap="square" lIns="0" rIns="0" tIns="0" bIns="0">
            <a:noAutofit/>
          </a:bodyPr>
          <a:lstStyle/>
          <a:p>
            <a:pPr algn="l" marL="0" indent="0">
              <a:spcAft>
                <a:spcPts val="500"/>
              </a:spcAft>
              <a:defRPr sz="2000" b="1">
                <a:solidFill>
                  <a:srgbClr val="243343"/>
                </a:solidFill>
                <a:latin typeface="Noto Sans CJK SC"/>
              </a:defRPr>
            </a:pPr>
            <a:r>
              <a:rPr>
                <a:ea typeface="Noto Sans CJK SC"/>
              </a:rPr>
              <a:t>归一化条件</a:t>
            </a:r>
          </a:p>
        </p:txBody>
      </p:sp>
      <p:sp>
        <p:nvSpPr>
          <p:cNvPr id="11" name="TextBox 10"/>
          <p:cNvSpPr txBox="1"/>
          <p:nvPr/>
        </p:nvSpPr>
        <p:spPr>
          <a:xfrm>
            <a:off x="8412480" y="2423160"/>
            <a:ext cx="3108960" cy="594360"/>
          </a:xfrm>
          <a:prstGeom prst="rect">
            <a:avLst/>
          </a:prstGeom>
          <a:noFill/>
        </p:spPr>
        <p:txBody>
          <a:bodyPr wrap="square" lIns="0" rIns="0" tIns="0" bIns="0">
            <a:noAutofit/>
          </a:bodyPr>
          <a:lstStyle/>
          <a:p>
            <a:pPr algn="l" marL="0" indent="0">
              <a:spcAft>
                <a:spcPts val="500"/>
              </a:spcAft>
              <a:defRPr sz="1700" b="0">
                <a:solidFill>
                  <a:srgbClr val="6D7985"/>
                </a:solidFill>
                <a:latin typeface="Noto Sans CJK SC"/>
              </a:defRPr>
            </a:pPr>
            <a:r>
              <a:rPr>
                <a:ea typeface="Noto Sans CJK SC"/>
              </a:rPr>
              <a:t>∫₀∞2πr u(r)dr 相同</a:t>
            </a:r>
          </a:p>
        </p:txBody>
      </p:sp>
      <p:sp>
        <p:nvSpPr>
          <p:cNvPr id="12" name="TextBox 11"/>
          <p:cNvSpPr txBox="1"/>
          <p:nvPr/>
        </p:nvSpPr>
        <p:spPr>
          <a:xfrm>
            <a:off x="8412480" y="3044952"/>
            <a:ext cx="3108960" cy="347472"/>
          </a:xfrm>
          <a:prstGeom prst="rect">
            <a:avLst/>
          </a:prstGeom>
          <a:noFill/>
        </p:spPr>
        <p:txBody>
          <a:bodyPr wrap="square" lIns="0" rIns="0" tIns="0" bIns="0">
            <a:noAutofit/>
          </a:bodyPr>
          <a:lstStyle/>
          <a:p>
            <a:pPr algn="l" marL="0" indent="0">
              <a:spcAft>
                <a:spcPts val="500"/>
              </a:spcAft>
              <a:defRPr sz="2000" b="1">
                <a:solidFill>
                  <a:srgbClr val="243343"/>
                </a:solidFill>
                <a:latin typeface="Noto Sans CJK SC"/>
              </a:defRPr>
            </a:pPr>
            <a:r>
              <a:rPr>
                <a:ea typeface="Noto Sans CJK SC"/>
              </a:rPr>
              <a:t>局域差异</a:t>
            </a:r>
          </a:p>
        </p:txBody>
      </p:sp>
      <p:sp>
        <p:nvSpPr>
          <p:cNvPr id="13" name="TextBox 12"/>
          <p:cNvSpPr txBox="1"/>
          <p:nvPr/>
        </p:nvSpPr>
        <p:spPr>
          <a:xfrm>
            <a:off x="8412480" y="3456432"/>
            <a:ext cx="3108960" cy="594360"/>
          </a:xfrm>
          <a:prstGeom prst="rect">
            <a:avLst/>
          </a:prstGeom>
          <a:noFill/>
        </p:spPr>
        <p:txBody>
          <a:bodyPr wrap="square" lIns="0" rIns="0" tIns="0" bIns="0">
            <a:noAutofit/>
          </a:bodyPr>
          <a:lstStyle/>
          <a:p>
            <a:pPr algn="l" marL="0" indent="0">
              <a:spcAft>
                <a:spcPts val="500"/>
              </a:spcAft>
              <a:defRPr sz="1700" b="0">
                <a:solidFill>
                  <a:srgbClr val="6D7985"/>
                </a:solidFill>
                <a:latin typeface="Noto Sans CJK SC"/>
              </a:defRPr>
            </a:pPr>
            <a:r>
              <a:rPr>
                <a:ea typeface="Noto Sans CJK SC"/>
              </a:rPr>
              <a:t>较窄沉积的中心密度更高</a:t>
            </a:r>
          </a:p>
        </p:txBody>
      </p:sp>
      <p:sp>
        <p:nvSpPr>
          <p:cNvPr id="14" name="TextBox 13"/>
          <p:cNvSpPr txBox="1"/>
          <p:nvPr/>
        </p:nvSpPr>
        <p:spPr>
          <a:xfrm>
            <a:off x="8412480" y="4078224"/>
            <a:ext cx="3108960" cy="347472"/>
          </a:xfrm>
          <a:prstGeom prst="rect">
            <a:avLst/>
          </a:prstGeom>
          <a:noFill/>
        </p:spPr>
        <p:txBody>
          <a:bodyPr wrap="square" lIns="0" rIns="0" tIns="0" bIns="0">
            <a:noAutofit/>
          </a:bodyPr>
          <a:lstStyle/>
          <a:p>
            <a:pPr algn="l" marL="0" indent="0">
              <a:spcAft>
                <a:spcPts val="500"/>
              </a:spcAft>
              <a:defRPr sz="2000" b="1">
                <a:solidFill>
                  <a:srgbClr val="243343"/>
                </a:solidFill>
                <a:latin typeface="Noto Sans CJK SC"/>
              </a:defRPr>
            </a:pPr>
            <a:r>
              <a:rPr>
                <a:ea typeface="Noto Sans CJK SC"/>
              </a:rPr>
              <a:t>证据性质</a:t>
            </a:r>
          </a:p>
        </p:txBody>
      </p:sp>
      <p:sp>
        <p:nvSpPr>
          <p:cNvPr id="15" name="TextBox 14"/>
          <p:cNvSpPr txBox="1"/>
          <p:nvPr/>
        </p:nvSpPr>
        <p:spPr>
          <a:xfrm>
            <a:off x="8412480" y="4489704"/>
            <a:ext cx="3108960" cy="594360"/>
          </a:xfrm>
          <a:prstGeom prst="rect">
            <a:avLst/>
          </a:prstGeom>
          <a:noFill/>
        </p:spPr>
        <p:txBody>
          <a:bodyPr wrap="square" lIns="0" rIns="0" tIns="0" bIns="0">
            <a:noAutofit/>
          </a:bodyPr>
          <a:lstStyle/>
          <a:p>
            <a:pPr algn="l" marL="0" indent="0">
              <a:spcAft>
                <a:spcPts val="500"/>
              </a:spcAft>
              <a:defRPr sz="1700" b="0">
                <a:solidFill>
                  <a:srgbClr val="6D7985"/>
                </a:solidFill>
                <a:latin typeface="Noto Sans CJK SC"/>
              </a:defRPr>
            </a:pPr>
            <a:r>
              <a:rPr>
                <a:ea typeface="Noto Sans CJK SC"/>
              </a:rPr>
              <a:t>曲线是概念示意，非实验拟合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16 证据链</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可验证的机制需要同时约束能量流和结构变化</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避免仅用最终径迹半径反演一个唯一的 G</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方法思路综合 [R4, R5, R7]；激光证据不能直接替代重离子证据</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17</a:t>
            </a:r>
          </a:p>
        </p:txBody>
      </p:sp>
      <p:graphicFrame>
        <p:nvGraphicFramePr>
          <p:cNvPr id="9" name="Table 8"/>
          <p:cNvGraphicFramePr>
            <a:graphicFrameLocks noGrp="1"/>
          </p:cNvGraphicFramePr>
          <p:nvPr/>
        </p:nvGraphicFramePr>
        <p:xfrm>
          <a:off x="548640" y="1737360"/>
          <a:ext cx="11064240" cy="3566160"/>
        </p:xfrm>
        <a:graphic>
          <a:graphicData uri="http://schemas.openxmlformats.org/drawingml/2006/table">
            <a:tbl>
              <a:tblPr firstRow="1" bandRow="1">
                <a:tableStyleId>{5C22544A-7EE6-4342-B048-85BDC9FD1C3A}</a:tableStyleId>
              </a:tblPr>
              <a:tblGrid>
                <a:gridCol w="3200400"/>
                <a:gridCol w="4023360"/>
                <a:gridCol w="3840480"/>
              </a:tblGrid>
              <a:tr h="713232">
                <a:tc>
                  <a:txBody>
                    <a:bodyPr/>
                    <a:lstStyle/>
                    <a:p>
                      <a:pPr>
                        <a:defRPr sz="1600" b="1">
                          <a:solidFill>
                            <a:srgbClr val="FFFFFF"/>
                          </a:solidFill>
                          <a:latin typeface="Noto Sans CJK SC"/>
                        </a:defRPr>
                      </a:pPr>
                      <a:r>
                        <a:t>观测或计算</a:t>
                      </a:r>
                    </a:p>
                  </a:txBody>
                  <a:tcPr marL="118872" marR="109728" marT="73152" marB="73152" anchor="ctr">
                    <a:solidFill>
                      <a:srgbClr val="142E46"/>
                    </a:solidFill>
                  </a:tcPr>
                </a:tc>
                <a:tc>
                  <a:txBody>
                    <a:bodyPr/>
                    <a:lstStyle/>
                    <a:p>
                      <a:pPr>
                        <a:defRPr sz="1600" b="1">
                          <a:solidFill>
                            <a:srgbClr val="FFFFFF"/>
                          </a:solidFill>
                          <a:latin typeface="Noto Sans CJK SC"/>
                        </a:defRPr>
                      </a:pPr>
                      <a:r>
                        <a:t>能够约束</a:t>
                      </a:r>
                    </a:p>
                  </a:txBody>
                  <a:tcPr marL="118872" marR="109728" marT="73152" marB="73152" anchor="ctr">
                    <a:solidFill>
                      <a:srgbClr val="142E46"/>
                    </a:solidFill>
                  </a:tcPr>
                </a:tc>
                <a:tc>
                  <a:txBody>
                    <a:bodyPr/>
                    <a:lstStyle/>
                    <a:p>
                      <a:pPr>
                        <a:defRPr sz="1600" b="1">
                          <a:solidFill>
                            <a:srgbClr val="FFFFFF"/>
                          </a:solidFill>
                          <a:latin typeface="Noto Sans CJK SC"/>
                        </a:defRPr>
                      </a:pPr>
                      <a:r>
                        <a:t>仍需补充</a:t>
                      </a:r>
                    </a:p>
                  </a:txBody>
                  <a:tcPr marL="118872" marR="109728" marT="73152" marB="73152" anchor="ctr">
                    <a:solidFill>
                      <a:srgbClr val="142E46"/>
                    </a:solidFill>
                  </a:tcPr>
                </a:tc>
              </a:tr>
              <a:tr h="713232">
                <a:tc>
                  <a:txBody>
                    <a:bodyPr/>
                    <a:lstStyle/>
                    <a:p>
                      <a:pPr>
                        <a:defRPr sz="1700" b="0">
                          <a:solidFill>
                            <a:srgbClr val="243343"/>
                          </a:solidFill>
                          <a:latin typeface="Noto Sans CJK SC"/>
                        </a:defRPr>
                      </a:pPr>
                      <a:r>
                        <a:t>TEM / SAXS</a:t>
                      </a:r>
                    </a:p>
                  </a:txBody>
                  <a:tcPr marL="118872" marR="109728" marT="73152" marB="73152" anchor="ctr">
                    <a:solidFill>
                      <a:srgbClr val="EFF4F8"/>
                    </a:solidFill>
                  </a:tcPr>
                </a:tc>
                <a:tc>
                  <a:txBody>
                    <a:bodyPr/>
                    <a:lstStyle/>
                    <a:p>
                      <a:pPr>
                        <a:defRPr sz="1700" b="0">
                          <a:solidFill>
                            <a:srgbClr val="243343"/>
                          </a:solidFill>
                          <a:latin typeface="Noto Sans CJK SC"/>
                        </a:defRPr>
                      </a:pPr>
                      <a:r>
                        <a:t>残余径迹与密度结构</a:t>
                      </a:r>
                    </a:p>
                  </a:txBody>
                  <a:tcPr marL="118872" marR="109728" marT="73152" marB="73152" anchor="ctr">
                    <a:solidFill>
                      <a:srgbClr val="EFF4F8"/>
                    </a:solidFill>
                  </a:tcPr>
                </a:tc>
                <a:tc>
                  <a:txBody>
                    <a:bodyPr/>
                    <a:lstStyle/>
                    <a:p>
                      <a:pPr>
                        <a:defRPr sz="1700" b="0">
                          <a:solidFill>
                            <a:srgbClr val="243343"/>
                          </a:solidFill>
                          <a:latin typeface="Noto Sans CJK SC"/>
                        </a:defRPr>
                      </a:pPr>
                      <a:r>
                        <a:t>皮秒过程和瞬态相态</a:t>
                      </a:r>
                    </a:p>
                  </a:txBody>
                  <a:tcPr marL="118872" marR="109728" marT="73152" marB="73152" anchor="ctr">
                    <a:solidFill>
                      <a:srgbClr val="EFF4F8"/>
                    </a:solidFill>
                  </a:tcPr>
                </a:tc>
              </a:tr>
              <a:tr h="713232">
                <a:tc>
                  <a:txBody>
                    <a:bodyPr/>
                    <a:lstStyle/>
                    <a:p>
                      <a:pPr>
                        <a:defRPr sz="1700" b="0">
                          <a:solidFill>
                            <a:srgbClr val="243343"/>
                          </a:solidFill>
                          <a:latin typeface="Noto Sans CJK SC"/>
                        </a:defRPr>
                      </a:pPr>
                      <a:r>
                        <a:t>时间分辨衍射 / 散射</a:t>
                      </a:r>
                    </a:p>
                  </a:txBody>
                  <a:tcPr marL="118872" marR="109728" marT="73152" marB="73152" anchor="ctr">
                    <a:solidFill>
                      <a:srgbClr val="FFFFFF"/>
                    </a:solidFill>
                  </a:tcPr>
                </a:tc>
                <a:tc>
                  <a:txBody>
                    <a:bodyPr/>
                    <a:lstStyle/>
                    <a:p>
                      <a:pPr>
                        <a:defRPr sz="1700" b="0">
                          <a:solidFill>
                            <a:srgbClr val="243343"/>
                          </a:solidFill>
                          <a:latin typeface="Noto Sans CJK SC"/>
                        </a:defRPr>
                      </a:pPr>
                      <a:r>
                        <a:t>原子位移、振动或结构失序</a:t>
                      </a:r>
                    </a:p>
                  </a:txBody>
                  <a:tcPr marL="118872" marR="109728" marT="73152" marB="73152" anchor="ctr">
                    <a:solidFill>
                      <a:srgbClr val="FFFFFF"/>
                    </a:solidFill>
                  </a:tcPr>
                </a:tc>
                <a:tc>
                  <a:txBody>
                    <a:bodyPr/>
                    <a:lstStyle/>
                    <a:p>
                      <a:pPr>
                        <a:defRPr sz="1700" b="0">
                          <a:solidFill>
                            <a:srgbClr val="243343"/>
                          </a:solidFill>
                          <a:latin typeface="Noto Sans CJK SC"/>
                        </a:defRPr>
                      </a:pPr>
                      <a:r>
                        <a:t>电子能量与声子模式分布</a:t>
                      </a:r>
                    </a:p>
                  </a:txBody>
                  <a:tcPr marL="118872" marR="109728" marT="73152" marB="73152" anchor="ctr">
                    <a:solidFill>
                      <a:srgbClr val="FFFFFF"/>
                    </a:solidFill>
                  </a:tcPr>
                </a:tc>
              </a:tr>
              <a:tr h="713232">
                <a:tc>
                  <a:txBody>
                    <a:bodyPr/>
                    <a:lstStyle/>
                    <a:p>
                      <a:pPr>
                        <a:defRPr sz="1700" b="0">
                          <a:solidFill>
                            <a:srgbClr val="243343"/>
                          </a:solidFill>
                          <a:latin typeface="Noto Sans CJK SC"/>
                        </a:defRPr>
                      </a:pPr>
                      <a:r>
                        <a:t>电子谱 / 载流子探测</a:t>
                      </a:r>
                    </a:p>
                  </a:txBody>
                  <a:tcPr marL="118872" marR="109728" marT="73152" marB="73152" anchor="ctr">
                    <a:solidFill>
                      <a:srgbClr val="EFF4F8"/>
                    </a:solidFill>
                  </a:tcPr>
                </a:tc>
                <a:tc>
                  <a:txBody>
                    <a:bodyPr/>
                    <a:lstStyle/>
                    <a:p>
                      <a:pPr>
                        <a:defRPr sz="1700" b="0">
                          <a:solidFill>
                            <a:srgbClr val="243343"/>
                          </a:solidFill>
                          <a:latin typeface="Noto Sans CJK SC"/>
                        </a:defRPr>
                      </a:pPr>
                      <a:r>
                        <a:t>电子分布或载流子演化</a:t>
                      </a:r>
                    </a:p>
                  </a:txBody>
                  <a:tcPr marL="118872" marR="109728" marT="73152" marB="73152" anchor="ctr">
                    <a:solidFill>
                      <a:srgbClr val="EFF4F8"/>
                    </a:solidFill>
                  </a:tcPr>
                </a:tc>
                <a:tc>
                  <a:txBody>
                    <a:bodyPr/>
                    <a:lstStyle/>
                    <a:p>
                      <a:pPr>
                        <a:defRPr sz="1700" b="0">
                          <a:solidFill>
                            <a:srgbClr val="243343"/>
                          </a:solidFill>
                          <a:latin typeface="Noto Sans CJK SC"/>
                        </a:defRPr>
                      </a:pPr>
                      <a:r>
                        <a:t>局域晶格能量</a:t>
                      </a:r>
                    </a:p>
                  </a:txBody>
                  <a:tcPr marL="118872" marR="109728" marT="73152" marB="73152" anchor="ctr">
                    <a:solidFill>
                      <a:srgbClr val="EFF4F8"/>
                    </a:solidFill>
                  </a:tcPr>
                </a:tc>
              </a:tr>
              <a:tr h="713232">
                <a:tc>
                  <a:txBody>
                    <a:bodyPr/>
                    <a:lstStyle/>
                    <a:p>
                      <a:pPr>
                        <a:defRPr sz="1700" b="0">
                          <a:solidFill>
                            <a:srgbClr val="243343"/>
                          </a:solidFill>
                          <a:latin typeface="Noto Sans CJK SC"/>
                        </a:defRPr>
                      </a:pPr>
                      <a:r>
                        <a:t>TTM–MD / 第一性原理</a:t>
                      </a:r>
                    </a:p>
                  </a:txBody>
                  <a:tcPr marL="118872" marR="109728" marT="73152" marB="73152" anchor="ctr">
                    <a:solidFill>
                      <a:srgbClr val="FFFFFF"/>
                    </a:solidFill>
                  </a:tcPr>
                </a:tc>
                <a:tc>
                  <a:txBody>
                    <a:bodyPr/>
                    <a:lstStyle/>
                    <a:p>
                      <a:pPr>
                        <a:defRPr sz="1700" b="0">
                          <a:solidFill>
                            <a:srgbClr val="243343"/>
                          </a:solidFill>
                          <a:latin typeface="Noto Sans CJK SC"/>
                        </a:defRPr>
                      </a:pPr>
                      <a:r>
                        <a:t>机制预测与参数敏感性</a:t>
                      </a:r>
                    </a:p>
                  </a:txBody>
                  <a:tcPr marL="118872" marR="109728" marT="73152" marB="73152" anchor="ctr">
                    <a:solidFill>
                      <a:srgbClr val="FFFFFF"/>
                    </a:solidFill>
                  </a:tcPr>
                </a:tc>
                <a:tc>
                  <a:txBody>
                    <a:bodyPr/>
                    <a:lstStyle/>
                    <a:p>
                      <a:pPr>
                        <a:defRPr sz="1700" b="0">
                          <a:solidFill>
                            <a:srgbClr val="243343"/>
                          </a:solidFill>
                          <a:latin typeface="Noto Sans CJK SC"/>
                        </a:defRPr>
                      </a:pPr>
                      <a:r>
                        <a:t>独立测量及激发态势验证</a:t>
                      </a:r>
                    </a:p>
                  </a:txBody>
                  <a:tcPr marL="118872" marR="109728" marT="73152" marB="73152"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17 可执行的研究方案</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下一步研究可以用可区分机制的预测来组织</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先约束材料与源项，再检验 G、输运和非热通道的相对贡献</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根据上述文献提出的研究建议；尚未获得本组材料数据</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18</a:t>
            </a:r>
          </a:p>
        </p:txBody>
      </p:sp>
      <p:sp>
        <p:nvSpPr>
          <p:cNvPr id="9" name="TextBox 8"/>
          <p:cNvSpPr txBox="1"/>
          <p:nvPr/>
        </p:nvSpPr>
        <p:spPr>
          <a:xfrm>
            <a:off x="685800" y="1783080"/>
            <a:ext cx="685800" cy="502920"/>
          </a:xfrm>
          <a:prstGeom prst="rect">
            <a:avLst/>
          </a:prstGeom>
          <a:noFill/>
        </p:spPr>
        <p:txBody>
          <a:bodyPr wrap="square" lIns="0" rIns="0" tIns="0" bIns="0">
            <a:noAutofit/>
          </a:bodyPr>
          <a:lstStyle/>
          <a:p>
            <a:pPr algn="l" marL="0" indent="0">
              <a:spcAft>
                <a:spcPts val="500"/>
              </a:spcAft>
              <a:defRPr sz="2600" b="1">
                <a:solidFill>
                  <a:srgbClr val="2560A8"/>
                </a:solidFill>
                <a:latin typeface="Noto Sans CJK SC"/>
              </a:defRPr>
            </a:pPr>
            <a:r>
              <a:rPr>
                <a:ea typeface="Noto Sans CJK SC"/>
              </a:rPr>
              <a:t>01</a:t>
            </a:r>
          </a:p>
        </p:txBody>
      </p:sp>
      <p:sp>
        <p:nvSpPr>
          <p:cNvPr id="10" name="TextBox 9"/>
          <p:cNvSpPr txBox="1"/>
          <p:nvPr/>
        </p:nvSpPr>
        <p:spPr>
          <a:xfrm>
            <a:off x="1645920" y="1783080"/>
            <a:ext cx="3657600" cy="411480"/>
          </a:xfrm>
          <a:prstGeom prst="rect">
            <a:avLst/>
          </a:prstGeom>
          <a:noFill/>
        </p:spPr>
        <p:txBody>
          <a:bodyPr wrap="square" lIns="0" rIns="0" tIns="0" bIns="0">
            <a:noAutofit/>
          </a:bodyPr>
          <a:lstStyle/>
          <a:p>
            <a:pPr algn="l" marL="0" indent="0">
              <a:spcAft>
                <a:spcPts val="500"/>
              </a:spcAft>
              <a:defRPr sz="2200" b="1">
                <a:solidFill>
                  <a:srgbClr val="243343"/>
                </a:solidFill>
                <a:latin typeface="Noto Sans CJK SC"/>
              </a:defRPr>
            </a:pPr>
            <a:r>
              <a:rPr>
                <a:ea typeface="Noto Sans CJK SC"/>
              </a:rPr>
              <a:t>锁定材料与束流</a:t>
            </a:r>
          </a:p>
        </p:txBody>
      </p:sp>
      <p:sp>
        <p:nvSpPr>
          <p:cNvPr id="11" name="TextBox 10"/>
          <p:cNvSpPr txBox="1"/>
          <p:nvPr/>
        </p:nvSpPr>
        <p:spPr>
          <a:xfrm>
            <a:off x="5486400" y="1783080"/>
            <a:ext cx="5943600" cy="640080"/>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组成、晶态、厚度、离子种类与能量</a:t>
            </a:r>
          </a:p>
        </p:txBody>
      </p:sp>
      <p:sp>
        <p:nvSpPr>
          <p:cNvPr id="12" name="TextBox 11"/>
          <p:cNvSpPr txBox="1"/>
          <p:nvPr/>
        </p:nvSpPr>
        <p:spPr>
          <a:xfrm>
            <a:off x="685800" y="2743200"/>
            <a:ext cx="685800" cy="502920"/>
          </a:xfrm>
          <a:prstGeom prst="rect">
            <a:avLst/>
          </a:prstGeom>
          <a:noFill/>
        </p:spPr>
        <p:txBody>
          <a:bodyPr wrap="square" lIns="0" rIns="0" tIns="0" bIns="0">
            <a:noAutofit/>
          </a:bodyPr>
          <a:lstStyle/>
          <a:p>
            <a:pPr algn="l" marL="0" indent="0">
              <a:spcAft>
                <a:spcPts val="500"/>
              </a:spcAft>
              <a:defRPr sz="2600" b="1">
                <a:solidFill>
                  <a:srgbClr val="2560A8"/>
                </a:solidFill>
                <a:latin typeface="Noto Sans CJK SC"/>
              </a:defRPr>
            </a:pPr>
            <a:r>
              <a:rPr>
                <a:ea typeface="Noto Sans CJK SC"/>
              </a:rPr>
              <a:t>02</a:t>
            </a:r>
          </a:p>
        </p:txBody>
      </p:sp>
      <p:sp>
        <p:nvSpPr>
          <p:cNvPr id="13" name="TextBox 12"/>
          <p:cNvSpPr txBox="1"/>
          <p:nvPr/>
        </p:nvSpPr>
        <p:spPr>
          <a:xfrm>
            <a:off x="1645920" y="2743200"/>
            <a:ext cx="3657600" cy="411480"/>
          </a:xfrm>
          <a:prstGeom prst="rect">
            <a:avLst/>
          </a:prstGeom>
          <a:noFill/>
        </p:spPr>
        <p:txBody>
          <a:bodyPr wrap="square" lIns="0" rIns="0" tIns="0" bIns="0">
            <a:noAutofit/>
          </a:bodyPr>
          <a:lstStyle/>
          <a:p>
            <a:pPr algn="l" marL="0" indent="0">
              <a:spcAft>
                <a:spcPts val="500"/>
              </a:spcAft>
              <a:defRPr sz="2200" b="1">
                <a:solidFill>
                  <a:srgbClr val="243343"/>
                </a:solidFill>
                <a:latin typeface="Noto Sans CJK SC"/>
              </a:defRPr>
            </a:pPr>
            <a:r>
              <a:rPr>
                <a:ea typeface="Noto Sans CJK SC"/>
              </a:rPr>
              <a:t>建立沉积源</a:t>
            </a:r>
          </a:p>
        </p:txBody>
      </p:sp>
      <p:sp>
        <p:nvSpPr>
          <p:cNvPr id="14" name="TextBox 13"/>
          <p:cNvSpPr txBox="1"/>
          <p:nvPr/>
        </p:nvSpPr>
        <p:spPr>
          <a:xfrm>
            <a:off x="5486400" y="2743200"/>
            <a:ext cx="5943600" cy="640080"/>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Sₑ、Sₙ、δ 电子径向分布及不确定性</a:t>
            </a:r>
          </a:p>
        </p:txBody>
      </p:sp>
      <p:sp>
        <p:nvSpPr>
          <p:cNvPr id="15" name="TextBox 14"/>
          <p:cNvSpPr txBox="1"/>
          <p:nvPr/>
        </p:nvSpPr>
        <p:spPr>
          <a:xfrm>
            <a:off x="685800" y="3703320"/>
            <a:ext cx="685800" cy="502920"/>
          </a:xfrm>
          <a:prstGeom prst="rect">
            <a:avLst/>
          </a:prstGeom>
          <a:noFill/>
        </p:spPr>
        <p:txBody>
          <a:bodyPr wrap="square" lIns="0" rIns="0" tIns="0" bIns="0">
            <a:noAutofit/>
          </a:bodyPr>
          <a:lstStyle/>
          <a:p>
            <a:pPr algn="l" marL="0" indent="0">
              <a:spcAft>
                <a:spcPts val="500"/>
              </a:spcAft>
              <a:defRPr sz="2600" b="1">
                <a:solidFill>
                  <a:srgbClr val="2560A8"/>
                </a:solidFill>
                <a:latin typeface="Noto Sans CJK SC"/>
              </a:defRPr>
            </a:pPr>
            <a:r>
              <a:rPr>
                <a:ea typeface="Noto Sans CJK SC"/>
              </a:rPr>
              <a:t>03</a:t>
            </a:r>
          </a:p>
        </p:txBody>
      </p:sp>
      <p:sp>
        <p:nvSpPr>
          <p:cNvPr id="16" name="TextBox 15"/>
          <p:cNvSpPr txBox="1"/>
          <p:nvPr/>
        </p:nvSpPr>
        <p:spPr>
          <a:xfrm>
            <a:off x="1645920" y="3703320"/>
            <a:ext cx="3657600" cy="411480"/>
          </a:xfrm>
          <a:prstGeom prst="rect">
            <a:avLst/>
          </a:prstGeom>
          <a:noFill/>
        </p:spPr>
        <p:txBody>
          <a:bodyPr wrap="square" lIns="0" rIns="0" tIns="0" bIns="0">
            <a:noAutofit/>
          </a:bodyPr>
          <a:lstStyle/>
          <a:p>
            <a:pPr algn="l" marL="0" indent="0">
              <a:spcAft>
                <a:spcPts val="500"/>
              </a:spcAft>
              <a:defRPr sz="2200" b="1">
                <a:solidFill>
                  <a:srgbClr val="243343"/>
                </a:solidFill>
                <a:latin typeface="Noto Sans CJK SC"/>
              </a:defRPr>
            </a:pPr>
            <a:r>
              <a:rPr>
                <a:ea typeface="Noto Sans CJK SC"/>
              </a:rPr>
              <a:t>做参数敏感性</a:t>
            </a:r>
          </a:p>
        </p:txBody>
      </p:sp>
      <p:sp>
        <p:nvSpPr>
          <p:cNvPr id="17" name="TextBox 16"/>
          <p:cNvSpPr txBox="1"/>
          <p:nvPr/>
        </p:nvSpPr>
        <p:spPr>
          <a:xfrm>
            <a:off x="5486400" y="3703320"/>
            <a:ext cx="5943600" cy="640080"/>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分别改变 G、Kₑ、Cₑ 与初始温度</a:t>
            </a:r>
          </a:p>
        </p:txBody>
      </p:sp>
      <p:sp>
        <p:nvSpPr>
          <p:cNvPr id="18" name="TextBox 17"/>
          <p:cNvSpPr txBox="1"/>
          <p:nvPr/>
        </p:nvSpPr>
        <p:spPr>
          <a:xfrm>
            <a:off x="685800" y="4663440"/>
            <a:ext cx="685800" cy="502920"/>
          </a:xfrm>
          <a:prstGeom prst="rect">
            <a:avLst/>
          </a:prstGeom>
          <a:noFill/>
        </p:spPr>
        <p:txBody>
          <a:bodyPr wrap="square" lIns="0" rIns="0" tIns="0" bIns="0">
            <a:noAutofit/>
          </a:bodyPr>
          <a:lstStyle/>
          <a:p>
            <a:pPr algn="l" marL="0" indent="0">
              <a:spcAft>
                <a:spcPts val="500"/>
              </a:spcAft>
              <a:defRPr sz="2600" b="1">
                <a:solidFill>
                  <a:srgbClr val="2560A8"/>
                </a:solidFill>
                <a:latin typeface="Noto Sans CJK SC"/>
              </a:defRPr>
            </a:pPr>
            <a:r>
              <a:rPr>
                <a:ea typeface="Noto Sans CJK SC"/>
              </a:rPr>
              <a:t>04</a:t>
            </a:r>
          </a:p>
        </p:txBody>
      </p:sp>
      <p:sp>
        <p:nvSpPr>
          <p:cNvPr id="19" name="TextBox 18"/>
          <p:cNvSpPr txBox="1"/>
          <p:nvPr/>
        </p:nvSpPr>
        <p:spPr>
          <a:xfrm>
            <a:off x="1645920" y="4663440"/>
            <a:ext cx="3657600" cy="411480"/>
          </a:xfrm>
          <a:prstGeom prst="rect">
            <a:avLst/>
          </a:prstGeom>
          <a:noFill/>
        </p:spPr>
        <p:txBody>
          <a:bodyPr wrap="square" lIns="0" rIns="0" tIns="0" bIns="0">
            <a:noAutofit/>
          </a:bodyPr>
          <a:lstStyle/>
          <a:p>
            <a:pPr algn="l" marL="0" indent="0">
              <a:spcAft>
                <a:spcPts val="500"/>
              </a:spcAft>
              <a:defRPr sz="2200" b="1">
                <a:solidFill>
                  <a:srgbClr val="243343"/>
                </a:solidFill>
                <a:latin typeface="Noto Sans CJK SC"/>
              </a:defRPr>
            </a:pPr>
            <a:r>
              <a:rPr>
                <a:ea typeface="Noto Sans CJK SC"/>
              </a:rPr>
              <a:t>比较独立结构证据</a:t>
            </a:r>
          </a:p>
        </p:txBody>
      </p:sp>
      <p:sp>
        <p:nvSpPr>
          <p:cNvPr id="20" name="TextBox 19"/>
          <p:cNvSpPr txBox="1"/>
          <p:nvPr/>
        </p:nvSpPr>
        <p:spPr>
          <a:xfrm>
            <a:off x="5486400" y="4663440"/>
            <a:ext cx="5943600" cy="640080"/>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预测半径、密度剖面、缺陷与再结晶</a:t>
            </a:r>
          </a:p>
        </p:txBody>
      </p:sp>
      <p:sp>
        <p:nvSpPr>
          <p:cNvPr id="21" name="TextBox 20"/>
          <p:cNvSpPr txBox="1"/>
          <p:nvPr/>
        </p:nvSpPr>
        <p:spPr>
          <a:xfrm>
            <a:off x="685800" y="5532120"/>
            <a:ext cx="10789920" cy="320040"/>
          </a:xfrm>
          <a:prstGeom prst="rect">
            <a:avLst/>
          </a:prstGeom>
          <a:noFill/>
        </p:spPr>
        <p:txBody>
          <a:bodyPr wrap="square" lIns="0" rIns="0" tIns="0" bIns="0">
            <a:noAutofit/>
          </a:bodyPr>
          <a:lstStyle/>
          <a:p>
            <a:pPr algn="l" marL="0" indent="0">
              <a:spcAft>
                <a:spcPts val="500"/>
              </a:spcAft>
              <a:defRPr sz="2000" b="1">
                <a:solidFill>
                  <a:srgbClr val="CF7B2B"/>
                </a:solidFill>
                <a:latin typeface="Noto Sans CJK SC"/>
              </a:defRPr>
            </a:pPr>
            <a:r>
              <a:rPr>
                <a:ea typeface="Noto Sans CJK SC"/>
              </a:rPr>
              <a:t>可检验预测：固定 Sₑ 改速度，或固定束流改初始温度</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18 核心结论</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电子—声子耦合提供能量通道，熔融还取决于局域条件</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研究重点：把每一步转化为可验证的量和可检验的预测</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综合 [R1–R9]</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19</a:t>
            </a:r>
          </a:p>
        </p:txBody>
      </p:sp>
      <p:sp>
        <p:nvSpPr>
          <p:cNvPr id="9" name="TextBox 8"/>
          <p:cNvSpPr txBox="1"/>
          <p:nvPr/>
        </p:nvSpPr>
        <p:spPr>
          <a:xfrm>
            <a:off x="685800" y="1783080"/>
            <a:ext cx="1965960" cy="457200"/>
          </a:xfrm>
          <a:prstGeom prst="rect">
            <a:avLst/>
          </a:prstGeom>
          <a:noFill/>
        </p:spPr>
        <p:txBody>
          <a:bodyPr wrap="square" lIns="0" rIns="0" tIns="0" bIns="0">
            <a:noAutofit/>
          </a:bodyPr>
          <a:lstStyle/>
          <a:p>
            <a:pPr algn="l" marL="0" indent="0">
              <a:spcAft>
                <a:spcPts val="500"/>
              </a:spcAft>
              <a:defRPr sz="2200" b="1">
                <a:solidFill>
                  <a:srgbClr val="2560A8"/>
                </a:solidFill>
                <a:latin typeface="Noto Sans CJK SC"/>
              </a:defRPr>
            </a:pPr>
            <a:r>
              <a:rPr>
                <a:ea typeface="Noto Sans CJK SC"/>
              </a:rPr>
              <a:t>微观过程</a:t>
            </a:r>
          </a:p>
        </p:txBody>
      </p:sp>
      <p:sp>
        <p:nvSpPr>
          <p:cNvPr id="10" name="TextBox 9"/>
          <p:cNvSpPr txBox="1"/>
          <p:nvPr/>
        </p:nvSpPr>
        <p:spPr>
          <a:xfrm>
            <a:off x="2834640" y="1783080"/>
            <a:ext cx="8641080" cy="731520"/>
          </a:xfrm>
          <a:prstGeom prst="rect">
            <a:avLst/>
          </a:prstGeom>
          <a:noFill/>
        </p:spPr>
        <p:txBody>
          <a:bodyPr wrap="square" lIns="0" rIns="0" tIns="0" bIns="0">
            <a:noAutofit/>
          </a:bodyPr>
          <a:lstStyle/>
          <a:p>
            <a:pPr algn="l" marL="0" indent="0">
              <a:spcAft>
                <a:spcPts val="500"/>
              </a:spcAft>
              <a:defRPr sz="2200" b="0">
                <a:solidFill>
                  <a:srgbClr val="243343"/>
                </a:solidFill>
                <a:latin typeface="Noto Sans CJK SC"/>
              </a:defRPr>
            </a:pPr>
            <a:r>
              <a:rPr>
                <a:ea typeface="Noto Sans CJK SC"/>
              </a:rPr>
              <a:t>电子势受原子位移调制，非弹性跃迁产生净声子发射</a:t>
            </a:r>
          </a:p>
        </p:txBody>
      </p:sp>
      <p:sp>
        <p:nvSpPr>
          <p:cNvPr id="11" name="TextBox 10"/>
          <p:cNvSpPr txBox="1"/>
          <p:nvPr/>
        </p:nvSpPr>
        <p:spPr>
          <a:xfrm>
            <a:off x="685800" y="2724912"/>
            <a:ext cx="1965960" cy="457200"/>
          </a:xfrm>
          <a:prstGeom prst="rect">
            <a:avLst/>
          </a:prstGeom>
          <a:noFill/>
        </p:spPr>
        <p:txBody>
          <a:bodyPr wrap="square" lIns="0" rIns="0" tIns="0" bIns="0">
            <a:noAutofit/>
          </a:bodyPr>
          <a:lstStyle/>
          <a:p>
            <a:pPr algn="l" marL="0" indent="0">
              <a:spcAft>
                <a:spcPts val="500"/>
              </a:spcAft>
              <a:defRPr sz="2200" b="1">
                <a:solidFill>
                  <a:srgbClr val="CF7B2B"/>
                </a:solidFill>
                <a:latin typeface="Noto Sans CJK SC"/>
              </a:defRPr>
            </a:pPr>
            <a:r>
              <a:rPr>
                <a:ea typeface="Noto Sans CJK SC"/>
              </a:rPr>
              <a:t>晶格响应</a:t>
            </a:r>
          </a:p>
        </p:txBody>
      </p:sp>
      <p:sp>
        <p:nvSpPr>
          <p:cNvPr id="12" name="TextBox 11"/>
          <p:cNvSpPr txBox="1"/>
          <p:nvPr/>
        </p:nvSpPr>
        <p:spPr>
          <a:xfrm>
            <a:off x="2834640" y="2724912"/>
            <a:ext cx="8641080" cy="731520"/>
          </a:xfrm>
          <a:prstGeom prst="rect">
            <a:avLst/>
          </a:prstGeom>
          <a:noFill/>
        </p:spPr>
        <p:txBody>
          <a:bodyPr wrap="square" lIns="0" rIns="0" tIns="0" bIns="0">
            <a:noAutofit/>
          </a:bodyPr>
          <a:lstStyle/>
          <a:p>
            <a:pPr algn="l" marL="0" indent="0">
              <a:spcAft>
                <a:spcPts val="500"/>
              </a:spcAft>
              <a:defRPr sz="2200" b="0">
                <a:solidFill>
                  <a:srgbClr val="243343"/>
                </a:solidFill>
                <a:latin typeface="Noto Sans CJK SC"/>
              </a:defRPr>
            </a:pPr>
            <a:r>
              <a:rPr>
                <a:ea typeface="Noto Sans CJK SC"/>
              </a:rPr>
              <a:t>声子获能后经模式再分配，原子热运动增强</a:t>
            </a:r>
          </a:p>
        </p:txBody>
      </p:sp>
      <p:sp>
        <p:nvSpPr>
          <p:cNvPr id="13" name="TextBox 12"/>
          <p:cNvSpPr txBox="1"/>
          <p:nvPr/>
        </p:nvSpPr>
        <p:spPr>
          <a:xfrm>
            <a:off x="685800" y="3666744"/>
            <a:ext cx="1965960" cy="457200"/>
          </a:xfrm>
          <a:prstGeom prst="rect">
            <a:avLst/>
          </a:prstGeom>
          <a:noFill/>
        </p:spPr>
        <p:txBody>
          <a:bodyPr wrap="square" lIns="0" rIns="0" tIns="0" bIns="0">
            <a:noAutofit/>
          </a:bodyPr>
          <a:lstStyle/>
          <a:p>
            <a:pPr algn="l" marL="0" indent="0">
              <a:spcAft>
                <a:spcPts val="500"/>
              </a:spcAft>
              <a:defRPr sz="2200" b="1">
                <a:solidFill>
                  <a:srgbClr val="CF7B2B"/>
                </a:solidFill>
                <a:latin typeface="Noto Sans CJK SC"/>
              </a:defRPr>
            </a:pPr>
            <a:r>
              <a:rPr>
                <a:ea typeface="Noto Sans CJK SC"/>
              </a:rPr>
              <a:t>熔融条件</a:t>
            </a:r>
          </a:p>
        </p:txBody>
      </p:sp>
      <p:sp>
        <p:nvSpPr>
          <p:cNvPr id="14" name="TextBox 13"/>
          <p:cNvSpPr txBox="1"/>
          <p:nvPr/>
        </p:nvSpPr>
        <p:spPr>
          <a:xfrm>
            <a:off x="2834640" y="3666744"/>
            <a:ext cx="8641080" cy="731520"/>
          </a:xfrm>
          <a:prstGeom prst="rect">
            <a:avLst/>
          </a:prstGeom>
          <a:noFill/>
        </p:spPr>
        <p:txBody>
          <a:bodyPr wrap="square" lIns="0" rIns="0" tIns="0" bIns="0">
            <a:noAutofit/>
          </a:bodyPr>
          <a:lstStyle/>
          <a:p>
            <a:pPr algn="l" marL="0" indent="0">
              <a:spcAft>
                <a:spcPts val="500"/>
              </a:spcAft>
              <a:defRPr sz="2200" b="0">
                <a:solidFill>
                  <a:srgbClr val="243343"/>
                </a:solidFill>
                <a:latin typeface="Noto Sans CJK SC"/>
              </a:defRPr>
            </a:pPr>
            <a:r>
              <a:rPr>
                <a:ea typeface="Noto Sans CJK SC"/>
              </a:rPr>
              <a:t>局域能量需覆盖显热与潜热，并允许结构转变</a:t>
            </a:r>
          </a:p>
        </p:txBody>
      </p:sp>
      <p:sp>
        <p:nvSpPr>
          <p:cNvPr id="15" name="TextBox 14"/>
          <p:cNvSpPr txBox="1"/>
          <p:nvPr/>
        </p:nvSpPr>
        <p:spPr>
          <a:xfrm>
            <a:off x="685800" y="4608576"/>
            <a:ext cx="1965960" cy="457200"/>
          </a:xfrm>
          <a:prstGeom prst="rect">
            <a:avLst/>
          </a:prstGeom>
          <a:noFill/>
        </p:spPr>
        <p:txBody>
          <a:bodyPr wrap="square" lIns="0" rIns="0" tIns="0" bIns="0">
            <a:noAutofit/>
          </a:bodyPr>
          <a:lstStyle/>
          <a:p>
            <a:pPr algn="l" marL="0" indent="0">
              <a:spcAft>
                <a:spcPts val="500"/>
              </a:spcAft>
              <a:defRPr sz="2200" b="1">
                <a:solidFill>
                  <a:srgbClr val="79659D"/>
                </a:solidFill>
                <a:latin typeface="Noto Sans CJK SC"/>
              </a:defRPr>
            </a:pPr>
            <a:r>
              <a:rPr>
                <a:ea typeface="Noto Sans CJK SC"/>
              </a:rPr>
              <a:t>材料边界</a:t>
            </a:r>
          </a:p>
        </p:txBody>
      </p:sp>
      <p:sp>
        <p:nvSpPr>
          <p:cNvPr id="16" name="TextBox 15"/>
          <p:cNvSpPr txBox="1"/>
          <p:nvPr/>
        </p:nvSpPr>
        <p:spPr>
          <a:xfrm>
            <a:off x="2834640" y="4608576"/>
            <a:ext cx="8641080" cy="731520"/>
          </a:xfrm>
          <a:prstGeom prst="rect">
            <a:avLst/>
          </a:prstGeom>
          <a:noFill/>
        </p:spPr>
        <p:txBody>
          <a:bodyPr wrap="square" lIns="0" rIns="0" tIns="0" bIns="0">
            <a:noAutofit/>
          </a:bodyPr>
          <a:lstStyle/>
          <a:p>
            <a:pPr algn="l" marL="0" indent="0">
              <a:spcAft>
                <a:spcPts val="500"/>
              </a:spcAft>
              <a:defRPr sz="2200" b="0">
                <a:solidFill>
                  <a:srgbClr val="243343"/>
                </a:solidFill>
                <a:latin typeface="Noto Sans CJK SC"/>
              </a:defRPr>
            </a:pPr>
            <a:r>
              <a:rPr>
                <a:ea typeface="Noto Sans CJK SC"/>
              </a:rPr>
              <a:t>能量输运、非热力与冷却再结晶共同影响最终径迹</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备份 A  微观公式</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电子—声子哈密顿量与费米黄金律</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矩阵元、电子占据和声子占据共同决定每个跃迁的速率</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标准晶体电子—声子形式；参见 [R12]</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20</a:t>
            </a:r>
          </a:p>
        </p:txBody>
      </p:sp>
      <p:sp>
        <p:nvSpPr>
          <p:cNvPr id="9" name="TextBox 8"/>
          <p:cNvSpPr txBox="1"/>
          <p:nvPr/>
        </p:nvSpPr>
        <p:spPr>
          <a:xfrm>
            <a:off x="685800" y="1847088"/>
            <a:ext cx="10789920" cy="777240"/>
          </a:xfrm>
          <a:prstGeom prst="rect">
            <a:avLst/>
          </a:prstGeom>
          <a:noFill/>
        </p:spPr>
        <p:txBody>
          <a:bodyPr wrap="none" lIns="0" rIns="0" tIns="0" bIns="0">
            <a:noAutofit/>
          </a:bodyPr>
          <a:lstStyle/>
          <a:p>
            <a:r>
              <a:rPr sz="2400" b="0">
                <a:solidFill>
                  <a:srgbClr val="243343"/>
                </a:solidFill>
                <a:latin typeface="DejaVu Sans"/>
              </a:rPr>
              <a:t>H</a:t>
            </a:r>
            <a:r>
              <a:rPr sz="1728" b="0" baseline="-25000">
                <a:solidFill>
                  <a:srgbClr val="243343"/>
                </a:solidFill>
                <a:latin typeface="DejaVu Sans"/>
              </a:rPr>
              <a:t>e−ph</a:t>
            </a:r>
            <a:r>
              <a:rPr sz="2400" b="0">
                <a:solidFill>
                  <a:srgbClr val="243343"/>
                </a:solidFill>
                <a:latin typeface="DejaVu Sans"/>
              </a:rPr>
              <a:t> = ∑</a:t>
            </a:r>
            <a:r>
              <a:rPr sz="1728" b="0" baseline="-25000">
                <a:solidFill>
                  <a:srgbClr val="243343"/>
                </a:solidFill>
                <a:latin typeface="DejaVu Sans"/>
              </a:rPr>
              <a:t>k,q,ν</a:t>
            </a:r>
            <a:r>
              <a:rPr sz="2400" b="0">
                <a:solidFill>
                  <a:srgbClr val="243343"/>
                </a:solidFill>
                <a:latin typeface="DejaVu Sans"/>
              </a:rPr>
              <a:t> M</a:t>
            </a:r>
            <a:r>
              <a:rPr sz="1728" b="0" baseline="-25000">
                <a:solidFill>
                  <a:srgbClr val="243343"/>
                </a:solidFill>
                <a:latin typeface="DejaVu Sans"/>
              </a:rPr>
              <a:t>k,q,ν</a:t>
            </a:r>
            <a:r>
              <a:rPr sz="2400" b="0">
                <a:solidFill>
                  <a:srgbClr val="243343"/>
                </a:solidFill>
                <a:latin typeface="DejaVu Sans"/>
              </a:rPr>
              <a:t> c</a:t>
            </a:r>
            <a:r>
              <a:rPr sz="1728" b="0" baseline="30000">
                <a:solidFill>
                  <a:srgbClr val="243343"/>
                </a:solidFill>
                <a:latin typeface="DejaVu Sans"/>
              </a:rPr>
              <a:t>†</a:t>
            </a:r>
            <a:r>
              <a:rPr sz="1728" b="0" baseline="-25000">
                <a:solidFill>
                  <a:srgbClr val="243343"/>
                </a:solidFill>
                <a:latin typeface="DejaVu Sans"/>
              </a:rPr>
              <a:t>k+q</a:t>
            </a:r>
            <a:r>
              <a:rPr sz="2400" b="0">
                <a:solidFill>
                  <a:srgbClr val="243343"/>
                </a:solidFill>
                <a:latin typeface="DejaVu Sans"/>
              </a:rPr>
              <a:t> c</a:t>
            </a:r>
            <a:r>
              <a:rPr sz="1728" b="0" baseline="-25000">
                <a:solidFill>
                  <a:srgbClr val="243343"/>
                </a:solidFill>
                <a:latin typeface="DejaVu Sans"/>
              </a:rPr>
              <a:t>k</a:t>
            </a:r>
            <a:r>
              <a:rPr sz="2400" b="0">
                <a:solidFill>
                  <a:srgbClr val="243343"/>
                </a:solidFill>
                <a:latin typeface="DejaVu Sans"/>
              </a:rPr>
              <a:t> (b</a:t>
            </a:r>
            <a:r>
              <a:rPr sz="1728" b="0" baseline="-25000">
                <a:solidFill>
                  <a:srgbClr val="243343"/>
                </a:solidFill>
                <a:latin typeface="DejaVu Sans"/>
              </a:rPr>
              <a:t>q,ν</a:t>
            </a:r>
            <a:r>
              <a:rPr sz="2400" b="0">
                <a:solidFill>
                  <a:srgbClr val="243343"/>
                </a:solidFill>
                <a:latin typeface="DejaVu Sans"/>
              </a:rPr>
              <a:t> + b</a:t>
            </a:r>
            <a:r>
              <a:rPr sz="1728" b="0" baseline="30000">
                <a:solidFill>
                  <a:srgbClr val="243343"/>
                </a:solidFill>
                <a:latin typeface="DejaVu Sans"/>
              </a:rPr>
              <a:t>†</a:t>
            </a:r>
            <a:r>
              <a:rPr sz="1728" b="0" baseline="-25000">
                <a:solidFill>
                  <a:srgbClr val="243343"/>
                </a:solidFill>
                <a:latin typeface="DejaVu Sans"/>
              </a:rPr>
              <a:t>−q,ν</a:t>
            </a:r>
            <a:r>
              <a:rPr sz="2400" b="0">
                <a:solidFill>
                  <a:srgbClr val="243343"/>
                </a:solidFill>
                <a:latin typeface="DejaVu Sans"/>
              </a:rPr>
              <a:t>)</a:t>
            </a:r>
          </a:p>
        </p:txBody>
      </p:sp>
      <p:sp>
        <p:nvSpPr>
          <p:cNvPr id="10" name="TextBox 9"/>
          <p:cNvSpPr txBox="1"/>
          <p:nvPr/>
        </p:nvSpPr>
        <p:spPr>
          <a:xfrm>
            <a:off x="685800" y="2944368"/>
            <a:ext cx="10789920" cy="640080"/>
          </a:xfrm>
          <a:prstGeom prst="rect">
            <a:avLst/>
          </a:prstGeom>
          <a:noFill/>
        </p:spPr>
        <p:txBody>
          <a:bodyPr wrap="none" lIns="0" rIns="0" tIns="0" bIns="0">
            <a:noAutofit/>
          </a:bodyPr>
          <a:lstStyle/>
          <a:p>
            <a:r>
              <a:rPr sz="2300" b="0">
                <a:solidFill>
                  <a:srgbClr val="CF7B2B"/>
                </a:solidFill>
                <a:latin typeface="DejaVu Sans"/>
              </a:rPr>
              <a:t>发射： W ∝ (2π/ℏ)|M|² f</a:t>
            </a:r>
            <a:r>
              <a:rPr sz="1655" b="0" baseline="-25000">
                <a:solidFill>
                  <a:srgbClr val="CF7B2B"/>
                </a:solidFill>
                <a:latin typeface="DejaVu Sans"/>
              </a:rPr>
              <a:t>i</a:t>
            </a:r>
            <a:r>
              <a:rPr sz="2300" b="0">
                <a:solidFill>
                  <a:srgbClr val="CF7B2B"/>
                </a:solidFill>
                <a:latin typeface="DejaVu Sans"/>
              </a:rPr>
              <a:t>(1−f</a:t>
            </a:r>
            <a:r>
              <a:rPr sz="1655" b="0" baseline="-25000">
                <a:solidFill>
                  <a:srgbClr val="CF7B2B"/>
                </a:solidFill>
                <a:latin typeface="DejaVu Sans"/>
              </a:rPr>
              <a:t>f</a:t>
            </a:r>
            <a:r>
              <a:rPr sz="2300" b="0">
                <a:solidFill>
                  <a:srgbClr val="CF7B2B"/>
                </a:solidFill>
                <a:latin typeface="DejaVu Sans"/>
              </a:rPr>
              <a:t>)(n</a:t>
            </a:r>
            <a:r>
              <a:rPr sz="1655" b="0" baseline="-25000">
                <a:solidFill>
                  <a:srgbClr val="CF7B2B"/>
                </a:solidFill>
                <a:latin typeface="DejaVu Sans"/>
              </a:rPr>
              <a:t>q,ν</a:t>
            </a:r>
            <a:r>
              <a:rPr sz="2300" b="0">
                <a:solidFill>
                  <a:srgbClr val="CF7B2B"/>
                </a:solidFill>
                <a:latin typeface="DejaVu Sans"/>
              </a:rPr>
              <a:t>+1)</a:t>
            </a:r>
          </a:p>
        </p:txBody>
      </p:sp>
      <p:sp>
        <p:nvSpPr>
          <p:cNvPr id="11" name="TextBox 10"/>
          <p:cNvSpPr txBox="1"/>
          <p:nvPr/>
        </p:nvSpPr>
        <p:spPr>
          <a:xfrm>
            <a:off x="685800" y="3657600"/>
            <a:ext cx="10789920" cy="502920"/>
          </a:xfrm>
          <a:prstGeom prst="rect">
            <a:avLst/>
          </a:prstGeom>
          <a:noFill/>
        </p:spPr>
        <p:txBody>
          <a:bodyPr wrap="none" lIns="0" rIns="0" tIns="0" bIns="0">
            <a:noAutofit/>
          </a:bodyPr>
          <a:lstStyle/>
          <a:p>
            <a:r>
              <a:rPr sz="2300" b="0">
                <a:solidFill>
                  <a:srgbClr val="CF7B2B"/>
                </a:solidFill>
                <a:latin typeface="DejaVu Sans"/>
              </a:rPr>
              <a:t>× δ(ε</a:t>
            </a:r>
            <a:r>
              <a:rPr sz="1655" b="0" baseline="-25000">
                <a:solidFill>
                  <a:srgbClr val="CF7B2B"/>
                </a:solidFill>
                <a:latin typeface="DejaVu Sans"/>
              </a:rPr>
              <a:t>i</a:t>
            </a:r>
            <a:r>
              <a:rPr sz="2300" b="0">
                <a:solidFill>
                  <a:srgbClr val="CF7B2B"/>
                </a:solidFill>
                <a:latin typeface="DejaVu Sans"/>
              </a:rPr>
              <a:t>−ε</a:t>
            </a:r>
            <a:r>
              <a:rPr sz="1655" b="0" baseline="-25000">
                <a:solidFill>
                  <a:srgbClr val="CF7B2B"/>
                </a:solidFill>
                <a:latin typeface="DejaVu Sans"/>
              </a:rPr>
              <a:t>f</a:t>
            </a:r>
            <a:r>
              <a:rPr sz="2300" b="0">
                <a:solidFill>
                  <a:srgbClr val="CF7B2B"/>
                </a:solidFill>
                <a:latin typeface="DejaVu Sans"/>
              </a:rPr>
              <a:t>−ℏω</a:t>
            </a:r>
            <a:r>
              <a:rPr sz="1655" b="0" baseline="-25000">
                <a:solidFill>
                  <a:srgbClr val="CF7B2B"/>
                </a:solidFill>
                <a:latin typeface="DejaVu Sans"/>
              </a:rPr>
              <a:t>q,ν</a:t>
            </a:r>
            <a:r>
              <a:rPr sz="2300" b="0">
                <a:solidFill>
                  <a:srgbClr val="CF7B2B"/>
                </a:solidFill>
                <a:latin typeface="DejaVu Sans"/>
              </a:rPr>
              <a:t>)</a:t>
            </a:r>
          </a:p>
        </p:txBody>
      </p:sp>
      <p:sp>
        <p:nvSpPr>
          <p:cNvPr id="12" name="TextBox 11"/>
          <p:cNvSpPr txBox="1"/>
          <p:nvPr/>
        </p:nvSpPr>
        <p:spPr>
          <a:xfrm>
            <a:off x="685800" y="4663440"/>
            <a:ext cx="10789920" cy="502920"/>
          </a:xfrm>
          <a:prstGeom prst="rect">
            <a:avLst/>
          </a:prstGeom>
          <a:noFill/>
        </p:spPr>
        <p:txBody>
          <a:bodyPr wrap="square" lIns="0" rIns="0" tIns="0" bIns="0">
            <a:noAutofit/>
          </a:bodyPr>
          <a:lstStyle/>
          <a:p>
            <a:pPr algn="l" marL="0" indent="0">
              <a:spcAft>
                <a:spcPts val="500"/>
              </a:spcAft>
              <a:defRPr sz="2100" b="0">
                <a:solidFill>
                  <a:srgbClr val="2560A8"/>
                </a:solidFill>
                <a:latin typeface="Noto Sans CJK SC"/>
              </a:defRPr>
            </a:pPr>
            <a:r>
              <a:rPr>
                <a:ea typeface="Noto Sans CJK SC"/>
              </a:rPr>
              <a:t>吸收：将 (n+1) 改为 n，能量守恒项取相反号</a:t>
            </a:r>
          </a:p>
        </p:txBody>
      </p:sp>
      <p:sp>
        <p:nvSpPr>
          <p:cNvPr id="13" name="TextBox 12"/>
          <p:cNvSpPr txBox="1"/>
          <p:nvPr/>
        </p:nvSpPr>
        <p:spPr>
          <a:xfrm>
            <a:off x="685800" y="5394960"/>
            <a:ext cx="10789920" cy="365760"/>
          </a:xfrm>
          <a:prstGeom prst="rect">
            <a:avLst/>
          </a:prstGeom>
          <a:noFill/>
        </p:spPr>
        <p:txBody>
          <a:bodyPr wrap="square" lIns="0" rIns="0" tIns="0" bIns="0">
            <a:noAutofit/>
          </a:bodyPr>
          <a:lstStyle/>
          <a:p>
            <a:pPr algn="l" marL="0" indent="0">
              <a:spcAft>
                <a:spcPts val="500"/>
              </a:spcAft>
              <a:defRPr sz="1700" b="0">
                <a:solidFill>
                  <a:srgbClr val="6D7985"/>
                </a:solidFill>
                <a:latin typeface="Noto Sans CJK SC"/>
              </a:defRPr>
            </a:pPr>
            <a:r>
              <a:rPr>
                <a:ea typeface="Noto Sans CJK SC"/>
              </a:rPr>
              <a:t>晶体动量守恒至倒格矢；多带、多模式及无序情况需扩展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备份 B  连续体模型</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径向热峰方程与源项归一化</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Sₑ 约束总沉积能量，A(r,t) 决定局域能量密度</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整理自 [R2, R5]</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21</a:t>
            </a:r>
          </a:p>
        </p:txBody>
      </p:sp>
      <p:sp>
        <p:nvSpPr>
          <p:cNvPr id="9" name="TextBox 8"/>
          <p:cNvSpPr txBox="1"/>
          <p:nvPr/>
        </p:nvSpPr>
        <p:spPr>
          <a:xfrm>
            <a:off x="685800" y="1847088"/>
            <a:ext cx="10789920" cy="731520"/>
          </a:xfrm>
          <a:prstGeom prst="rect">
            <a:avLst/>
          </a:prstGeom>
          <a:noFill/>
        </p:spPr>
        <p:txBody>
          <a:bodyPr wrap="square" lIns="0" rIns="0" tIns="0" bIns="0">
            <a:noAutofit/>
          </a:bodyPr>
          <a:lstStyle/>
          <a:p>
            <a:pPr algn="l" marL="0" indent="0">
              <a:spcAft>
                <a:spcPts val="500"/>
              </a:spcAft>
              <a:defRPr sz="2200" b="0">
                <a:solidFill>
                  <a:srgbClr val="2560A8"/>
                </a:solidFill>
                <a:latin typeface="DejaVu Sans"/>
              </a:defRPr>
            </a:pPr>
            <a:r>
              <a:rPr>
                <a:ea typeface="DejaVu Sans"/>
              </a:rPr>
              <a:t>Cₑ ∂Tₑ/∂t = (1/r)∂r[rKₑ∂rTₑ] − G(Tₑ−Tₗ) + A(r,t)</a:t>
            </a:r>
          </a:p>
        </p:txBody>
      </p:sp>
      <p:sp>
        <p:nvSpPr>
          <p:cNvPr id="10" name="TextBox 9"/>
          <p:cNvSpPr txBox="1"/>
          <p:nvPr/>
        </p:nvSpPr>
        <p:spPr>
          <a:xfrm>
            <a:off x="685800" y="2798064"/>
            <a:ext cx="10789920" cy="731520"/>
          </a:xfrm>
          <a:prstGeom prst="rect">
            <a:avLst/>
          </a:prstGeom>
          <a:noFill/>
        </p:spPr>
        <p:txBody>
          <a:bodyPr wrap="square" lIns="0" rIns="0" tIns="0" bIns="0">
            <a:noAutofit/>
          </a:bodyPr>
          <a:lstStyle/>
          <a:p>
            <a:pPr algn="l" marL="0" indent="0">
              <a:spcAft>
                <a:spcPts val="500"/>
              </a:spcAft>
              <a:defRPr sz="2200" b="0">
                <a:solidFill>
                  <a:srgbClr val="CF7B2B"/>
                </a:solidFill>
                <a:latin typeface="DejaVu Sans"/>
              </a:defRPr>
            </a:pPr>
            <a:r>
              <a:rPr>
                <a:ea typeface="DejaVu Sans"/>
              </a:rPr>
              <a:t>Cₗ ∂Tₗ/∂t = (1/r)∂r[rKₗ∂rTₗ] + G(Tₑ−Tₗ)</a:t>
            </a:r>
          </a:p>
        </p:txBody>
      </p:sp>
      <p:sp>
        <p:nvSpPr>
          <p:cNvPr id="11" name="TextBox 10"/>
          <p:cNvSpPr txBox="1"/>
          <p:nvPr/>
        </p:nvSpPr>
        <p:spPr>
          <a:xfrm>
            <a:off x="685800" y="3767328"/>
            <a:ext cx="10789920" cy="640080"/>
          </a:xfrm>
          <a:prstGeom prst="rect">
            <a:avLst/>
          </a:prstGeom>
          <a:noFill/>
        </p:spPr>
        <p:txBody>
          <a:bodyPr wrap="square" lIns="0" rIns="0" tIns="0" bIns="0">
            <a:noAutofit/>
          </a:bodyPr>
          <a:lstStyle/>
          <a:p>
            <a:pPr algn="l" marL="0" indent="0">
              <a:spcAft>
                <a:spcPts val="500"/>
              </a:spcAft>
              <a:defRPr sz="2700" b="0">
                <a:solidFill>
                  <a:srgbClr val="243343"/>
                </a:solidFill>
                <a:latin typeface="DejaVu Sans"/>
              </a:defRPr>
            </a:pPr>
            <a:r>
              <a:rPr>
                <a:ea typeface="DejaVu Sans"/>
              </a:rPr>
              <a:t>∫dt ∫₀∞ 2πr A(r,t)dr = Sₑ</a:t>
            </a:r>
          </a:p>
        </p:txBody>
      </p:sp>
      <p:sp>
        <p:nvSpPr>
          <p:cNvPr id="12" name="TextBox 11"/>
          <p:cNvSpPr txBox="1"/>
          <p:nvPr/>
        </p:nvSpPr>
        <p:spPr>
          <a:xfrm>
            <a:off x="685800" y="4892040"/>
            <a:ext cx="10789920" cy="914400"/>
          </a:xfrm>
          <a:prstGeom prst="rect">
            <a:avLst/>
          </a:prstGeom>
          <a:noFill/>
        </p:spPr>
        <p:txBody>
          <a:bodyPr wrap="square" lIns="0" rIns="0" tIns="0" bIns="0">
            <a:noAutofit/>
          </a:bodyPr>
          <a:lstStyle/>
          <a:p>
            <a:pPr algn="l" marL="0" indent="0">
              <a:spcAft>
                <a:spcPts val="500"/>
              </a:spcAft>
              <a:defRPr sz="2000" b="0">
                <a:solidFill>
                  <a:srgbClr val="6D7985"/>
                </a:solidFill>
                <a:latin typeface="Noto Sans CJK SC"/>
              </a:defRPr>
            </a:pPr>
            <a:r>
              <a:rPr>
                <a:ea typeface="Noto Sans CJK SC"/>
              </a:rPr>
              <a:t>边界：轨迹中心径向梯度为零；远处恢复环境温度</a:t>
            </a:r>
          </a:p>
          <a:p>
            <a:pPr algn="l" marL="0" indent="0">
              <a:spcAft>
                <a:spcPts val="500"/>
              </a:spcAft>
              <a:defRPr sz="2000" b="0">
                <a:solidFill>
                  <a:srgbClr val="6D7985"/>
                </a:solidFill>
                <a:latin typeface="Noto Sans CJK SC"/>
              </a:defRPr>
            </a:pPr>
            <a:r>
              <a:rPr>
                <a:ea typeface="Noto Sans CJK SC"/>
              </a:rPr>
              <a:t>注意：有限样品中需单独处理逃逸与界面输运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备份 C  时间尺度推导</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Ce/G 是近似冷却尺度，完整温差弛豫还有 Cl</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G 的量纲是 W m⁻³ K⁻¹，τ 的量纲是时间</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由双温守恒方程推导；理论背景 [R1]</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22</a:t>
            </a:r>
          </a:p>
        </p:txBody>
      </p:sp>
      <p:sp>
        <p:nvSpPr>
          <p:cNvPr id="9" name="TextBox 8"/>
          <p:cNvSpPr txBox="1"/>
          <p:nvPr/>
        </p:nvSpPr>
        <p:spPr>
          <a:xfrm>
            <a:off x="685800" y="1828800"/>
            <a:ext cx="10789920" cy="548640"/>
          </a:xfrm>
          <a:prstGeom prst="rect">
            <a:avLst/>
          </a:prstGeom>
          <a:noFill/>
        </p:spPr>
        <p:txBody>
          <a:bodyPr wrap="square" lIns="0" rIns="0" tIns="0" bIns="0">
            <a:noAutofit/>
          </a:bodyPr>
          <a:lstStyle/>
          <a:p>
            <a:pPr algn="l" marL="0" indent="0">
              <a:spcAft>
                <a:spcPts val="500"/>
              </a:spcAft>
              <a:defRPr sz="3000" b="0">
                <a:solidFill>
                  <a:srgbClr val="243343"/>
                </a:solidFill>
                <a:latin typeface="DejaVu Sans"/>
              </a:defRPr>
            </a:pPr>
            <a:r>
              <a:rPr>
                <a:ea typeface="DejaVu Sans"/>
              </a:rPr>
              <a:t>ΔT = Tₑ − Tₗ</a:t>
            </a:r>
          </a:p>
        </p:txBody>
      </p:sp>
      <p:sp>
        <p:nvSpPr>
          <p:cNvPr id="10" name="TextBox 9"/>
          <p:cNvSpPr txBox="1"/>
          <p:nvPr/>
        </p:nvSpPr>
        <p:spPr>
          <a:xfrm>
            <a:off x="685800" y="2743200"/>
            <a:ext cx="10789920" cy="640080"/>
          </a:xfrm>
          <a:prstGeom prst="rect">
            <a:avLst/>
          </a:prstGeom>
          <a:noFill/>
        </p:spPr>
        <p:txBody>
          <a:bodyPr wrap="square" lIns="0" rIns="0" tIns="0" bIns="0">
            <a:noAutofit/>
          </a:bodyPr>
          <a:lstStyle/>
          <a:p>
            <a:pPr algn="l" marL="0" indent="0">
              <a:spcAft>
                <a:spcPts val="500"/>
              </a:spcAft>
              <a:defRPr sz="2800" b="0">
                <a:solidFill>
                  <a:srgbClr val="2560A8"/>
                </a:solidFill>
                <a:latin typeface="DejaVu Sans"/>
              </a:defRPr>
            </a:pPr>
            <a:r>
              <a:rPr>
                <a:ea typeface="DejaVu Sans"/>
              </a:rPr>
              <a:t>dΔT/dt = −G(1/Cₑ + 1/Cₗ)ΔT</a:t>
            </a:r>
          </a:p>
        </p:txBody>
      </p:sp>
      <p:sp>
        <p:nvSpPr>
          <p:cNvPr id="11" name="TextBox 10"/>
          <p:cNvSpPr txBox="1"/>
          <p:nvPr/>
        </p:nvSpPr>
        <p:spPr>
          <a:xfrm>
            <a:off x="685800" y="3749039"/>
            <a:ext cx="10789920" cy="640080"/>
          </a:xfrm>
          <a:prstGeom prst="rect">
            <a:avLst/>
          </a:prstGeom>
          <a:noFill/>
        </p:spPr>
        <p:txBody>
          <a:bodyPr wrap="square" lIns="0" rIns="0" tIns="0" bIns="0">
            <a:noAutofit/>
          </a:bodyPr>
          <a:lstStyle/>
          <a:p>
            <a:pPr algn="l" marL="0" indent="0">
              <a:spcAft>
                <a:spcPts val="500"/>
              </a:spcAft>
              <a:defRPr sz="2900" b="1">
                <a:solidFill>
                  <a:srgbClr val="CF7B2B"/>
                </a:solidFill>
                <a:latin typeface="DejaVu Sans"/>
              </a:defRPr>
            </a:pPr>
            <a:r>
              <a:rPr>
                <a:ea typeface="DejaVu Sans"/>
              </a:rPr>
              <a:t>τrel = CₑCₗ / [G(Cₑ + Cₗ)]</a:t>
            </a:r>
          </a:p>
        </p:txBody>
      </p:sp>
      <p:sp>
        <p:nvSpPr>
          <p:cNvPr id="12" name="TextBox 11"/>
          <p:cNvSpPr txBox="1"/>
          <p:nvPr/>
        </p:nvSpPr>
        <p:spPr>
          <a:xfrm>
            <a:off x="685800" y="4937760"/>
            <a:ext cx="10789920" cy="822960"/>
          </a:xfrm>
          <a:prstGeom prst="rect">
            <a:avLst/>
          </a:prstGeom>
          <a:noFill/>
        </p:spPr>
        <p:txBody>
          <a:bodyPr wrap="square" lIns="0" rIns="0" tIns="0" bIns="0">
            <a:noAutofit/>
          </a:bodyPr>
          <a:lstStyle/>
          <a:p>
            <a:pPr algn="l" marL="0" indent="0">
              <a:spcAft>
                <a:spcPts val="500"/>
              </a:spcAft>
              <a:defRPr sz="2200" b="0">
                <a:solidFill>
                  <a:srgbClr val="6D7985"/>
                </a:solidFill>
                <a:latin typeface="Noto Sans CJK SC"/>
              </a:defRPr>
            </a:pPr>
            <a:r>
              <a:rPr>
                <a:ea typeface="Noto Sans CJK SC"/>
              </a:rPr>
              <a:t>若 Cₗ ≫ Cₑ，则 τrel ≈ Cₑ/G</a:t>
            </a:r>
          </a:p>
          <a:p>
            <a:pPr algn="l" marL="0" indent="0">
              <a:spcAft>
                <a:spcPts val="500"/>
              </a:spcAft>
              <a:defRPr sz="2200" b="0">
                <a:solidFill>
                  <a:srgbClr val="6D7985"/>
                </a:solidFill>
                <a:latin typeface="Noto Sans CJK SC"/>
              </a:defRPr>
            </a:pPr>
            <a:r>
              <a:rPr>
                <a:ea typeface="Noto Sans CJK SC"/>
              </a:rPr>
              <a:t>条件：常数热容、常数 G，无源项、无空间输运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备份 D  可复现计算</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教学曲线的假设与能量守恒</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曲线用于隔离竞争机制，不代表任何指定材料</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原创计算；全部参数为假设值</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23</a:t>
            </a:r>
          </a:p>
        </p:txBody>
      </p:sp>
      <p:sp>
        <p:nvSpPr>
          <p:cNvPr id="9" name="TextBox 8"/>
          <p:cNvSpPr txBox="1"/>
          <p:nvPr/>
        </p:nvSpPr>
        <p:spPr>
          <a:xfrm>
            <a:off x="685800" y="1810512"/>
            <a:ext cx="10789920" cy="548640"/>
          </a:xfrm>
          <a:prstGeom prst="rect">
            <a:avLst/>
          </a:prstGeom>
          <a:noFill/>
        </p:spPr>
        <p:txBody>
          <a:bodyPr wrap="square" lIns="0" rIns="0" tIns="0" bIns="0">
            <a:noAutofit/>
          </a:bodyPr>
          <a:lstStyle/>
          <a:p>
            <a:pPr algn="l" marL="0" indent="0">
              <a:spcAft>
                <a:spcPts val="500"/>
              </a:spcAft>
              <a:defRPr sz="2400" b="0">
                <a:solidFill>
                  <a:srgbClr val="2560A8"/>
                </a:solidFill>
                <a:latin typeface="DejaVu Sans"/>
              </a:defRPr>
            </a:pPr>
            <a:r>
              <a:rPr>
                <a:ea typeface="DejaVu Sans"/>
              </a:rPr>
              <a:t>Cₑ dTₑ/dt = −G(Tₑ−Tₗ) − Cₑ(Tₑ−T₀)/τesc</a:t>
            </a:r>
          </a:p>
        </p:txBody>
      </p:sp>
      <p:sp>
        <p:nvSpPr>
          <p:cNvPr id="10" name="TextBox 9"/>
          <p:cNvSpPr txBox="1"/>
          <p:nvPr/>
        </p:nvSpPr>
        <p:spPr>
          <a:xfrm>
            <a:off x="685800" y="2542032"/>
            <a:ext cx="10789920" cy="548640"/>
          </a:xfrm>
          <a:prstGeom prst="rect">
            <a:avLst/>
          </a:prstGeom>
          <a:noFill/>
        </p:spPr>
        <p:txBody>
          <a:bodyPr wrap="square" lIns="0" rIns="0" tIns="0" bIns="0">
            <a:noAutofit/>
          </a:bodyPr>
          <a:lstStyle/>
          <a:p>
            <a:pPr algn="l" marL="0" indent="0">
              <a:spcAft>
                <a:spcPts val="500"/>
              </a:spcAft>
              <a:defRPr sz="2400" b="0">
                <a:solidFill>
                  <a:srgbClr val="CF7B2B"/>
                </a:solidFill>
                <a:latin typeface="DejaVu Sans"/>
              </a:defRPr>
            </a:pPr>
            <a:r>
              <a:rPr>
                <a:ea typeface="DejaVu Sans"/>
              </a:rPr>
              <a:t>Cₗ dTₗ/dt = +G(Tₑ−Tₗ)</a:t>
            </a:r>
          </a:p>
        </p:txBody>
      </p:sp>
      <p:graphicFrame>
        <p:nvGraphicFramePr>
          <p:cNvPr id="11" name="Table 10"/>
          <p:cNvGraphicFramePr>
            <a:graphicFrameLocks noGrp="1"/>
          </p:cNvGraphicFramePr>
          <p:nvPr/>
        </p:nvGraphicFramePr>
        <p:xfrm>
          <a:off x="548640" y="3474720"/>
          <a:ext cx="11064240" cy="1737360"/>
        </p:xfrm>
        <a:graphic>
          <a:graphicData uri="http://schemas.openxmlformats.org/drawingml/2006/table">
            <a:tbl>
              <a:tblPr firstRow="1" bandRow="1">
                <a:tableStyleId>{5C22544A-7EE6-4342-B048-85BDC9FD1C3A}</a:tableStyleId>
              </a:tblPr>
              <a:tblGrid>
                <a:gridCol w="2103120"/>
                <a:gridCol w="3429000"/>
                <a:gridCol w="2103120"/>
                <a:gridCol w="3429000"/>
              </a:tblGrid>
              <a:tr h="434340">
                <a:tc>
                  <a:txBody>
                    <a:bodyPr/>
                    <a:lstStyle/>
                    <a:p>
                      <a:pPr>
                        <a:defRPr sz="1300" b="1">
                          <a:solidFill>
                            <a:srgbClr val="FFFFFF"/>
                          </a:solidFill>
                          <a:latin typeface="Noto Sans CJK SC"/>
                        </a:defRPr>
                      </a:pPr>
                      <a:r>
                        <a:t>参数</a:t>
                      </a:r>
                    </a:p>
                  </a:txBody>
                  <a:tcPr marL="118872" marR="109728" marT="73152" marB="73152" anchor="ctr">
                    <a:solidFill>
                      <a:srgbClr val="142E46"/>
                    </a:solidFill>
                  </a:tcPr>
                </a:tc>
                <a:tc>
                  <a:txBody>
                    <a:bodyPr/>
                    <a:lstStyle/>
                    <a:p>
                      <a:pPr>
                        <a:defRPr sz="1300" b="1">
                          <a:solidFill>
                            <a:srgbClr val="FFFFFF"/>
                          </a:solidFill>
                          <a:latin typeface="Noto Sans CJK SC"/>
                        </a:defRPr>
                      </a:pPr>
                      <a:r>
                        <a:t>假设值</a:t>
                      </a:r>
                    </a:p>
                  </a:txBody>
                  <a:tcPr marL="118872" marR="109728" marT="73152" marB="73152" anchor="ctr">
                    <a:solidFill>
                      <a:srgbClr val="142E46"/>
                    </a:solidFill>
                  </a:tcPr>
                </a:tc>
                <a:tc>
                  <a:txBody>
                    <a:bodyPr/>
                    <a:lstStyle/>
                    <a:p>
                      <a:pPr>
                        <a:defRPr sz="1300" b="1">
                          <a:solidFill>
                            <a:srgbClr val="FFFFFF"/>
                          </a:solidFill>
                          <a:latin typeface="Noto Sans CJK SC"/>
                        </a:defRPr>
                      </a:pPr>
                      <a:r>
                        <a:t>参数</a:t>
                      </a:r>
                    </a:p>
                  </a:txBody>
                  <a:tcPr marL="118872" marR="109728" marT="73152" marB="73152" anchor="ctr">
                    <a:solidFill>
                      <a:srgbClr val="142E46"/>
                    </a:solidFill>
                  </a:tcPr>
                </a:tc>
                <a:tc>
                  <a:txBody>
                    <a:bodyPr/>
                    <a:lstStyle/>
                    <a:p>
                      <a:pPr>
                        <a:defRPr sz="1300" b="1">
                          <a:solidFill>
                            <a:srgbClr val="FFFFFF"/>
                          </a:solidFill>
                          <a:latin typeface="Noto Sans CJK SC"/>
                        </a:defRPr>
                      </a:pPr>
                      <a:r>
                        <a:t>假设值</a:t>
                      </a:r>
                    </a:p>
                  </a:txBody>
                  <a:tcPr marL="118872" marR="109728" marT="73152" marB="73152" anchor="ctr">
                    <a:solidFill>
                      <a:srgbClr val="142E46"/>
                    </a:solidFill>
                  </a:tcPr>
                </a:tc>
              </a:tr>
              <a:tr h="434340">
                <a:tc>
                  <a:txBody>
                    <a:bodyPr/>
                    <a:lstStyle/>
                    <a:p>
                      <a:pPr>
                        <a:defRPr sz="1400" b="0">
                          <a:solidFill>
                            <a:srgbClr val="243343"/>
                          </a:solidFill>
                          <a:latin typeface="Noto Sans CJK SC"/>
                        </a:defRPr>
                      </a:pPr>
                      <a:r>
                        <a:t>Tₑ(0)</a:t>
                      </a:r>
                    </a:p>
                  </a:txBody>
                  <a:tcPr marL="118872" marR="109728" marT="73152" marB="73152" anchor="ctr">
                    <a:solidFill>
                      <a:srgbClr val="EFF4F8"/>
                    </a:solidFill>
                  </a:tcPr>
                </a:tc>
                <a:tc>
                  <a:txBody>
                    <a:bodyPr/>
                    <a:lstStyle/>
                    <a:p>
                      <a:pPr>
                        <a:defRPr sz="1400" b="0">
                          <a:solidFill>
                            <a:srgbClr val="243343"/>
                          </a:solidFill>
                          <a:latin typeface="Noto Sans CJK SC"/>
                        </a:defRPr>
                      </a:pPr>
                      <a:r>
                        <a:t>12 000 K</a:t>
                      </a:r>
                    </a:p>
                  </a:txBody>
                  <a:tcPr marL="118872" marR="109728" marT="73152" marB="73152" anchor="ctr">
                    <a:solidFill>
                      <a:srgbClr val="EFF4F8"/>
                    </a:solidFill>
                  </a:tcPr>
                </a:tc>
                <a:tc>
                  <a:txBody>
                    <a:bodyPr/>
                    <a:lstStyle/>
                    <a:p>
                      <a:pPr>
                        <a:defRPr sz="1400" b="0">
                          <a:solidFill>
                            <a:srgbClr val="243343"/>
                          </a:solidFill>
                          <a:latin typeface="Noto Sans CJK SC"/>
                        </a:defRPr>
                      </a:pPr>
                      <a:r>
                        <a:t>Tₗ(0) = T₀</a:t>
                      </a:r>
                    </a:p>
                  </a:txBody>
                  <a:tcPr marL="118872" marR="109728" marT="73152" marB="73152" anchor="ctr">
                    <a:solidFill>
                      <a:srgbClr val="EFF4F8"/>
                    </a:solidFill>
                  </a:tcPr>
                </a:tc>
                <a:tc>
                  <a:txBody>
                    <a:bodyPr/>
                    <a:lstStyle/>
                    <a:p>
                      <a:pPr>
                        <a:defRPr sz="1400" b="0">
                          <a:solidFill>
                            <a:srgbClr val="243343"/>
                          </a:solidFill>
                          <a:latin typeface="Noto Sans CJK SC"/>
                        </a:defRPr>
                      </a:pPr>
                      <a:r>
                        <a:t>300 K</a:t>
                      </a:r>
                    </a:p>
                  </a:txBody>
                  <a:tcPr marL="118872" marR="109728" marT="73152" marB="73152" anchor="ctr">
                    <a:solidFill>
                      <a:srgbClr val="EFF4F8"/>
                    </a:solidFill>
                  </a:tcPr>
                </a:tc>
              </a:tr>
              <a:tr h="434340">
                <a:tc>
                  <a:txBody>
                    <a:bodyPr/>
                    <a:lstStyle/>
                    <a:p>
                      <a:pPr>
                        <a:defRPr sz="1400" b="0">
                          <a:solidFill>
                            <a:srgbClr val="243343"/>
                          </a:solidFill>
                          <a:latin typeface="Noto Sans CJK SC"/>
                        </a:defRPr>
                      </a:pPr>
                      <a:r>
                        <a:t>Cₑ</a:t>
                      </a:r>
                    </a:p>
                  </a:txBody>
                  <a:tcPr marL="118872" marR="109728" marT="73152" marB="73152" anchor="ctr">
                    <a:solidFill>
                      <a:srgbClr val="FFFFFF"/>
                    </a:solidFill>
                  </a:tcPr>
                </a:tc>
                <a:tc>
                  <a:txBody>
                    <a:bodyPr/>
                    <a:lstStyle/>
                    <a:p>
                      <a:pPr>
                        <a:defRPr sz="1400" b="0">
                          <a:solidFill>
                            <a:srgbClr val="243343"/>
                          </a:solidFill>
                          <a:latin typeface="Noto Sans CJK SC"/>
                        </a:defRPr>
                      </a:pPr>
                      <a:r>
                        <a:t>2×10⁵ J m⁻³ K⁻¹</a:t>
                      </a:r>
                    </a:p>
                  </a:txBody>
                  <a:tcPr marL="118872" marR="109728" marT="73152" marB="73152" anchor="ctr">
                    <a:solidFill>
                      <a:srgbClr val="FFFFFF"/>
                    </a:solidFill>
                  </a:tcPr>
                </a:tc>
                <a:tc>
                  <a:txBody>
                    <a:bodyPr/>
                    <a:lstStyle/>
                    <a:p>
                      <a:pPr>
                        <a:defRPr sz="1400" b="0">
                          <a:solidFill>
                            <a:srgbClr val="243343"/>
                          </a:solidFill>
                          <a:latin typeface="Noto Sans CJK SC"/>
                        </a:defRPr>
                      </a:pPr>
                      <a:r>
                        <a:t>Cₗ</a:t>
                      </a:r>
                    </a:p>
                  </a:txBody>
                  <a:tcPr marL="118872" marR="109728" marT="73152" marB="73152" anchor="ctr">
                    <a:solidFill>
                      <a:srgbClr val="FFFFFF"/>
                    </a:solidFill>
                  </a:tcPr>
                </a:tc>
                <a:tc>
                  <a:txBody>
                    <a:bodyPr/>
                    <a:lstStyle/>
                    <a:p>
                      <a:pPr>
                        <a:defRPr sz="1400" b="0">
                          <a:solidFill>
                            <a:srgbClr val="243343"/>
                          </a:solidFill>
                          <a:latin typeface="Noto Sans CJK SC"/>
                        </a:defRPr>
                      </a:pPr>
                      <a:r>
                        <a:t>2.5×10⁶ J m⁻³ K⁻¹</a:t>
                      </a:r>
                    </a:p>
                  </a:txBody>
                  <a:tcPr marL="118872" marR="109728" marT="73152" marB="73152" anchor="ctr">
                    <a:solidFill>
                      <a:srgbClr val="FFFFFF"/>
                    </a:solidFill>
                  </a:tcPr>
                </a:tc>
              </a:tr>
              <a:tr h="434340">
                <a:tc>
                  <a:txBody>
                    <a:bodyPr/>
                    <a:lstStyle/>
                    <a:p>
                      <a:pPr>
                        <a:defRPr sz="1400" b="0">
                          <a:solidFill>
                            <a:srgbClr val="243343"/>
                          </a:solidFill>
                          <a:latin typeface="Noto Sans CJK SC"/>
                        </a:defRPr>
                      </a:pPr>
                      <a:r>
                        <a:t>G / W m⁻³ K⁻¹</a:t>
                      </a:r>
                    </a:p>
                  </a:txBody>
                  <a:tcPr marL="118872" marR="109728" marT="73152" marB="73152" anchor="ctr">
                    <a:solidFill>
                      <a:srgbClr val="EFF4F8"/>
                    </a:solidFill>
                  </a:tcPr>
                </a:tc>
                <a:tc>
                  <a:txBody>
                    <a:bodyPr/>
                    <a:lstStyle/>
                    <a:p>
                      <a:pPr>
                        <a:defRPr sz="1400" b="0">
                          <a:solidFill>
                            <a:srgbClr val="243343"/>
                          </a:solidFill>
                          <a:latin typeface="Noto Sans CJK SC"/>
                        </a:defRPr>
                      </a:pPr>
                      <a:r>
                        <a:t>2×10¹⁷ 或 2×10¹⁸</a:t>
                      </a:r>
                    </a:p>
                  </a:txBody>
                  <a:tcPr marL="118872" marR="109728" marT="73152" marB="73152" anchor="ctr">
                    <a:solidFill>
                      <a:srgbClr val="EFF4F8"/>
                    </a:solidFill>
                  </a:tcPr>
                </a:tc>
                <a:tc>
                  <a:txBody>
                    <a:bodyPr/>
                    <a:lstStyle/>
                    <a:p>
                      <a:pPr>
                        <a:defRPr sz="1400" b="0">
                          <a:solidFill>
                            <a:srgbClr val="243343"/>
                          </a:solidFill>
                          <a:latin typeface="Noto Sans CJK SC"/>
                        </a:defRPr>
                      </a:pPr>
                      <a:r>
                        <a:t>τesc</a:t>
                      </a:r>
                    </a:p>
                  </a:txBody>
                  <a:tcPr marL="118872" marR="109728" marT="73152" marB="73152" anchor="ctr">
                    <a:solidFill>
                      <a:srgbClr val="EFF4F8"/>
                    </a:solidFill>
                  </a:tcPr>
                </a:tc>
                <a:tc>
                  <a:txBody>
                    <a:bodyPr/>
                    <a:lstStyle/>
                    <a:p>
                      <a:pPr>
                        <a:defRPr sz="1400" b="0">
                          <a:solidFill>
                            <a:srgbClr val="243343"/>
                          </a:solidFill>
                          <a:latin typeface="Noto Sans CJK SC"/>
                        </a:defRPr>
                      </a:pPr>
                      <a:r>
                        <a:t>0.5 ps</a:t>
                      </a:r>
                    </a:p>
                  </a:txBody>
                  <a:tcPr marL="118872" marR="109728" marT="73152" marB="73152" anchor="ctr">
                    <a:solidFill>
                      <a:srgbClr val="EFF4F8"/>
                    </a:solidFill>
                  </a:tcPr>
                </a:tc>
              </a:tr>
            </a:tbl>
          </a:graphicData>
        </a:graphic>
      </p:graphicFrame>
      <p:sp>
        <p:nvSpPr>
          <p:cNvPr id="12" name="TextBox 11"/>
          <p:cNvSpPr txBox="1"/>
          <p:nvPr/>
        </p:nvSpPr>
        <p:spPr>
          <a:xfrm>
            <a:off x="685800" y="5513832"/>
            <a:ext cx="10789920" cy="347472"/>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E电子 + E晶格 + E逃逸 = E初始；相对误差 &lt; 2×10⁻¹⁵</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备份 E  参数来源</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耦合系数 G 与无量纲 λ 不能直接互换</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比较耦合参数时，必须同时比较定义、状态、模型与单位</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[R1, R3, R4]；有效模型参数的局限见 [R5]</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24</a:t>
            </a:r>
          </a:p>
        </p:txBody>
      </p:sp>
      <p:graphicFrame>
        <p:nvGraphicFramePr>
          <p:cNvPr id="9" name="Table 8"/>
          <p:cNvGraphicFramePr>
            <a:graphicFrameLocks noGrp="1"/>
          </p:cNvGraphicFramePr>
          <p:nvPr/>
        </p:nvGraphicFramePr>
        <p:xfrm>
          <a:off x="548640" y="1783080"/>
          <a:ext cx="11064240" cy="3520440"/>
        </p:xfrm>
        <a:graphic>
          <a:graphicData uri="http://schemas.openxmlformats.org/drawingml/2006/table">
            <a:tbl>
              <a:tblPr firstRow="1" bandRow="1">
                <a:tableStyleId>{5C22544A-7EE6-4342-B048-85BDC9FD1C3A}</a:tableStyleId>
              </a:tblPr>
              <a:tblGrid>
                <a:gridCol w="3383280"/>
                <a:gridCol w="3657600"/>
                <a:gridCol w="4023360"/>
              </a:tblGrid>
              <a:tr h="704088">
                <a:tc>
                  <a:txBody>
                    <a:bodyPr/>
                    <a:lstStyle/>
                    <a:p>
                      <a:pPr>
                        <a:defRPr sz="1600" b="1">
                          <a:solidFill>
                            <a:srgbClr val="FFFFFF"/>
                          </a:solidFill>
                          <a:latin typeface="Noto Sans CJK SC"/>
                        </a:defRPr>
                      </a:pPr>
                      <a:r>
                        <a:t>参数或来源</a:t>
                      </a:r>
                    </a:p>
                  </a:txBody>
                  <a:tcPr marL="118872" marR="109728" marT="73152" marB="73152" anchor="ctr">
                    <a:solidFill>
                      <a:srgbClr val="142E46"/>
                    </a:solidFill>
                  </a:tcPr>
                </a:tc>
                <a:tc>
                  <a:txBody>
                    <a:bodyPr/>
                    <a:lstStyle/>
                    <a:p>
                      <a:pPr>
                        <a:defRPr sz="1600" b="1">
                          <a:solidFill>
                            <a:srgbClr val="FFFFFF"/>
                          </a:solidFill>
                          <a:latin typeface="Noto Sans CJK SC"/>
                        </a:defRPr>
                      </a:pPr>
                      <a:r>
                        <a:t>含义</a:t>
                      </a:r>
                    </a:p>
                  </a:txBody>
                  <a:tcPr marL="118872" marR="109728" marT="73152" marB="73152" anchor="ctr">
                    <a:solidFill>
                      <a:srgbClr val="142E46"/>
                    </a:solidFill>
                  </a:tcPr>
                </a:tc>
                <a:tc>
                  <a:txBody>
                    <a:bodyPr/>
                    <a:lstStyle/>
                    <a:p>
                      <a:pPr>
                        <a:defRPr sz="1600" b="1">
                          <a:solidFill>
                            <a:srgbClr val="FFFFFF"/>
                          </a:solidFill>
                          <a:latin typeface="Noto Sans CJK SC"/>
                        </a:defRPr>
                      </a:pPr>
                      <a:r>
                        <a:t>解释边界</a:t>
                      </a:r>
                    </a:p>
                  </a:txBody>
                  <a:tcPr marL="118872" marR="109728" marT="73152" marB="73152" anchor="ctr">
                    <a:solidFill>
                      <a:srgbClr val="142E46"/>
                    </a:solidFill>
                  </a:tcPr>
                </a:tc>
              </a:tr>
              <a:tr h="704088">
                <a:tc>
                  <a:txBody>
                    <a:bodyPr/>
                    <a:lstStyle/>
                    <a:p>
                      <a:pPr>
                        <a:defRPr sz="1700" b="0">
                          <a:solidFill>
                            <a:srgbClr val="243343"/>
                          </a:solidFill>
                          <a:latin typeface="Noto Sans CJK SC"/>
                        </a:defRPr>
                      </a:pPr>
                      <a:r>
                        <a:t>G，W m⁻³ K⁻¹</a:t>
                      </a:r>
                    </a:p>
                  </a:txBody>
                  <a:tcPr marL="118872" marR="109728" marT="73152" marB="73152" anchor="ctr">
                    <a:solidFill>
                      <a:srgbClr val="EFF4F8"/>
                    </a:solidFill>
                  </a:tcPr>
                </a:tc>
                <a:tc>
                  <a:txBody>
                    <a:bodyPr/>
                    <a:lstStyle/>
                    <a:p>
                      <a:pPr>
                        <a:defRPr sz="1700" b="0">
                          <a:solidFill>
                            <a:srgbClr val="243343"/>
                          </a:solidFill>
                          <a:latin typeface="Noto Sans CJK SC"/>
                        </a:defRPr>
                      </a:pPr>
                      <a:r>
                        <a:t>能量交换功率对温差的系数</a:t>
                      </a:r>
                    </a:p>
                  </a:txBody>
                  <a:tcPr marL="118872" marR="109728" marT="73152" marB="73152" anchor="ctr">
                    <a:solidFill>
                      <a:srgbClr val="EFF4F8"/>
                    </a:solidFill>
                  </a:tcPr>
                </a:tc>
                <a:tc>
                  <a:txBody>
                    <a:bodyPr/>
                    <a:lstStyle/>
                    <a:p>
                      <a:pPr>
                        <a:defRPr sz="1700" b="0">
                          <a:solidFill>
                            <a:srgbClr val="243343"/>
                          </a:solidFill>
                          <a:latin typeface="Noto Sans CJK SC"/>
                        </a:defRPr>
                      </a:pPr>
                      <a:r>
                        <a:t>可能依赖温度、密度与相态</a:t>
                      </a:r>
                    </a:p>
                  </a:txBody>
                  <a:tcPr marL="118872" marR="109728" marT="73152" marB="73152" anchor="ctr">
                    <a:solidFill>
                      <a:srgbClr val="EFF4F8"/>
                    </a:solidFill>
                  </a:tcPr>
                </a:tc>
              </a:tr>
              <a:tr h="704088">
                <a:tc>
                  <a:txBody>
                    <a:bodyPr/>
                    <a:lstStyle/>
                    <a:p>
                      <a:pPr>
                        <a:defRPr sz="1700" b="0">
                          <a:solidFill>
                            <a:srgbClr val="243343"/>
                          </a:solidFill>
                          <a:latin typeface="Noto Sans CJK SC"/>
                        </a:defRPr>
                      </a:pPr>
                      <a:r>
                        <a:t>λ，无量纲</a:t>
                      </a:r>
                    </a:p>
                  </a:txBody>
                  <a:tcPr marL="118872" marR="109728" marT="73152" marB="73152" anchor="ctr">
                    <a:solidFill>
                      <a:srgbClr val="FFFFFF"/>
                    </a:solidFill>
                  </a:tcPr>
                </a:tc>
                <a:tc>
                  <a:txBody>
                    <a:bodyPr/>
                    <a:lstStyle/>
                    <a:p>
                      <a:pPr>
                        <a:defRPr sz="1700" b="0">
                          <a:solidFill>
                            <a:srgbClr val="243343"/>
                          </a:solidFill>
                          <a:latin typeface="Noto Sans CJK SC"/>
                        </a:defRPr>
                      </a:pPr>
                      <a:r>
                        <a:t>谱函数的电子—声子耦合参数</a:t>
                      </a:r>
                    </a:p>
                  </a:txBody>
                  <a:tcPr marL="118872" marR="109728" marT="73152" marB="73152" anchor="ctr">
                    <a:solidFill>
                      <a:srgbClr val="FFFFFF"/>
                    </a:solidFill>
                  </a:tcPr>
                </a:tc>
                <a:tc>
                  <a:txBody>
                    <a:bodyPr/>
                    <a:lstStyle/>
                    <a:p>
                      <a:pPr>
                        <a:defRPr sz="1700" b="0">
                          <a:solidFill>
                            <a:srgbClr val="243343"/>
                          </a:solidFill>
                          <a:latin typeface="Noto Sans CJK SC"/>
                        </a:defRPr>
                      </a:pPr>
                      <a:r>
                        <a:t>不能与 G 作数值比较</a:t>
                      </a:r>
                    </a:p>
                  </a:txBody>
                  <a:tcPr marL="118872" marR="109728" marT="73152" marB="73152" anchor="ctr">
                    <a:solidFill>
                      <a:srgbClr val="FFFFFF"/>
                    </a:solidFill>
                  </a:tcPr>
                </a:tc>
              </a:tr>
              <a:tr h="704088">
                <a:tc>
                  <a:txBody>
                    <a:bodyPr/>
                    <a:lstStyle/>
                    <a:p>
                      <a:pPr>
                        <a:defRPr sz="1700" b="0">
                          <a:solidFill>
                            <a:srgbClr val="243343"/>
                          </a:solidFill>
                          <a:latin typeface="Noto Sans CJK SC"/>
                        </a:defRPr>
                      </a:pPr>
                      <a:r>
                        <a:t>激光实验反演的 G</a:t>
                      </a:r>
                    </a:p>
                  </a:txBody>
                  <a:tcPr marL="118872" marR="109728" marT="73152" marB="73152" anchor="ctr">
                    <a:solidFill>
                      <a:srgbClr val="EFF4F8"/>
                    </a:solidFill>
                  </a:tcPr>
                </a:tc>
                <a:tc>
                  <a:txBody>
                    <a:bodyPr/>
                    <a:lstStyle/>
                    <a:p>
                      <a:pPr>
                        <a:defRPr sz="1700" b="0">
                          <a:solidFill>
                            <a:srgbClr val="243343"/>
                          </a:solidFill>
                          <a:latin typeface="Noto Sans CJK SC"/>
                        </a:defRPr>
                      </a:pPr>
                      <a:r>
                        <a:t>给定模型下得到的有效参数</a:t>
                      </a:r>
                    </a:p>
                  </a:txBody>
                  <a:tcPr marL="118872" marR="109728" marT="73152" marB="73152" anchor="ctr">
                    <a:solidFill>
                      <a:srgbClr val="EFF4F8"/>
                    </a:solidFill>
                  </a:tcPr>
                </a:tc>
                <a:tc>
                  <a:txBody>
                    <a:bodyPr/>
                    <a:lstStyle/>
                    <a:p>
                      <a:pPr>
                        <a:defRPr sz="1700" b="0">
                          <a:solidFill>
                            <a:srgbClr val="243343"/>
                          </a:solidFill>
                          <a:latin typeface="Noto Sans CJK SC"/>
                        </a:defRPr>
                      </a:pPr>
                      <a:r>
                        <a:t>受声子非平衡和拟合模型影响</a:t>
                      </a:r>
                    </a:p>
                  </a:txBody>
                  <a:tcPr marL="118872" marR="109728" marT="73152" marB="73152" anchor="ctr">
                    <a:solidFill>
                      <a:srgbClr val="EFF4F8"/>
                    </a:solidFill>
                  </a:tcPr>
                </a:tc>
              </a:tr>
              <a:tr h="704088">
                <a:tc>
                  <a:txBody>
                    <a:bodyPr/>
                    <a:lstStyle/>
                    <a:p>
                      <a:pPr>
                        <a:defRPr sz="1700" b="0">
                          <a:solidFill>
                            <a:srgbClr val="243343"/>
                          </a:solidFill>
                          <a:latin typeface="Noto Sans CJK SC"/>
                        </a:defRPr>
                      </a:pPr>
                      <a:r>
                        <a:t>径迹模型拟合的 G</a:t>
                      </a:r>
                    </a:p>
                  </a:txBody>
                  <a:tcPr marL="118872" marR="109728" marT="73152" marB="73152" anchor="ctr">
                    <a:solidFill>
                      <a:srgbClr val="FFFFFF"/>
                    </a:solidFill>
                  </a:tcPr>
                </a:tc>
                <a:tc>
                  <a:txBody>
                    <a:bodyPr/>
                    <a:lstStyle/>
                    <a:p>
                      <a:pPr>
                        <a:defRPr sz="1700" b="0">
                          <a:solidFill>
                            <a:srgbClr val="243343"/>
                          </a:solidFill>
                          <a:latin typeface="Noto Sans CJK SC"/>
                        </a:defRPr>
                      </a:pPr>
                      <a:r>
                        <a:t>连接沉积与最终结构的有效参数</a:t>
                      </a:r>
                    </a:p>
                  </a:txBody>
                  <a:tcPr marL="118872" marR="109728" marT="73152" marB="73152" anchor="ctr">
                    <a:solidFill>
                      <a:srgbClr val="FFFFFF"/>
                    </a:solidFill>
                  </a:tcPr>
                </a:tc>
                <a:tc>
                  <a:txBody>
                    <a:bodyPr/>
                    <a:lstStyle/>
                    <a:p>
                      <a:pPr>
                        <a:defRPr sz="1700" b="0">
                          <a:solidFill>
                            <a:srgbClr val="243343"/>
                          </a:solidFill>
                          <a:latin typeface="Noto Sans CJK SC"/>
                        </a:defRPr>
                      </a:pPr>
                      <a:r>
                        <a:t>需独立证据排除参数补偿</a:t>
                      </a:r>
                    </a:p>
                  </a:txBody>
                  <a:tcPr marL="118872" marR="109728" marT="73152" marB="73152"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备份 F  答疑</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导师可能追问的机制问题</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每个答案都需说明适用条件和证据性质</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回答依据 [R1, R4, R5, R6]</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25</a:t>
            </a:r>
          </a:p>
        </p:txBody>
      </p:sp>
      <p:sp>
        <p:nvSpPr>
          <p:cNvPr id="9" name="TextBox 8"/>
          <p:cNvSpPr txBox="1"/>
          <p:nvPr/>
        </p:nvSpPr>
        <p:spPr>
          <a:xfrm>
            <a:off x="685800" y="1737360"/>
            <a:ext cx="10789920" cy="393192"/>
          </a:xfrm>
          <a:prstGeom prst="rect">
            <a:avLst/>
          </a:prstGeom>
          <a:noFill/>
        </p:spPr>
        <p:txBody>
          <a:bodyPr wrap="square" lIns="0" rIns="0" tIns="0" bIns="0">
            <a:noAutofit/>
          </a:bodyPr>
          <a:lstStyle/>
          <a:p>
            <a:pPr algn="l" marL="0" indent="0">
              <a:spcAft>
                <a:spcPts val="500"/>
              </a:spcAft>
              <a:defRPr sz="2100" b="1">
                <a:solidFill>
                  <a:srgbClr val="243343"/>
                </a:solidFill>
                <a:latin typeface="Noto Sans CJK SC"/>
              </a:defRPr>
            </a:pPr>
            <a:r>
              <a:rPr>
                <a:ea typeface="Noto Sans CJK SC"/>
              </a:rPr>
              <a:t>电子—电子碰撞是否加热晶格？</a:t>
            </a:r>
          </a:p>
        </p:txBody>
      </p:sp>
      <p:sp>
        <p:nvSpPr>
          <p:cNvPr id="10" name="TextBox 9"/>
          <p:cNvSpPr txBox="1"/>
          <p:nvPr/>
        </p:nvSpPr>
        <p:spPr>
          <a:xfrm>
            <a:off x="685800" y="2194560"/>
            <a:ext cx="10789920" cy="393192"/>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主要在电子内部重分配能量，晶格获能需要跨体系通道</a:t>
            </a:r>
          </a:p>
        </p:txBody>
      </p:sp>
      <p:sp>
        <p:nvSpPr>
          <p:cNvPr id="11" name="TextBox 10"/>
          <p:cNvSpPr txBox="1"/>
          <p:nvPr/>
        </p:nvSpPr>
        <p:spPr>
          <a:xfrm>
            <a:off x="685800" y="2734056"/>
            <a:ext cx="10789920" cy="393192"/>
          </a:xfrm>
          <a:prstGeom prst="rect">
            <a:avLst/>
          </a:prstGeom>
          <a:noFill/>
        </p:spPr>
        <p:txBody>
          <a:bodyPr wrap="square" lIns="0" rIns="0" tIns="0" bIns="0">
            <a:noAutofit/>
          </a:bodyPr>
          <a:lstStyle/>
          <a:p>
            <a:pPr algn="l" marL="0" indent="0">
              <a:spcAft>
                <a:spcPts val="500"/>
              </a:spcAft>
              <a:defRPr sz="2100" b="1">
                <a:solidFill>
                  <a:srgbClr val="243343"/>
                </a:solidFill>
                <a:latin typeface="Noto Sans CJK SC"/>
              </a:defRPr>
            </a:pPr>
            <a:r>
              <a:rPr>
                <a:ea typeface="Noto Sans CJK SC"/>
              </a:rPr>
              <a:t>有声子就一定会熔融吗？</a:t>
            </a:r>
          </a:p>
        </p:txBody>
      </p:sp>
      <p:sp>
        <p:nvSpPr>
          <p:cNvPr id="12" name="TextBox 11"/>
          <p:cNvSpPr txBox="1"/>
          <p:nvPr/>
        </p:nvSpPr>
        <p:spPr>
          <a:xfrm>
            <a:off x="685800" y="3191256"/>
            <a:ext cx="10789920" cy="393192"/>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净获能可只增强振动，熔融还需局域焓和动力学条件</a:t>
            </a:r>
          </a:p>
        </p:txBody>
      </p:sp>
      <p:sp>
        <p:nvSpPr>
          <p:cNvPr id="13" name="TextBox 12"/>
          <p:cNvSpPr txBox="1"/>
          <p:nvPr/>
        </p:nvSpPr>
        <p:spPr>
          <a:xfrm>
            <a:off x="685800" y="3730752"/>
            <a:ext cx="10789920" cy="393192"/>
          </a:xfrm>
          <a:prstGeom prst="rect">
            <a:avLst/>
          </a:prstGeom>
          <a:noFill/>
        </p:spPr>
        <p:txBody>
          <a:bodyPr wrap="square" lIns="0" rIns="0" tIns="0" bIns="0">
            <a:noAutofit/>
          </a:bodyPr>
          <a:lstStyle/>
          <a:p>
            <a:pPr algn="l" marL="0" indent="0">
              <a:spcAft>
                <a:spcPts val="500"/>
              </a:spcAft>
              <a:defRPr sz="2100" b="1">
                <a:solidFill>
                  <a:srgbClr val="243343"/>
                </a:solidFill>
                <a:latin typeface="Noto Sans CJK SC"/>
              </a:defRPr>
            </a:pPr>
            <a:r>
              <a:rPr>
                <a:ea typeface="Noto Sans CJK SC"/>
              </a:rPr>
              <a:t>晶格已经熔融，还叫声子吗？</a:t>
            </a:r>
          </a:p>
        </p:txBody>
      </p:sp>
      <p:sp>
        <p:nvSpPr>
          <p:cNvPr id="14" name="TextBox 13"/>
          <p:cNvSpPr txBox="1"/>
          <p:nvPr/>
        </p:nvSpPr>
        <p:spPr>
          <a:xfrm>
            <a:off x="685800" y="4187952"/>
            <a:ext cx="10789920" cy="393192"/>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液态中宜用电子—离子耦合和原子动力学描述</a:t>
            </a:r>
          </a:p>
        </p:txBody>
      </p:sp>
      <p:sp>
        <p:nvSpPr>
          <p:cNvPr id="15" name="TextBox 14"/>
          <p:cNvSpPr txBox="1"/>
          <p:nvPr/>
        </p:nvSpPr>
        <p:spPr>
          <a:xfrm>
            <a:off x="685800" y="4727448"/>
            <a:ext cx="10789920" cy="393192"/>
          </a:xfrm>
          <a:prstGeom prst="rect">
            <a:avLst/>
          </a:prstGeom>
          <a:noFill/>
        </p:spPr>
        <p:txBody>
          <a:bodyPr wrap="square" lIns="0" rIns="0" tIns="0" bIns="0">
            <a:noAutofit/>
          </a:bodyPr>
          <a:lstStyle/>
          <a:p>
            <a:pPr algn="l" marL="0" indent="0">
              <a:spcAft>
                <a:spcPts val="500"/>
              </a:spcAft>
              <a:defRPr sz="2100" b="1">
                <a:solidFill>
                  <a:srgbClr val="243343"/>
                </a:solidFill>
                <a:latin typeface="Noto Sans CJK SC"/>
              </a:defRPr>
            </a:pPr>
            <a:r>
              <a:rPr>
                <a:ea typeface="Noto Sans CJK SC"/>
              </a:rPr>
              <a:t>看到非晶径迹能否证明曾经熔融？</a:t>
            </a:r>
          </a:p>
        </p:txBody>
      </p:sp>
      <p:sp>
        <p:nvSpPr>
          <p:cNvPr id="16" name="TextBox 15"/>
          <p:cNvSpPr txBox="1"/>
          <p:nvPr/>
        </p:nvSpPr>
        <p:spPr>
          <a:xfrm>
            <a:off x="685800" y="5184648"/>
            <a:ext cx="10789920" cy="393192"/>
          </a:xfrm>
          <a:prstGeom prst="rect">
            <a:avLst/>
          </a:prstGeom>
          <a:noFill/>
        </p:spPr>
        <p:txBody>
          <a:bodyPr wrap="square" lIns="0" rIns="0" tIns="0" bIns="0">
            <a:noAutofit/>
          </a:bodyPr>
          <a:lstStyle/>
          <a:p>
            <a:pPr algn="l" marL="0" indent="0">
              <a:spcAft>
                <a:spcPts val="500"/>
              </a:spcAft>
              <a:defRPr sz="1800" b="0">
                <a:solidFill>
                  <a:srgbClr val="6D7985"/>
                </a:solidFill>
                <a:latin typeface="Noto Sans CJK SC"/>
              </a:defRPr>
            </a:pPr>
            <a:r>
              <a:rPr>
                <a:ea typeface="Noto Sans CJK SC"/>
              </a:rPr>
              <a:t>终态失序有多条形成路径，需瞬态或独立模型证据</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备份 G  2025 年实验边界</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Si 的超快实验显示较强激发可以对应更慢的弛豫</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这是激光激发的动力学证据，不能直接给出重离子径迹的耦合参数</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[R11] Swain et al., Phys. Rev. Research 7, 023114 (2025)</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26</a:t>
            </a:r>
          </a:p>
        </p:txBody>
      </p:sp>
      <p:sp>
        <p:nvSpPr>
          <p:cNvPr id="9" name="TextBox 8"/>
          <p:cNvSpPr txBox="1"/>
          <p:nvPr/>
        </p:nvSpPr>
        <p:spPr>
          <a:xfrm>
            <a:off x="685800" y="1856231"/>
            <a:ext cx="10789920" cy="347472"/>
          </a:xfrm>
          <a:prstGeom prst="rect">
            <a:avLst/>
          </a:prstGeom>
          <a:noFill/>
        </p:spPr>
        <p:txBody>
          <a:bodyPr wrap="square" lIns="0" rIns="0" tIns="0" bIns="0">
            <a:noAutofit/>
          </a:bodyPr>
          <a:lstStyle/>
          <a:p>
            <a:pPr algn="l" marL="0" indent="0">
              <a:spcAft>
                <a:spcPts val="500"/>
              </a:spcAft>
              <a:defRPr sz="2400" b="1">
                <a:solidFill>
                  <a:srgbClr val="243343"/>
                </a:solidFill>
                <a:latin typeface="Noto Sans CJK SC"/>
              </a:defRPr>
            </a:pPr>
            <a:r>
              <a:rPr>
                <a:ea typeface="Noto Sans CJK SC"/>
              </a:rPr>
              <a:t>实验对象</a:t>
            </a:r>
          </a:p>
        </p:txBody>
      </p:sp>
      <p:sp>
        <p:nvSpPr>
          <p:cNvPr id="10" name="TextBox 9"/>
          <p:cNvSpPr txBox="1"/>
          <p:nvPr/>
        </p:nvSpPr>
        <p:spPr>
          <a:xfrm>
            <a:off x="685800" y="2267712"/>
            <a:ext cx="10789920" cy="594360"/>
          </a:xfrm>
          <a:prstGeom prst="rect">
            <a:avLst/>
          </a:prstGeom>
          <a:noFill/>
        </p:spPr>
        <p:txBody>
          <a:bodyPr wrap="square" lIns="0" rIns="0" tIns="0" bIns="0">
            <a:noAutofit/>
          </a:bodyPr>
          <a:lstStyle/>
          <a:p>
            <a:pPr algn="l" marL="0" indent="0">
              <a:spcAft>
                <a:spcPts val="500"/>
              </a:spcAft>
              <a:defRPr sz="2100" b="0">
                <a:solidFill>
                  <a:srgbClr val="6D7985"/>
                </a:solidFill>
                <a:latin typeface="Noto Sans CJK SC"/>
              </a:defRPr>
            </a:pPr>
            <a:r>
              <a:rPr>
                <a:ea typeface="Noto Sans CJK SC"/>
              </a:rPr>
              <a:t>单晶 Si，飞秒激光激发，超快电子衍射</a:t>
            </a:r>
          </a:p>
        </p:txBody>
      </p:sp>
      <p:sp>
        <p:nvSpPr>
          <p:cNvPr id="11" name="TextBox 10"/>
          <p:cNvSpPr txBox="1"/>
          <p:nvPr/>
        </p:nvSpPr>
        <p:spPr>
          <a:xfrm>
            <a:off x="685800" y="3026663"/>
            <a:ext cx="10789920" cy="347472"/>
          </a:xfrm>
          <a:prstGeom prst="rect">
            <a:avLst/>
          </a:prstGeom>
          <a:noFill/>
        </p:spPr>
        <p:txBody>
          <a:bodyPr wrap="square" lIns="0" rIns="0" tIns="0" bIns="0">
            <a:noAutofit/>
          </a:bodyPr>
          <a:lstStyle/>
          <a:p>
            <a:pPr algn="l" marL="0" indent="0">
              <a:spcAft>
                <a:spcPts val="500"/>
              </a:spcAft>
              <a:defRPr sz="2400" b="1">
                <a:solidFill>
                  <a:srgbClr val="243343"/>
                </a:solidFill>
                <a:latin typeface="Noto Sans CJK SC"/>
              </a:defRPr>
            </a:pPr>
            <a:r>
              <a:rPr>
                <a:ea typeface="Noto Sans CJK SC"/>
              </a:rPr>
              <a:t>观测结果</a:t>
            </a:r>
          </a:p>
        </p:txBody>
      </p:sp>
      <p:sp>
        <p:nvSpPr>
          <p:cNvPr id="12" name="TextBox 11"/>
          <p:cNvSpPr txBox="1"/>
          <p:nvPr/>
        </p:nvSpPr>
        <p:spPr>
          <a:xfrm>
            <a:off x="685800" y="3438144"/>
            <a:ext cx="10789920" cy="594360"/>
          </a:xfrm>
          <a:prstGeom prst="rect">
            <a:avLst/>
          </a:prstGeom>
          <a:noFill/>
        </p:spPr>
        <p:txBody>
          <a:bodyPr wrap="square" lIns="0" rIns="0" tIns="0" bIns="0">
            <a:noAutofit/>
          </a:bodyPr>
          <a:lstStyle/>
          <a:p>
            <a:pPr algn="l" marL="0" indent="0">
              <a:spcAft>
                <a:spcPts val="500"/>
              </a:spcAft>
              <a:defRPr sz="2100" b="0">
                <a:solidFill>
                  <a:srgbClr val="6D7985"/>
                </a:solidFill>
                <a:latin typeface="Noto Sans CJK SC"/>
              </a:defRPr>
            </a:pPr>
            <a:r>
              <a:rPr>
                <a:ea typeface="Noto Sans CJK SC"/>
              </a:rPr>
              <a:t>较高载流子密度对应较慢的电子—声子弛豫</a:t>
            </a:r>
          </a:p>
        </p:txBody>
      </p:sp>
      <p:sp>
        <p:nvSpPr>
          <p:cNvPr id="13" name="TextBox 12"/>
          <p:cNvSpPr txBox="1"/>
          <p:nvPr/>
        </p:nvSpPr>
        <p:spPr>
          <a:xfrm>
            <a:off x="685800" y="4197096"/>
            <a:ext cx="10789920" cy="347472"/>
          </a:xfrm>
          <a:prstGeom prst="rect">
            <a:avLst/>
          </a:prstGeom>
          <a:noFill/>
        </p:spPr>
        <p:txBody>
          <a:bodyPr wrap="square" lIns="0" rIns="0" tIns="0" bIns="0">
            <a:noAutofit/>
          </a:bodyPr>
          <a:lstStyle/>
          <a:p>
            <a:pPr algn="l" marL="0" indent="0">
              <a:spcAft>
                <a:spcPts val="500"/>
              </a:spcAft>
              <a:defRPr sz="2400" b="1">
                <a:solidFill>
                  <a:srgbClr val="243343"/>
                </a:solidFill>
                <a:latin typeface="Noto Sans CJK SC"/>
              </a:defRPr>
            </a:pPr>
            <a:r>
              <a:rPr>
                <a:ea typeface="Noto Sans CJK SC"/>
              </a:rPr>
              <a:t>对本问题的启发</a:t>
            </a:r>
          </a:p>
        </p:txBody>
      </p:sp>
      <p:sp>
        <p:nvSpPr>
          <p:cNvPr id="14" name="TextBox 13"/>
          <p:cNvSpPr txBox="1"/>
          <p:nvPr/>
        </p:nvSpPr>
        <p:spPr>
          <a:xfrm>
            <a:off x="685800" y="4608576"/>
            <a:ext cx="10789920" cy="594360"/>
          </a:xfrm>
          <a:prstGeom prst="rect">
            <a:avLst/>
          </a:prstGeom>
          <a:noFill/>
        </p:spPr>
        <p:txBody>
          <a:bodyPr wrap="square" lIns="0" rIns="0" tIns="0" bIns="0">
            <a:noAutofit/>
          </a:bodyPr>
          <a:lstStyle/>
          <a:p>
            <a:pPr algn="l" marL="0" indent="0">
              <a:spcAft>
                <a:spcPts val="500"/>
              </a:spcAft>
              <a:defRPr sz="2100" b="0">
                <a:solidFill>
                  <a:srgbClr val="6D7985"/>
                </a:solidFill>
                <a:latin typeface="Noto Sans CJK SC"/>
              </a:defRPr>
            </a:pPr>
            <a:r>
              <a:rPr>
                <a:ea typeface="Noto Sans CJK SC"/>
              </a:rPr>
              <a:t>耦合速率需要随电子态和激发密度重新评估</a:t>
            </a:r>
          </a:p>
        </p:txBody>
      </p:sp>
      <p:sp>
        <p:nvSpPr>
          <p:cNvPr id="15" name="TextBox 14"/>
          <p:cNvSpPr txBox="1"/>
          <p:nvPr/>
        </p:nvSpPr>
        <p:spPr>
          <a:xfrm>
            <a:off x="685800" y="5486400"/>
            <a:ext cx="10789920" cy="365760"/>
          </a:xfrm>
          <a:prstGeom prst="rect">
            <a:avLst/>
          </a:prstGeom>
          <a:noFill/>
        </p:spPr>
        <p:txBody>
          <a:bodyPr wrap="square" lIns="0" rIns="0" tIns="0" bIns="0">
            <a:noAutofit/>
          </a:bodyPr>
          <a:lstStyle/>
          <a:p>
            <a:pPr algn="l" marL="0" indent="0">
              <a:spcAft>
                <a:spcPts val="500"/>
              </a:spcAft>
              <a:defRPr sz="2200" b="1">
                <a:solidFill>
                  <a:srgbClr val="79659D"/>
                </a:solidFill>
                <a:latin typeface="Noto Sans CJK SC"/>
              </a:defRPr>
            </a:pPr>
            <a:r>
              <a:rPr>
                <a:ea typeface="Noto Sans CJK SC"/>
              </a:rPr>
              <a:t>激发更强与能量转移更快，必须分别验证</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备份 H  文献索引</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关键参考文献（1/3）</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参考编号贯穿正文页脚与逐页讲稿</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检索并核对的原始论文与专业综述</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27</a:t>
            </a:r>
          </a:p>
        </p:txBody>
      </p:sp>
      <p:sp>
        <p:nvSpPr>
          <p:cNvPr id="9" name="TextBox 8"/>
          <p:cNvSpPr txBox="1"/>
          <p:nvPr/>
        </p:nvSpPr>
        <p:spPr>
          <a:xfrm>
            <a:off x="594360" y="175564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R1</a:t>
            </a:r>
          </a:p>
        </p:txBody>
      </p:sp>
      <p:sp>
        <p:nvSpPr>
          <p:cNvPr id="10" name="TextBox 9"/>
          <p:cNvSpPr txBox="1"/>
          <p:nvPr/>
        </p:nvSpPr>
        <p:spPr>
          <a:xfrm>
            <a:off x="1143000" y="175564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Allen, 1987  Phys. Rev. Lett. 59, 1460–1463</a:t>
            </a:r>
          </a:p>
        </p:txBody>
      </p:sp>
      <p:sp>
        <p:nvSpPr>
          <p:cNvPr id="11" name="TextBox 10"/>
          <p:cNvSpPr txBox="1"/>
          <p:nvPr/>
        </p:nvSpPr>
        <p:spPr>
          <a:xfrm>
            <a:off x="1143000" y="205740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Theory of thermal relaxation of electrons in metals</a:t>
            </a:r>
          </a:p>
        </p:txBody>
      </p:sp>
      <p:sp>
        <p:nvSpPr>
          <p:cNvPr id="12" name="TextBox 11"/>
          <p:cNvSpPr txBox="1"/>
          <p:nvPr/>
        </p:nvSpPr>
        <p:spPr>
          <a:xfrm>
            <a:off x="1143000" y="235000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2"/>
              </a:rPr>
              <a:t>doi.org/10.1103/PhysRevLett.59.1460</a:t>
            </a:r>
          </a:p>
        </p:txBody>
      </p:sp>
      <p:sp>
        <p:nvSpPr>
          <p:cNvPr id="13" name="TextBox 12"/>
          <p:cNvSpPr txBox="1"/>
          <p:nvPr/>
        </p:nvSpPr>
        <p:spPr>
          <a:xfrm>
            <a:off x="594360" y="276148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R2</a:t>
            </a:r>
          </a:p>
        </p:txBody>
      </p:sp>
      <p:sp>
        <p:nvSpPr>
          <p:cNvPr id="14" name="TextBox 13"/>
          <p:cNvSpPr txBox="1"/>
          <p:nvPr/>
        </p:nvSpPr>
        <p:spPr>
          <a:xfrm>
            <a:off x="1143000" y="276148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Toulemonde, Dufour &amp; Paumier, 1992  Phys. Rev. B 46, 14362–14369</a:t>
            </a:r>
          </a:p>
        </p:txBody>
      </p:sp>
      <p:sp>
        <p:nvSpPr>
          <p:cNvPr id="15" name="TextBox 14"/>
          <p:cNvSpPr txBox="1"/>
          <p:nvPr/>
        </p:nvSpPr>
        <p:spPr>
          <a:xfrm>
            <a:off x="1143000" y="306324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Transient thermal process after a high-energy heavy-ion irradiation of amorphous metals and semiconductors</a:t>
            </a:r>
          </a:p>
        </p:txBody>
      </p:sp>
      <p:sp>
        <p:nvSpPr>
          <p:cNvPr id="16" name="TextBox 15"/>
          <p:cNvSpPr txBox="1"/>
          <p:nvPr/>
        </p:nvSpPr>
        <p:spPr>
          <a:xfrm>
            <a:off x="1143000" y="335584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3"/>
              </a:rPr>
              <a:t>doi.org/10.1103/PhysRevB.46.14362</a:t>
            </a:r>
          </a:p>
        </p:txBody>
      </p:sp>
      <p:sp>
        <p:nvSpPr>
          <p:cNvPr id="17" name="TextBox 16"/>
          <p:cNvSpPr txBox="1"/>
          <p:nvPr/>
        </p:nvSpPr>
        <p:spPr>
          <a:xfrm>
            <a:off x="594360" y="376732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R3</a:t>
            </a:r>
          </a:p>
        </p:txBody>
      </p:sp>
      <p:sp>
        <p:nvSpPr>
          <p:cNvPr id="18" name="TextBox 17"/>
          <p:cNvSpPr txBox="1"/>
          <p:nvPr/>
        </p:nvSpPr>
        <p:spPr>
          <a:xfrm>
            <a:off x="1143000" y="376732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Lin, Zhigilei &amp; Celli, 2008  Phys. Rev. B 77, 075133</a:t>
            </a:r>
          </a:p>
        </p:txBody>
      </p:sp>
      <p:sp>
        <p:nvSpPr>
          <p:cNvPr id="19" name="TextBox 18"/>
          <p:cNvSpPr txBox="1"/>
          <p:nvPr/>
        </p:nvSpPr>
        <p:spPr>
          <a:xfrm>
            <a:off x="1143000" y="406908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Electron-phonon coupling and electron heat capacity of metals under conditions of strong electron-phonon nonequilibrium</a:t>
            </a:r>
          </a:p>
        </p:txBody>
      </p:sp>
      <p:sp>
        <p:nvSpPr>
          <p:cNvPr id="20" name="TextBox 19"/>
          <p:cNvSpPr txBox="1"/>
          <p:nvPr/>
        </p:nvSpPr>
        <p:spPr>
          <a:xfrm>
            <a:off x="1143000" y="436168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4"/>
              </a:rPr>
              <a:t>doi.org/10.1103/PhysRevB.77.075133</a:t>
            </a:r>
          </a:p>
        </p:txBody>
      </p:sp>
      <p:sp>
        <p:nvSpPr>
          <p:cNvPr id="21" name="TextBox 20"/>
          <p:cNvSpPr txBox="1"/>
          <p:nvPr/>
        </p:nvSpPr>
        <p:spPr>
          <a:xfrm>
            <a:off x="594360" y="477316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R4</a:t>
            </a:r>
          </a:p>
        </p:txBody>
      </p:sp>
      <p:sp>
        <p:nvSpPr>
          <p:cNvPr id="22" name="TextBox 21"/>
          <p:cNvSpPr txBox="1"/>
          <p:nvPr/>
        </p:nvSpPr>
        <p:spPr>
          <a:xfrm>
            <a:off x="1143000" y="477316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Waldecker et al., 2016  Phys. Rev. X 6, 021003</a:t>
            </a:r>
          </a:p>
        </p:txBody>
      </p:sp>
      <p:sp>
        <p:nvSpPr>
          <p:cNvPr id="23" name="TextBox 22"/>
          <p:cNvSpPr txBox="1"/>
          <p:nvPr/>
        </p:nvSpPr>
        <p:spPr>
          <a:xfrm>
            <a:off x="1143000" y="507492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Electron-Phonon Coupling and Energy Flow in a Simple Metal beyond the Two-Temperature Approximation</a:t>
            </a:r>
          </a:p>
        </p:txBody>
      </p:sp>
      <p:sp>
        <p:nvSpPr>
          <p:cNvPr id="24" name="TextBox 23"/>
          <p:cNvSpPr txBox="1"/>
          <p:nvPr/>
        </p:nvSpPr>
        <p:spPr>
          <a:xfrm>
            <a:off x="1143000" y="536752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5"/>
              </a:rPr>
              <a:t>doi.org/10.1103/PhysRevX.6.021003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备份 H  文献索引</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关键参考文献（2/3）</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参考编号贯穿正文页脚与逐页讲稿</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检索并核对的原始论文与专业综述</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28</a:t>
            </a:r>
          </a:p>
        </p:txBody>
      </p:sp>
      <p:sp>
        <p:nvSpPr>
          <p:cNvPr id="9" name="TextBox 8"/>
          <p:cNvSpPr txBox="1"/>
          <p:nvPr/>
        </p:nvSpPr>
        <p:spPr>
          <a:xfrm>
            <a:off x="594360" y="175564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R5</a:t>
            </a:r>
          </a:p>
        </p:txBody>
      </p:sp>
      <p:sp>
        <p:nvSpPr>
          <p:cNvPr id="10" name="TextBox 9"/>
          <p:cNvSpPr txBox="1"/>
          <p:nvPr/>
        </p:nvSpPr>
        <p:spPr>
          <a:xfrm>
            <a:off x="1143000" y="175564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Medvedev et al., 2023  J. Appl. Phys. 133, 100701</a:t>
            </a:r>
          </a:p>
        </p:txBody>
      </p:sp>
      <p:sp>
        <p:nvSpPr>
          <p:cNvPr id="11" name="TextBox 10"/>
          <p:cNvSpPr txBox="1"/>
          <p:nvPr/>
        </p:nvSpPr>
        <p:spPr>
          <a:xfrm>
            <a:off x="1143000" y="205740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Frontiers, challenges, and solutions in modeling of swift heavy ion effects in materials</a:t>
            </a:r>
          </a:p>
        </p:txBody>
      </p:sp>
      <p:sp>
        <p:nvSpPr>
          <p:cNvPr id="12" name="TextBox 11"/>
          <p:cNvSpPr txBox="1"/>
          <p:nvPr/>
        </p:nvSpPr>
        <p:spPr>
          <a:xfrm>
            <a:off x="1143000" y="235000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2"/>
              </a:rPr>
              <a:t>doi.org/10.1063/5.0128774</a:t>
            </a:r>
          </a:p>
        </p:txBody>
      </p:sp>
      <p:sp>
        <p:nvSpPr>
          <p:cNvPr id="13" name="TextBox 12"/>
          <p:cNvSpPr txBox="1"/>
          <p:nvPr/>
        </p:nvSpPr>
        <p:spPr>
          <a:xfrm>
            <a:off x="594360" y="276148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R6</a:t>
            </a:r>
          </a:p>
        </p:txBody>
      </p:sp>
      <p:sp>
        <p:nvSpPr>
          <p:cNvPr id="14" name="TextBox 13"/>
          <p:cNvSpPr txBox="1"/>
          <p:nvPr/>
        </p:nvSpPr>
        <p:spPr>
          <a:xfrm>
            <a:off x="1143000" y="276148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Medvedev, Voronkov &amp; Volkov, 2024  Nucl. Instrum. Methods B 547, 165218</a:t>
            </a:r>
          </a:p>
        </p:txBody>
      </p:sp>
      <p:sp>
        <p:nvSpPr>
          <p:cNvPr id="15" name="TextBox 14"/>
          <p:cNvSpPr txBox="1"/>
          <p:nvPr/>
        </p:nvSpPr>
        <p:spPr>
          <a:xfrm>
            <a:off x="1143000" y="306324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Nonthermal effects in solids after swift heavy ion impact</a:t>
            </a:r>
          </a:p>
        </p:txBody>
      </p:sp>
      <p:sp>
        <p:nvSpPr>
          <p:cNvPr id="16" name="TextBox 15"/>
          <p:cNvSpPr txBox="1"/>
          <p:nvPr/>
        </p:nvSpPr>
        <p:spPr>
          <a:xfrm>
            <a:off x="1143000" y="335584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3"/>
              </a:rPr>
              <a:t>doi.org/10.1016/j.nimb.2023.165218</a:t>
            </a:r>
          </a:p>
        </p:txBody>
      </p:sp>
      <p:sp>
        <p:nvSpPr>
          <p:cNvPr id="17" name="TextBox 16"/>
          <p:cNvSpPr txBox="1"/>
          <p:nvPr/>
        </p:nvSpPr>
        <p:spPr>
          <a:xfrm>
            <a:off x="594360" y="376732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R7</a:t>
            </a:r>
          </a:p>
        </p:txBody>
      </p:sp>
      <p:sp>
        <p:nvSpPr>
          <p:cNvPr id="18" name="TextBox 17"/>
          <p:cNvSpPr txBox="1"/>
          <p:nvPr/>
        </p:nvSpPr>
        <p:spPr>
          <a:xfrm>
            <a:off x="1143000" y="376732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Kluth et al., 2008  Phys. Rev. Lett. 101, 175503</a:t>
            </a:r>
          </a:p>
        </p:txBody>
      </p:sp>
      <p:sp>
        <p:nvSpPr>
          <p:cNvPr id="19" name="TextBox 18"/>
          <p:cNvSpPr txBox="1"/>
          <p:nvPr/>
        </p:nvSpPr>
        <p:spPr>
          <a:xfrm>
            <a:off x="1143000" y="406908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Fine Structure in Swift Heavy Ion Tracks in Amorphous SiO2</a:t>
            </a:r>
          </a:p>
        </p:txBody>
      </p:sp>
      <p:sp>
        <p:nvSpPr>
          <p:cNvPr id="20" name="TextBox 19"/>
          <p:cNvSpPr txBox="1"/>
          <p:nvPr/>
        </p:nvSpPr>
        <p:spPr>
          <a:xfrm>
            <a:off x="1143000" y="436168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4"/>
              </a:rPr>
              <a:t>doi.org/10.1103/PhysRevLett.101.175503</a:t>
            </a:r>
          </a:p>
        </p:txBody>
      </p:sp>
      <p:sp>
        <p:nvSpPr>
          <p:cNvPr id="21" name="TextBox 20"/>
          <p:cNvSpPr txBox="1"/>
          <p:nvPr/>
        </p:nvSpPr>
        <p:spPr>
          <a:xfrm>
            <a:off x="594360" y="477316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R8</a:t>
            </a:r>
          </a:p>
        </p:txBody>
      </p:sp>
      <p:sp>
        <p:nvSpPr>
          <p:cNvPr id="22" name="TextBox 21"/>
          <p:cNvSpPr txBox="1"/>
          <p:nvPr/>
        </p:nvSpPr>
        <p:spPr>
          <a:xfrm>
            <a:off x="1143000" y="477316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Meftah et al., 1993  Phys. Rev. B 48, 920–925</a:t>
            </a:r>
          </a:p>
        </p:txBody>
      </p:sp>
      <p:sp>
        <p:nvSpPr>
          <p:cNvPr id="23" name="TextBox 22"/>
          <p:cNvSpPr txBox="1"/>
          <p:nvPr/>
        </p:nvSpPr>
        <p:spPr>
          <a:xfrm>
            <a:off x="1143000" y="507492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Swift heavy ions in magnetic insulators: A damage-cross-section velocity effect</a:t>
            </a:r>
          </a:p>
        </p:txBody>
      </p:sp>
      <p:sp>
        <p:nvSpPr>
          <p:cNvPr id="24" name="TextBox 23"/>
          <p:cNvSpPr txBox="1"/>
          <p:nvPr/>
        </p:nvSpPr>
        <p:spPr>
          <a:xfrm>
            <a:off x="1143000" y="536752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5"/>
              </a:rPr>
              <a:t>doi.org/10.1103/PhysRevB.48.920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0058400" cy="256032"/>
          </a:xfrm>
          <a:prstGeom prst="rect">
            <a:avLst/>
          </a:prstGeom>
          <a:noFill/>
        </p:spPr>
        <p:txBody>
          <a:bodyPr wrap="square" lIns="0" rIns="0" tIns="0" bIns="0">
            <a:noAutofit/>
          </a:bodyPr>
          <a:lstStyle/>
          <a:p>
            <a:pPr algn="l" marL="0" indent="0">
              <a:spcAft>
                <a:spcPts val="500"/>
              </a:spcAft>
              <a:defRPr sz="1000" b="1">
                <a:solidFill>
                  <a:srgbClr val="6D7985"/>
                </a:solidFill>
                <a:latin typeface="Noto Sans CJK SC"/>
              </a:defRPr>
            </a:pPr>
            <a:r>
              <a:rPr>
                <a:ea typeface="Noto Sans CJK SC"/>
              </a:rPr>
              <a:t>备份 H  文献索引</a:t>
            </a:r>
          </a:p>
        </p:txBody>
      </p:sp>
      <p:sp>
        <p:nvSpPr>
          <p:cNvPr id="3" name="TextBox 2"/>
          <p:cNvSpPr txBox="1"/>
          <p:nvPr/>
        </p:nvSpPr>
        <p:spPr>
          <a:xfrm>
            <a:off x="548640" y="685800"/>
            <a:ext cx="11109960" cy="658368"/>
          </a:xfrm>
          <a:prstGeom prst="rect">
            <a:avLst/>
          </a:prstGeom>
          <a:noFill/>
        </p:spPr>
        <p:txBody>
          <a:bodyPr wrap="square" lIns="0" rIns="0" tIns="0" bIns="0">
            <a:noAutofit/>
          </a:bodyPr>
          <a:lstStyle/>
          <a:p>
            <a:pPr algn="l" marL="0" indent="0">
              <a:spcAft>
                <a:spcPts val="500"/>
              </a:spcAft>
              <a:defRPr sz="2900" b="1">
                <a:solidFill>
                  <a:srgbClr val="243343"/>
                </a:solidFill>
                <a:latin typeface="Noto Sans CJK SC"/>
              </a:defRPr>
            </a:pPr>
            <a:r>
              <a:rPr>
                <a:ea typeface="Noto Sans CJK SC"/>
              </a:rPr>
              <a:t>关键参考文献（3/3）</a:t>
            </a:r>
          </a:p>
        </p:txBody>
      </p:sp>
      <p:cxnSp>
        <p:nvCxnSpPr>
          <p:cNvPr id="4" name="Connector 3"/>
          <p:cNvCxnSpPr/>
          <p:nvPr/>
        </p:nvCxnSpPr>
        <p:spPr>
          <a:xfrm>
            <a:off x="548640" y="1417320"/>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48640" y="5998464"/>
            <a:ext cx="11064240" cy="0"/>
          </a:xfrm>
          <a:prstGeom prst="line">
            <a:avLst/>
          </a:prstGeom>
          <a:ln w="10160">
            <a:solidFill>
              <a:srgbClr val="D5DEE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108192"/>
            <a:ext cx="11018520" cy="393192"/>
          </a:xfrm>
          <a:prstGeom prst="rect">
            <a:avLst/>
          </a:prstGeom>
          <a:noFill/>
        </p:spPr>
        <p:txBody>
          <a:bodyPr wrap="square" lIns="0" rIns="0" tIns="0" bIns="0">
            <a:noAutofit/>
          </a:bodyPr>
          <a:lstStyle/>
          <a:p>
            <a:pPr algn="l" marL="0" indent="0">
              <a:spcAft>
                <a:spcPts val="500"/>
              </a:spcAft>
              <a:defRPr sz="1700" b="1">
                <a:solidFill>
                  <a:srgbClr val="243343"/>
                </a:solidFill>
                <a:latin typeface="Noto Sans CJK SC"/>
              </a:defRPr>
            </a:pPr>
            <a:r>
              <a:rPr>
                <a:ea typeface="Noto Sans CJK SC"/>
              </a:rPr>
              <a:t>参考编号贯穿正文页脚与逐页讲稿</a:t>
            </a:r>
          </a:p>
        </p:txBody>
      </p:sp>
      <p:sp>
        <p:nvSpPr>
          <p:cNvPr id="7" name="TextBox 6"/>
          <p:cNvSpPr txBox="1"/>
          <p:nvPr/>
        </p:nvSpPr>
        <p:spPr>
          <a:xfrm>
            <a:off x="548640" y="6519672"/>
            <a:ext cx="10607040" cy="182880"/>
          </a:xfrm>
          <a:prstGeom prst="rect">
            <a:avLst/>
          </a:prstGeom>
          <a:noFill/>
        </p:spPr>
        <p:txBody>
          <a:bodyPr wrap="square" lIns="0" rIns="0" tIns="0" bIns="0">
            <a:noAutofit/>
          </a:bodyPr>
          <a:lstStyle/>
          <a:p>
            <a:pPr algn="l" marL="0" indent="0">
              <a:spcAft>
                <a:spcPts val="500"/>
              </a:spcAft>
              <a:defRPr sz="850" b="0">
                <a:solidFill>
                  <a:srgbClr val="6D7985"/>
                </a:solidFill>
                <a:latin typeface="Noto Sans CJK SC"/>
              </a:defRPr>
            </a:pPr>
            <a:r>
              <a:rPr>
                <a:ea typeface="Noto Sans CJK SC"/>
              </a:rPr>
              <a:t>检索并核对的原始论文与专业综述</a:t>
            </a:r>
          </a:p>
        </p:txBody>
      </p:sp>
      <p:sp>
        <p:nvSpPr>
          <p:cNvPr id="8" name="TextBox 7"/>
          <p:cNvSpPr txBox="1"/>
          <p:nvPr/>
        </p:nvSpPr>
        <p:spPr>
          <a:xfrm>
            <a:off x="11201400" y="6492240"/>
            <a:ext cx="411480" cy="237744"/>
          </a:xfrm>
          <a:prstGeom prst="rect">
            <a:avLst/>
          </a:prstGeom>
          <a:noFill/>
        </p:spPr>
        <p:txBody>
          <a:bodyPr wrap="square" lIns="0" rIns="0" tIns="0" bIns="0">
            <a:noAutofit/>
          </a:bodyPr>
          <a:lstStyle/>
          <a:p>
            <a:pPr algn="r" marL="0" indent="0">
              <a:spcAft>
                <a:spcPts val="500"/>
              </a:spcAft>
              <a:defRPr sz="1000" b="0">
                <a:solidFill>
                  <a:srgbClr val="6D7985"/>
                </a:solidFill>
                <a:latin typeface="Noto Sans CJK SC"/>
              </a:defRPr>
            </a:pPr>
            <a:r>
              <a:rPr>
                <a:ea typeface="Noto Sans CJK SC"/>
              </a:rPr>
              <a:t>29</a:t>
            </a:r>
          </a:p>
        </p:txBody>
      </p:sp>
      <p:sp>
        <p:nvSpPr>
          <p:cNvPr id="9" name="TextBox 8"/>
          <p:cNvSpPr txBox="1"/>
          <p:nvPr/>
        </p:nvSpPr>
        <p:spPr>
          <a:xfrm>
            <a:off x="594360" y="175564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R9</a:t>
            </a:r>
          </a:p>
        </p:txBody>
      </p:sp>
      <p:sp>
        <p:nvSpPr>
          <p:cNvPr id="10" name="TextBox 9"/>
          <p:cNvSpPr txBox="1"/>
          <p:nvPr/>
        </p:nvSpPr>
        <p:spPr>
          <a:xfrm>
            <a:off x="1143000" y="175564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Medvedev &amp; Volkov, 2022  J. Appl. Phys. 131, 225903</a:t>
            </a:r>
          </a:p>
        </p:txBody>
      </p:sp>
      <p:sp>
        <p:nvSpPr>
          <p:cNvPr id="11" name="TextBox 10"/>
          <p:cNvSpPr txBox="1"/>
          <p:nvPr/>
        </p:nvSpPr>
        <p:spPr>
          <a:xfrm>
            <a:off x="1143000" y="205740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Nonthermal acceleration of atoms as a mechanism of fast lattice heating in ion tracks</a:t>
            </a:r>
          </a:p>
        </p:txBody>
      </p:sp>
      <p:sp>
        <p:nvSpPr>
          <p:cNvPr id="12" name="TextBox 11"/>
          <p:cNvSpPr txBox="1"/>
          <p:nvPr/>
        </p:nvSpPr>
        <p:spPr>
          <a:xfrm>
            <a:off x="1143000" y="235000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2"/>
              </a:rPr>
              <a:t>doi.org/10.1063/5.0095724</a:t>
            </a:r>
          </a:p>
        </p:txBody>
      </p:sp>
      <p:sp>
        <p:nvSpPr>
          <p:cNvPr id="13" name="TextBox 12"/>
          <p:cNvSpPr txBox="1"/>
          <p:nvPr/>
        </p:nvSpPr>
        <p:spPr>
          <a:xfrm>
            <a:off x="594360" y="276148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R10</a:t>
            </a:r>
          </a:p>
        </p:txBody>
      </p:sp>
      <p:sp>
        <p:nvSpPr>
          <p:cNvPr id="14" name="TextBox 13"/>
          <p:cNvSpPr txBox="1"/>
          <p:nvPr/>
        </p:nvSpPr>
        <p:spPr>
          <a:xfrm>
            <a:off x="1143000" y="276148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Amekura et al., 2018  Phys. Rev. Materials 2, 096001</a:t>
            </a:r>
          </a:p>
        </p:txBody>
      </p:sp>
      <p:sp>
        <p:nvSpPr>
          <p:cNvPr id="15" name="TextBox 14"/>
          <p:cNvSpPr txBox="1"/>
          <p:nvPr/>
        </p:nvSpPr>
        <p:spPr>
          <a:xfrm>
            <a:off x="1143000" y="306324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Vaporlike phase of amorphous SiO2 is not a prerequisite for the core/shell ion tracks or ion shaping</a:t>
            </a:r>
          </a:p>
        </p:txBody>
      </p:sp>
      <p:sp>
        <p:nvSpPr>
          <p:cNvPr id="16" name="TextBox 15"/>
          <p:cNvSpPr txBox="1"/>
          <p:nvPr/>
        </p:nvSpPr>
        <p:spPr>
          <a:xfrm>
            <a:off x="1143000" y="335584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3"/>
              </a:rPr>
              <a:t>doi.org/10.1103/PhysRevMaterials.2.096001</a:t>
            </a:r>
          </a:p>
        </p:txBody>
      </p:sp>
      <p:sp>
        <p:nvSpPr>
          <p:cNvPr id="17" name="TextBox 16"/>
          <p:cNvSpPr txBox="1"/>
          <p:nvPr/>
        </p:nvSpPr>
        <p:spPr>
          <a:xfrm>
            <a:off x="594360" y="376732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R11</a:t>
            </a:r>
          </a:p>
        </p:txBody>
      </p:sp>
      <p:sp>
        <p:nvSpPr>
          <p:cNvPr id="18" name="TextBox 17"/>
          <p:cNvSpPr txBox="1"/>
          <p:nvPr/>
        </p:nvSpPr>
        <p:spPr>
          <a:xfrm>
            <a:off x="1143000" y="376732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Swain et al., 2025  Phys. Rev. Research 7, 023114</a:t>
            </a:r>
          </a:p>
        </p:txBody>
      </p:sp>
      <p:sp>
        <p:nvSpPr>
          <p:cNvPr id="19" name="TextBox 18"/>
          <p:cNvSpPr txBox="1"/>
          <p:nvPr/>
        </p:nvSpPr>
        <p:spPr>
          <a:xfrm>
            <a:off x="1143000" y="406908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Stronger femtosecond excitation causes slower electron-phonon coupling in silicon</a:t>
            </a:r>
          </a:p>
        </p:txBody>
      </p:sp>
      <p:sp>
        <p:nvSpPr>
          <p:cNvPr id="20" name="TextBox 19"/>
          <p:cNvSpPr txBox="1"/>
          <p:nvPr/>
        </p:nvSpPr>
        <p:spPr>
          <a:xfrm>
            <a:off x="1143000" y="436168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4"/>
              </a:rPr>
              <a:t>doi.org/10.1103/PhysRevResearch.7.023114</a:t>
            </a:r>
          </a:p>
        </p:txBody>
      </p:sp>
      <p:sp>
        <p:nvSpPr>
          <p:cNvPr id="21" name="TextBox 20"/>
          <p:cNvSpPr txBox="1"/>
          <p:nvPr/>
        </p:nvSpPr>
        <p:spPr>
          <a:xfrm>
            <a:off x="594360" y="4773168"/>
            <a:ext cx="484632" cy="274320"/>
          </a:xfrm>
          <a:prstGeom prst="rect">
            <a:avLst/>
          </a:prstGeom>
          <a:noFill/>
        </p:spPr>
        <p:txBody>
          <a:bodyPr wrap="square" lIns="0" rIns="0" tIns="0" bIns="0">
            <a:noAutofit/>
          </a:bodyPr>
          <a:lstStyle/>
          <a:p>
            <a:pPr algn="l" marL="0" indent="0">
              <a:spcAft>
                <a:spcPts val="500"/>
              </a:spcAft>
              <a:defRPr sz="1400" b="1">
                <a:solidFill>
                  <a:srgbClr val="2560A8"/>
                </a:solidFill>
                <a:latin typeface="Noto Sans CJK SC"/>
              </a:defRPr>
            </a:pPr>
            <a:r>
              <a:rPr>
                <a:ea typeface="Noto Sans CJK SC"/>
              </a:rPr>
              <a:t>R12</a:t>
            </a:r>
          </a:p>
        </p:txBody>
      </p:sp>
      <p:sp>
        <p:nvSpPr>
          <p:cNvPr id="22" name="TextBox 21"/>
          <p:cNvSpPr txBox="1"/>
          <p:nvPr/>
        </p:nvSpPr>
        <p:spPr>
          <a:xfrm>
            <a:off x="1143000" y="4773168"/>
            <a:ext cx="10149840" cy="292608"/>
          </a:xfrm>
          <a:prstGeom prst="rect">
            <a:avLst/>
          </a:prstGeom>
          <a:noFill/>
        </p:spPr>
        <p:txBody>
          <a:bodyPr wrap="square" lIns="0" rIns="0" tIns="0" bIns="0">
            <a:noAutofit/>
          </a:bodyPr>
          <a:lstStyle/>
          <a:p>
            <a:pPr algn="l" marL="0" indent="0">
              <a:spcAft>
                <a:spcPts val="500"/>
              </a:spcAft>
              <a:defRPr sz="1400" b="1">
                <a:solidFill>
                  <a:srgbClr val="243343"/>
                </a:solidFill>
                <a:latin typeface="Noto Sans CJK SC"/>
              </a:defRPr>
            </a:pPr>
            <a:r>
              <a:rPr>
                <a:ea typeface="Noto Sans CJK SC"/>
              </a:rPr>
              <a:t>Giustino, 2017  Rev. Mod. Phys. 89, 015003</a:t>
            </a:r>
          </a:p>
        </p:txBody>
      </p:sp>
      <p:sp>
        <p:nvSpPr>
          <p:cNvPr id="23" name="TextBox 22"/>
          <p:cNvSpPr txBox="1"/>
          <p:nvPr/>
        </p:nvSpPr>
        <p:spPr>
          <a:xfrm>
            <a:off x="1143000" y="5074920"/>
            <a:ext cx="10149840" cy="301752"/>
          </a:xfrm>
          <a:prstGeom prst="rect">
            <a:avLst/>
          </a:prstGeom>
          <a:noFill/>
        </p:spPr>
        <p:txBody>
          <a:bodyPr wrap="square" lIns="0" rIns="0" tIns="0" bIns="0">
            <a:noAutofit/>
          </a:bodyPr>
          <a:lstStyle/>
          <a:p>
            <a:pPr algn="l" marL="0" indent="0">
              <a:spcAft>
                <a:spcPts val="500"/>
              </a:spcAft>
              <a:defRPr sz="1200" b="0">
                <a:solidFill>
                  <a:srgbClr val="6D7985"/>
                </a:solidFill>
                <a:latin typeface="DejaVu Sans"/>
              </a:defRPr>
            </a:pPr>
            <a:r>
              <a:rPr>
                <a:ea typeface="DejaVu Sans"/>
              </a:rPr>
              <a:t>Electron-phonon interactions from first principles</a:t>
            </a:r>
          </a:p>
        </p:txBody>
      </p:sp>
      <p:sp>
        <p:nvSpPr>
          <p:cNvPr id="24" name="TextBox 23"/>
          <p:cNvSpPr txBox="1"/>
          <p:nvPr/>
        </p:nvSpPr>
        <p:spPr>
          <a:xfrm>
            <a:off x="1143000" y="5367528"/>
            <a:ext cx="10149840" cy="201168"/>
          </a:xfrm>
          <a:prstGeom prst="rect">
            <a:avLst/>
          </a:prstGeom>
          <a:noFill/>
        </p:spPr>
        <p:txBody>
          <a:bodyPr wrap="square" lIns="0" rIns="0" tIns="0" bIns="0">
            <a:noAutofit/>
          </a:bodyPr>
          <a:lstStyle/>
          <a:p>
            <a:pPr algn="l" marL="0" indent="0">
              <a:spcAft>
                <a:spcPts val="500"/>
              </a:spcAft>
              <a:defRPr sz="1000" b="0">
                <a:solidFill>
                  <a:srgbClr val="2560A8"/>
                </a:solidFill>
                <a:latin typeface="DejaVu Sans"/>
              </a:defRPr>
            </a:pPr>
            <a:r>
              <a:rPr>
                <a:ea typeface="DejaVu Sans"/>
                <a:hlinkClick r:id="rId5"/>
              </a:rPr>
              <a:t>doi.org/10.1103/RevModPhys.89.015003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高能重离子辐照中的电子—声子耦合与瞬态熔融</dc:title>
  <dc:subject>20分钟机制综述与研究方案</dc:subject>
  <dc:creator/>
  <cp:keywords>swift heavy ions, electron-phonon coupling, two-temperature model, inelastic thermal spike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